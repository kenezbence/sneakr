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8"/>
  </p:notesMasterIdLst>
  <p:sldIdLst>
    <p:sldId id="256" r:id="rId2"/>
    <p:sldId id="257" r:id="rId3"/>
    <p:sldId id="258" r:id="rId4"/>
    <p:sldId id="266" r:id="rId5"/>
    <p:sldId id="267" r:id="rId6"/>
    <p:sldId id="259" r:id="rId7"/>
    <p:sldId id="268" r:id="rId8"/>
    <p:sldId id="269" r:id="rId9"/>
    <p:sldId id="270" r:id="rId10"/>
    <p:sldId id="263" r:id="rId11"/>
    <p:sldId id="271" r:id="rId12"/>
    <p:sldId id="272" r:id="rId13"/>
    <p:sldId id="262" r:id="rId14"/>
    <p:sldId id="274" r:id="rId15"/>
    <p:sldId id="265" r:id="rId16"/>
    <p:sldId id="273" r:id="rId17"/>
  </p:sldIdLst>
  <p:sldSz cx="14630400" cy="8229600"/>
  <p:notesSz cx="8229600" cy="14630400"/>
  <p:embeddedFontLst>
    <p:embeddedFont>
      <p:font typeface="Franklin Gothic Medium" panose="020B0603020102020204" pitchFamily="34" charset="0"/>
      <p:regular r:id="rId19"/>
      <p:italic r:id="rId20"/>
    </p:embeddedFont>
  </p:embeddedFontLst>
  <p:defaultTextStyle>
    <a:defPPr>
      <a:defRPr lang="hu-H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F5241C0-F234-0AEC-CE46-5B2A4BB97465}" name="Kreszl Tamas" initials="KT" userId="0b5442840201205e"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98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894" autoAdjust="0"/>
    <p:restoredTop sz="63153" autoAdjust="0"/>
  </p:normalViewPr>
  <p:slideViewPr>
    <p:cSldViewPr snapToGrid="0" snapToObjects="1">
      <p:cViewPr varScale="1">
        <p:scale>
          <a:sx n="84" d="100"/>
          <a:sy n="84" d="100"/>
        </p:scale>
        <p:origin x="2400"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8/10/relationships/authors" Targe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23610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15000"/>
              </a:lnSpc>
              <a:spcAft>
                <a:spcPts val="800"/>
              </a:spcAft>
              <a:buNone/>
            </a:pPr>
            <a:r>
              <a:rPr lang="hu-HU" sz="2400" b="1" kern="100" dirty="0">
                <a:effectLst/>
                <a:latin typeface="Arial" panose="020B0604020202020204" pitchFamily="34" charset="0"/>
                <a:ea typeface="Aptos" panose="020B0004020202020204" pitchFamily="34" charset="0"/>
                <a:cs typeface="Arial" panose="020B0604020202020204" pitchFamily="34" charset="0"/>
              </a:rPr>
              <a:t>(</a:t>
            </a:r>
            <a:r>
              <a:rPr lang="hu-HU" sz="2400" b="1" kern="100" dirty="0" err="1">
                <a:effectLst/>
                <a:latin typeface="Arial" panose="020B0604020202020204" pitchFamily="34" charset="0"/>
                <a:ea typeface="Aptos" panose="020B0004020202020204" pitchFamily="34" charset="0"/>
                <a:cs typeface="Arial" panose="020B0604020202020204" pitchFamily="34" charset="0"/>
              </a:rPr>
              <a:t>Presenter</a:t>
            </a:r>
            <a:r>
              <a:rPr lang="hu-HU" sz="2400" b="1" kern="100" dirty="0">
                <a:effectLst/>
                <a:latin typeface="Arial" panose="020B0604020202020204" pitchFamily="34" charset="0"/>
                <a:ea typeface="Aptos" panose="020B0004020202020204" pitchFamily="34" charset="0"/>
                <a:cs typeface="Arial" panose="020B0604020202020204" pitchFamily="34" charset="0"/>
              </a:rPr>
              <a:t>: Kreszl Tamás)</a:t>
            </a:r>
            <a:endParaRPr lang="en-GB" sz="2400" b="1" kern="100" dirty="0">
              <a:effectLst/>
              <a:latin typeface="Arial" panose="020B0604020202020204" pitchFamily="34" charset="0"/>
              <a:ea typeface="Aptos" panose="020B0004020202020204" pitchFamily="34" charset="0"/>
              <a:cs typeface="Arial" panose="020B0604020202020204" pitchFamily="34" charset="0"/>
            </a:endParaRPr>
          </a:p>
          <a:p>
            <a:pPr>
              <a:lnSpc>
                <a:spcPct val="115000"/>
              </a:lnSpc>
              <a:spcAft>
                <a:spcPts val="800"/>
              </a:spcAft>
              <a:buNone/>
            </a:pPr>
            <a:endParaRPr lang="en-GB" sz="2400" b="1" kern="100" dirty="0">
              <a:effectLst/>
              <a:latin typeface="Arial" panose="020B0604020202020204" pitchFamily="34" charset="0"/>
              <a:ea typeface="Aptos" panose="020B0004020202020204" pitchFamily="34" charset="0"/>
              <a:cs typeface="Arial" panose="020B0604020202020204" pitchFamily="34"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hu-HU" sz="2400" b="1" kern="100" dirty="0">
                <a:effectLst/>
                <a:latin typeface="Arial" panose="020B0604020202020204" pitchFamily="34" charset="0"/>
                <a:ea typeface="Aptos" panose="020B0004020202020204" pitchFamily="34" charset="0"/>
                <a:cs typeface="Arial" panose="020B0604020202020204" pitchFamily="34" charset="0"/>
              </a:rPr>
              <a:t>Good </a:t>
            </a:r>
            <a:r>
              <a:rPr lang="hu-HU" sz="2400" b="1" kern="100" dirty="0" err="1">
                <a:effectLst/>
                <a:latin typeface="Arial" panose="020B0604020202020204" pitchFamily="34" charset="0"/>
                <a:ea typeface="Aptos" panose="020B0004020202020204" pitchFamily="34" charset="0"/>
                <a:cs typeface="Arial" panose="020B0604020202020204" pitchFamily="34" charset="0"/>
              </a:rPr>
              <a:t>afternoon</a:t>
            </a:r>
            <a:r>
              <a:rPr lang="hu-HU" sz="2400" b="1" kern="100" dirty="0">
                <a:effectLst/>
                <a:latin typeface="Arial" panose="020B0604020202020204" pitchFamily="34" charset="0"/>
                <a:ea typeface="Aptos" panose="020B0004020202020204" pitchFamily="34" charset="0"/>
                <a:cs typeface="Arial" panose="020B0604020202020204" pitchFamily="34" charset="0"/>
              </a:rPr>
              <a:t> </a:t>
            </a:r>
            <a:r>
              <a:rPr lang="hu-HU" sz="2400" b="1" kern="100" dirty="0" err="1">
                <a:effectLst/>
                <a:latin typeface="Arial" panose="020B0604020202020204" pitchFamily="34" charset="0"/>
                <a:ea typeface="Aptos" panose="020B0004020202020204" pitchFamily="34" charset="0"/>
                <a:cs typeface="Arial" panose="020B0604020202020204" pitchFamily="34" charset="0"/>
              </a:rPr>
              <a:t>everyone</a:t>
            </a:r>
            <a:r>
              <a:rPr lang="hu-HU" sz="2400" b="1" kern="100" dirty="0">
                <a:effectLst/>
                <a:latin typeface="Arial" panose="020B0604020202020204" pitchFamily="34" charset="0"/>
                <a:ea typeface="Aptos" panose="020B0004020202020204" pitchFamily="34" charset="0"/>
                <a:cs typeface="Arial" panose="020B0604020202020204" pitchFamily="34" charset="0"/>
              </a:rPr>
              <a:t>, and </a:t>
            </a:r>
            <a:r>
              <a:rPr lang="hu-HU" sz="2400" b="1" kern="100" dirty="0" err="1">
                <a:effectLst/>
                <a:latin typeface="Arial" panose="020B0604020202020204" pitchFamily="34" charset="0"/>
                <a:ea typeface="Aptos" panose="020B0004020202020204" pitchFamily="34" charset="0"/>
                <a:cs typeface="Arial" panose="020B0604020202020204" pitchFamily="34" charset="0"/>
              </a:rPr>
              <a:t>welcome</a:t>
            </a:r>
            <a:r>
              <a:rPr lang="hu-HU" sz="2400" b="1" kern="100" dirty="0">
                <a:effectLst/>
                <a:latin typeface="Arial" panose="020B0604020202020204" pitchFamily="34" charset="0"/>
                <a:ea typeface="Aptos" panose="020B0004020202020204" pitchFamily="34" charset="0"/>
                <a:cs typeface="Arial" panose="020B0604020202020204" pitchFamily="34" charset="0"/>
              </a:rPr>
              <a:t> </a:t>
            </a:r>
            <a:r>
              <a:rPr lang="hu-HU" sz="2400" b="1" kern="100" dirty="0" err="1">
                <a:effectLst/>
                <a:latin typeface="Arial" panose="020B0604020202020204" pitchFamily="34" charset="0"/>
                <a:ea typeface="Aptos" panose="020B0004020202020204" pitchFamily="34" charset="0"/>
                <a:cs typeface="Arial" panose="020B0604020202020204" pitchFamily="34" charset="0"/>
              </a:rPr>
              <a:t>to</a:t>
            </a:r>
            <a:r>
              <a:rPr lang="hu-HU" sz="2400" b="1" kern="100" dirty="0">
                <a:effectLst/>
                <a:latin typeface="Arial" panose="020B0604020202020204" pitchFamily="34" charset="0"/>
                <a:ea typeface="Aptos" panose="020B0004020202020204" pitchFamily="34" charset="0"/>
                <a:cs typeface="Arial" panose="020B0604020202020204" pitchFamily="34" charset="0"/>
              </a:rPr>
              <a:t> </a:t>
            </a:r>
            <a:r>
              <a:rPr lang="hu-HU" sz="2400" b="1" kern="100" dirty="0" err="1">
                <a:effectLst/>
                <a:latin typeface="Arial" panose="020B0604020202020204" pitchFamily="34" charset="0"/>
                <a:ea typeface="Aptos" panose="020B0004020202020204" pitchFamily="34" charset="0"/>
                <a:cs typeface="Arial" panose="020B0604020202020204" pitchFamily="34" charset="0"/>
              </a:rPr>
              <a:t>our</a:t>
            </a:r>
            <a:r>
              <a:rPr lang="hu-HU" sz="2400" b="1" kern="100" dirty="0">
                <a:effectLst/>
                <a:latin typeface="Arial" panose="020B0604020202020204" pitchFamily="34" charset="0"/>
                <a:ea typeface="Aptos" panose="020B0004020202020204" pitchFamily="34" charset="0"/>
                <a:cs typeface="Arial" panose="020B0604020202020204" pitchFamily="34" charset="0"/>
              </a:rPr>
              <a:t> </a:t>
            </a:r>
            <a:r>
              <a:rPr lang="hu-HU" sz="2400" b="1" kern="100" dirty="0" err="1">
                <a:effectLst/>
                <a:latin typeface="Arial" panose="020B0604020202020204" pitchFamily="34" charset="0"/>
                <a:ea typeface="Aptos" panose="020B0004020202020204" pitchFamily="34" charset="0"/>
                <a:cs typeface="Arial" panose="020B0604020202020204" pitchFamily="34" charset="0"/>
              </a:rPr>
              <a:t>presentation</a:t>
            </a:r>
            <a:r>
              <a:rPr lang="hu-HU" sz="2400" b="1" kern="100" dirty="0">
                <a:effectLst/>
                <a:latin typeface="Arial" panose="020B0604020202020204" pitchFamily="34" charset="0"/>
                <a:ea typeface="Aptos" panose="020B0004020202020204" pitchFamily="34" charset="0"/>
                <a:cs typeface="Arial" panose="020B0604020202020204" pitchFamily="34" charset="0"/>
              </a:rPr>
              <a:t>! </a:t>
            </a:r>
            <a:r>
              <a:rPr lang="hu-HU" sz="2400" b="1" kern="100" dirty="0" err="1">
                <a:effectLst/>
                <a:latin typeface="Arial" panose="020B0604020202020204" pitchFamily="34" charset="0"/>
                <a:ea typeface="Aptos" panose="020B0004020202020204" pitchFamily="34" charset="0"/>
                <a:cs typeface="Arial" panose="020B0604020202020204" pitchFamily="34" charset="0"/>
              </a:rPr>
              <a:t>Today</a:t>
            </a:r>
            <a:r>
              <a:rPr lang="hu-HU" sz="2400" b="1" kern="100" dirty="0">
                <a:effectLst/>
                <a:latin typeface="Arial" panose="020B0604020202020204" pitchFamily="34" charset="0"/>
                <a:ea typeface="Aptos" panose="020B0004020202020204" pitchFamily="34" charset="0"/>
                <a:cs typeface="Arial" panose="020B0604020202020204" pitchFamily="34" charset="0"/>
              </a:rPr>
              <a:t>, </a:t>
            </a:r>
            <a:r>
              <a:rPr lang="hu-HU" sz="2400" b="1" kern="100" dirty="0" err="1">
                <a:effectLst/>
                <a:latin typeface="Arial" panose="020B0604020202020204" pitchFamily="34" charset="0"/>
                <a:ea typeface="Aptos" panose="020B0004020202020204" pitchFamily="34" charset="0"/>
                <a:cs typeface="Arial" panose="020B0604020202020204" pitchFamily="34" charset="0"/>
              </a:rPr>
              <a:t>we’re</a:t>
            </a:r>
            <a:r>
              <a:rPr lang="hu-HU" sz="2400" b="1" kern="100" dirty="0">
                <a:effectLst/>
                <a:latin typeface="Arial" panose="020B0604020202020204" pitchFamily="34" charset="0"/>
                <a:ea typeface="Aptos" panose="020B0004020202020204" pitchFamily="34" charset="0"/>
                <a:cs typeface="Arial" panose="020B0604020202020204" pitchFamily="34" charset="0"/>
              </a:rPr>
              <a:t> </a:t>
            </a:r>
            <a:r>
              <a:rPr lang="hu-HU" sz="2400" b="1" kern="100" dirty="0" err="1">
                <a:effectLst/>
                <a:latin typeface="Arial" panose="020B0604020202020204" pitchFamily="34" charset="0"/>
                <a:ea typeface="Aptos" panose="020B0004020202020204" pitchFamily="34" charset="0"/>
                <a:cs typeface="Arial" panose="020B0604020202020204" pitchFamily="34" charset="0"/>
              </a:rPr>
              <a:t>excited</a:t>
            </a:r>
            <a:r>
              <a:rPr lang="hu-HU" sz="2400" b="1" kern="100" dirty="0">
                <a:effectLst/>
                <a:latin typeface="Arial" panose="020B0604020202020204" pitchFamily="34" charset="0"/>
                <a:ea typeface="Aptos" panose="020B0004020202020204" pitchFamily="34" charset="0"/>
                <a:cs typeface="Arial" panose="020B0604020202020204" pitchFamily="34" charset="0"/>
              </a:rPr>
              <a:t> </a:t>
            </a:r>
            <a:r>
              <a:rPr lang="hu-HU" sz="2400" b="1" kern="100" dirty="0" err="1">
                <a:effectLst/>
                <a:latin typeface="Arial" panose="020B0604020202020204" pitchFamily="34" charset="0"/>
                <a:ea typeface="Aptos" panose="020B0004020202020204" pitchFamily="34" charset="0"/>
                <a:cs typeface="Arial" panose="020B0604020202020204" pitchFamily="34" charset="0"/>
              </a:rPr>
              <a:t>to</a:t>
            </a:r>
            <a:r>
              <a:rPr lang="hu-HU" sz="2400" b="1" kern="100" dirty="0">
                <a:effectLst/>
                <a:latin typeface="Arial" panose="020B0604020202020204" pitchFamily="34" charset="0"/>
                <a:ea typeface="Aptos" panose="020B0004020202020204" pitchFamily="34" charset="0"/>
                <a:cs typeface="Arial" panose="020B0604020202020204" pitchFamily="34" charset="0"/>
              </a:rPr>
              <a:t> </a:t>
            </a:r>
            <a:r>
              <a:rPr lang="hu-HU" sz="2400" b="1" kern="100" dirty="0" err="1">
                <a:effectLst/>
                <a:latin typeface="Arial" panose="020B0604020202020204" pitchFamily="34" charset="0"/>
                <a:ea typeface="Aptos" panose="020B0004020202020204" pitchFamily="34" charset="0"/>
                <a:cs typeface="Arial" panose="020B0604020202020204" pitchFamily="34" charset="0"/>
              </a:rPr>
              <a:t>introduce</a:t>
            </a:r>
            <a:r>
              <a:rPr lang="hu-HU" sz="2400" b="1" kern="100" dirty="0">
                <a:effectLst/>
                <a:latin typeface="Arial" panose="020B0604020202020204" pitchFamily="34" charset="0"/>
                <a:ea typeface="Aptos" panose="020B0004020202020204" pitchFamily="34" charset="0"/>
                <a:cs typeface="Arial" panose="020B0604020202020204" pitchFamily="34" charset="0"/>
              </a:rPr>
              <a:t> </a:t>
            </a:r>
            <a:r>
              <a:rPr lang="hu-HU" sz="2400" b="1" kern="100" dirty="0" err="1">
                <a:effectLst/>
                <a:latin typeface="Arial" panose="020B0604020202020204" pitchFamily="34" charset="0"/>
                <a:ea typeface="Aptos" panose="020B0004020202020204" pitchFamily="34" charset="0"/>
                <a:cs typeface="Arial" panose="020B0604020202020204" pitchFamily="34" charset="0"/>
              </a:rPr>
              <a:t>you</a:t>
            </a:r>
            <a:r>
              <a:rPr lang="hu-HU" sz="2400" b="1" kern="100" dirty="0">
                <a:effectLst/>
                <a:latin typeface="Arial" panose="020B0604020202020204" pitchFamily="34" charset="0"/>
                <a:ea typeface="Aptos" panose="020B0004020202020204" pitchFamily="34" charset="0"/>
                <a:cs typeface="Arial" panose="020B0604020202020204" pitchFamily="34" charset="0"/>
              </a:rPr>
              <a:t> </a:t>
            </a:r>
            <a:r>
              <a:rPr lang="hu-HU" sz="2400" b="1" kern="100" dirty="0" err="1">
                <a:effectLst/>
                <a:latin typeface="Arial" panose="020B0604020202020204" pitchFamily="34" charset="0"/>
                <a:ea typeface="Aptos" panose="020B0004020202020204" pitchFamily="34" charset="0"/>
                <a:cs typeface="Arial" panose="020B0604020202020204" pitchFamily="34" charset="0"/>
              </a:rPr>
              <a:t>to</a:t>
            </a:r>
            <a:r>
              <a:rPr lang="hu-HU" sz="2400" b="1" kern="100" dirty="0">
                <a:effectLst/>
                <a:latin typeface="Arial" panose="020B0604020202020204" pitchFamily="34" charset="0"/>
                <a:ea typeface="Aptos" panose="020B0004020202020204" pitchFamily="34" charset="0"/>
                <a:cs typeface="Arial" panose="020B0604020202020204" pitchFamily="34" charset="0"/>
              </a:rPr>
              <a:t> </a:t>
            </a:r>
            <a:r>
              <a:rPr lang="hu-HU" sz="2400" b="1" i="1" kern="100" dirty="0" err="1">
                <a:effectLst/>
                <a:latin typeface="Arial" panose="020B0604020202020204" pitchFamily="34" charset="0"/>
                <a:ea typeface="Aptos" panose="020B0004020202020204" pitchFamily="34" charset="0"/>
                <a:cs typeface="Arial" panose="020B0604020202020204" pitchFamily="34" charset="0"/>
              </a:rPr>
              <a:t>SneakR</a:t>
            </a:r>
            <a:r>
              <a:rPr lang="hu-HU" sz="2400" b="1" kern="100" dirty="0">
                <a:effectLst/>
                <a:latin typeface="Arial" panose="020B0604020202020204" pitchFamily="34" charset="0"/>
                <a:ea typeface="Aptos" panose="020B0004020202020204" pitchFamily="34" charset="0"/>
                <a:cs typeface="Arial" panose="020B0604020202020204" pitchFamily="34" charset="0"/>
              </a:rPr>
              <a:t>, an </a:t>
            </a:r>
            <a:r>
              <a:rPr lang="hu-HU" sz="2400" b="1" kern="100" dirty="0" err="1">
                <a:effectLst/>
                <a:latin typeface="Arial" panose="020B0604020202020204" pitchFamily="34" charset="0"/>
                <a:ea typeface="Aptos" panose="020B0004020202020204" pitchFamily="34" charset="0"/>
                <a:cs typeface="Arial" panose="020B0604020202020204" pitchFamily="34" charset="0"/>
              </a:rPr>
              <a:t>innovative</a:t>
            </a:r>
            <a:r>
              <a:rPr lang="hu-HU" sz="2400" b="1" kern="100" dirty="0">
                <a:effectLst/>
                <a:latin typeface="Arial" panose="020B0604020202020204" pitchFamily="34" charset="0"/>
                <a:ea typeface="Aptos" panose="020B0004020202020204" pitchFamily="34" charset="0"/>
                <a:cs typeface="Arial" panose="020B0604020202020204" pitchFamily="34" charset="0"/>
              </a:rPr>
              <a:t> platform </a:t>
            </a:r>
            <a:r>
              <a:rPr lang="hu-HU" sz="2400" b="1" kern="100" dirty="0" err="1">
                <a:effectLst/>
                <a:latin typeface="Arial" panose="020B0604020202020204" pitchFamily="34" charset="0"/>
                <a:ea typeface="Aptos" panose="020B0004020202020204" pitchFamily="34" charset="0"/>
                <a:cs typeface="Arial" panose="020B0604020202020204" pitchFamily="34" charset="0"/>
              </a:rPr>
              <a:t>designed</a:t>
            </a:r>
            <a:r>
              <a:rPr lang="hu-HU" sz="2400" b="1" kern="100" dirty="0">
                <a:effectLst/>
                <a:latin typeface="Arial" panose="020B0604020202020204" pitchFamily="34" charset="0"/>
                <a:ea typeface="Aptos" panose="020B0004020202020204" pitchFamily="34" charset="0"/>
                <a:cs typeface="Arial" panose="020B0604020202020204" pitchFamily="34" charset="0"/>
              </a:rPr>
              <a:t> </a:t>
            </a:r>
            <a:r>
              <a:rPr lang="hu-HU" sz="2400" b="1" kern="100" dirty="0" err="1">
                <a:effectLst/>
                <a:latin typeface="Arial" panose="020B0604020202020204" pitchFamily="34" charset="0"/>
                <a:ea typeface="Aptos" panose="020B0004020202020204" pitchFamily="34" charset="0"/>
                <a:cs typeface="Arial" panose="020B0604020202020204" pitchFamily="34" charset="0"/>
              </a:rPr>
              <a:t>to</a:t>
            </a:r>
            <a:r>
              <a:rPr lang="hu-HU" sz="2400" b="1" kern="100" dirty="0">
                <a:effectLst/>
                <a:latin typeface="Arial" panose="020B0604020202020204" pitchFamily="34" charset="0"/>
                <a:ea typeface="Aptos" panose="020B0004020202020204" pitchFamily="34" charset="0"/>
                <a:cs typeface="Arial" panose="020B0604020202020204" pitchFamily="34" charset="0"/>
              </a:rPr>
              <a:t> </a:t>
            </a:r>
            <a:r>
              <a:rPr lang="en-GB" sz="2400" b="1" kern="100" dirty="0">
                <a:effectLst/>
                <a:latin typeface="Arial" panose="020B0604020202020204" pitchFamily="34" charset="0"/>
                <a:ea typeface="Aptos" panose="020B0004020202020204" pitchFamily="34" charset="0"/>
                <a:cs typeface="Arial" panose="020B0604020202020204" pitchFamily="34" charset="0"/>
              </a:rPr>
              <a:t>transform</a:t>
            </a:r>
            <a:r>
              <a:rPr lang="hu-HU" sz="2400" b="1" kern="100" dirty="0">
                <a:effectLst/>
                <a:latin typeface="Arial" panose="020B0604020202020204" pitchFamily="34" charset="0"/>
                <a:ea typeface="Aptos" panose="020B0004020202020204" pitchFamily="34" charset="0"/>
                <a:cs typeface="Arial" panose="020B0604020202020204" pitchFamily="34" charset="0"/>
              </a:rPr>
              <a:t> </a:t>
            </a:r>
            <a:r>
              <a:rPr lang="hu-HU" sz="2400" b="1" kern="100" dirty="0" err="1">
                <a:effectLst/>
                <a:latin typeface="Arial" panose="020B0604020202020204" pitchFamily="34" charset="0"/>
                <a:ea typeface="Aptos" panose="020B0004020202020204" pitchFamily="34" charset="0"/>
                <a:cs typeface="Arial" panose="020B0604020202020204" pitchFamily="34" charset="0"/>
              </a:rPr>
              <a:t>the</a:t>
            </a:r>
            <a:r>
              <a:rPr lang="hu-HU" sz="2400" b="1" kern="100" dirty="0">
                <a:effectLst/>
                <a:latin typeface="Arial" panose="020B0604020202020204" pitchFamily="34" charset="0"/>
                <a:ea typeface="Aptos" panose="020B0004020202020204" pitchFamily="34" charset="0"/>
                <a:cs typeface="Arial" panose="020B0604020202020204" pitchFamily="34" charset="0"/>
              </a:rPr>
              <a:t> </a:t>
            </a:r>
            <a:r>
              <a:rPr lang="hu-HU" sz="2400" b="1" kern="100" dirty="0" err="1">
                <a:effectLst/>
                <a:latin typeface="Arial" panose="020B0604020202020204" pitchFamily="34" charset="0"/>
                <a:ea typeface="Aptos" panose="020B0004020202020204" pitchFamily="34" charset="0"/>
                <a:cs typeface="Arial" panose="020B0604020202020204" pitchFamily="34" charset="0"/>
              </a:rPr>
              <a:t>sneaker</a:t>
            </a:r>
            <a:r>
              <a:rPr lang="hu-HU" sz="2400" b="1" kern="100" dirty="0">
                <a:effectLst/>
                <a:latin typeface="Arial" panose="020B0604020202020204" pitchFamily="34" charset="0"/>
                <a:ea typeface="Aptos" panose="020B0004020202020204" pitchFamily="34" charset="0"/>
                <a:cs typeface="Arial" panose="020B0604020202020204" pitchFamily="34" charset="0"/>
              </a:rPr>
              <a:t> </a:t>
            </a:r>
            <a:r>
              <a:rPr lang="hu-HU" sz="2400" b="1" kern="100" dirty="0" err="1">
                <a:effectLst/>
                <a:latin typeface="Arial" panose="020B0604020202020204" pitchFamily="34" charset="0"/>
                <a:ea typeface="Aptos" panose="020B0004020202020204" pitchFamily="34" charset="0"/>
                <a:cs typeface="Arial" panose="020B0604020202020204" pitchFamily="34" charset="0"/>
              </a:rPr>
              <a:t>marketplace</a:t>
            </a:r>
            <a:r>
              <a:rPr lang="hu-HU" sz="2400" b="1" kern="100" dirty="0">
                <a:effectLst/>
                <a:latin typeface="Arial" panose="020B0604020202020204" pitchFamily="34" charset="0"/>
                <a:ea typeface="Aptos" panose="020B0004020202020204" pitchFamily="34" charset="0"/>
                <a:cs typeface="Arial" panose="020B0604020202020204" pitchFamily="34" charset="0"/>
              </a:rPr>
              <a:t>.</a:t>
            </a:r>
            <a:endParaRPr lang="en-GB" sz="2400" b="1" kern="100" dirty="0">
              <a:effectLst/>
              <a:latin typeface="Arial" panose="020B0604020202020204" pitchFamily="34" charset="0"/>
              <a:ea typeface="Aptos" panose="020B0004020202020204" pitchFamily="34" charset="0"/>
              <a:cs typeface="Arial" panose="020B0604020202020204" pitchFamily="34" charset="0"/>
            </a:endParaRPr>
          </a:p>
          <a:p>
            <a:pPr marL="0" lvl="0" indent="0">
              <a:lnSpc>
                <a:spcPct val="115000"/>
              </a:lnSpc>
              <a:spcAft>
                <a:spcPts val="800"/>
              </a:spcAft>
              <a:buSzPts val="1000"/>
              <a:buFont typeface="Symbol" panose="05050102010706020507" pitchFamily="18" charset="2"/>
              <a:buNone/>
              <a:tabLst>
                <a:tab pos="457200" algn="l"/>
              </a:tabLst>
            </a:pPr>
            <a:endParaRPr lang="en-GB" sz="2400" b="1" kern="100" dirty="0">
              <a:effectLst/>
              <a:latin typeface="Arial" panose="020B0604020202020204" pitchFamily="34" charset="0"/>
              <a:ea typeface="Aptos" panose="020B0004020202020204" pitchFamily="34" charset="0"/>
              <a:cs typeface="Arial" panose="020B0604020202020204" pitchFamily="34"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hu-HU" sz="2400" b="1" kern="100" dirty="0" err="1">
                <a:effectLst/>
                <a:latin typeface="Arial" panose="020B0604020202020204" pitchFamily="34" charset="0"/>
                <a:ea typeface="Aptos" panose="020B0004020202020204" pitchFamily="34" charset="0"/>
                <a:cs typeface="Arial" panose="020B0604020202020204" pitchFamily="34" charset="0"/>
              </a:rPr>
              <a:t>Let's</a:t>
            </a:r>
            <a:r>
              <a:rPr lang="hu-HU" sz="2400" b="1" kern="100" dirty="0">
                <a:effectLst/>
                <a:latin typeface="Arial" panose="020B0604020202020204" pitchFamily="34" charset="0"/>
                <a:ea typeface="Aptos" panose="020B0004020202020204" pitchFamily="34" charset="0"/>
                <a:cs typeface="Arial" panose="020B0604020202020204" pitchFamily="34" charset="0"/>
              </a:rPr>
              <a:t> start </a:t>
            </a:r>
            <a:r>
              <a:rPr lang="hu-HU" sz="2400" b="1" kern="100" dirty="0" err="1">
                <a:effectLst/>
                <a:latin typeface="Arial" panose="020B0604020202020204" pitchFamily="34" charset="0"/>
                <a:ea typeface="Aptos" panose="020B0004020202020204" pitchFamily="34" charset="0"/>
                <a:cs typeface="Arial" panose="020B0604020202020204" pitchFamily="34" charset="0"/>
              </a:rPr>
              <a:t>by</a:t>
            </a:r>
            <a:r>
              <a:rPr lang="hu-HU" sz="2400" b="1" kern="100" dirty="0">
                <a:effectLst/>
                <a:latin typeface="Arial" panose="020B0604020202020204" pitchFamily="34" charset="0"/>
                <a:ea typeface="Aptos" panose="020B0004020202020204" pitchFamily="34" charset="0"/>
                <a:cs typeface="Arial" panose="020B0604020202020204" pitchFamily="34" charset="0"/>
              </a:rPr>
              <a:t> </a:t>
            </a:r>
            <a:r>
              <a:rPr lang="hu-HU" sz="2400" b="1" kern="100" dirty="0" err="1">
                <a:effectLst/>
                <a:latin typeface="Arial" panose="020B0604020202020204" pitchFamily="34" charset="0"/>
                <a:ea typeface="Aptos" panose="020B0004020202020204" pitchFamily="34" charset="0"/>
                <a:cs typeface="Arial" panose="020B0604020202020204" pitchFamily="34" charset="0"/>
              </a:rPr>
              <a:t>introducing</a:t>
            </a:r>
            <a:r>
              <a:rPr lang="hu-HU" sz="2400" b="1" kern="100" dirty="0">
                <a:effectLst/>
                <a:latin typeface="Arial" panose="020B0604020202020204" pitchFamily="34" charset="0"/>
                <a:ea typeface="Aptos" panose="020B0004020202020204" pitchFamily="34" charset="0"/>
                <a:cs typeface="Arial" panose="020B0604020202020204" pitchFamily="34" charset="0"/>
              </a:rPr>
              <a:t> </a:t>
            </a:r>
            <a:r>
              <a:rPr lang="hu-HU" sz="2400" b="1" kern="100" dirty="0" err="1">
                <a:effectLst/>
                <a:latin typeface="Arial" panose="020B0604020202020204" pitchFamily="34" charset="0"/>
                <a:ea typeface="Aptos" panose="020B0004020202020204" pitchFamily="34" charset="0"/>
                <a:cs typeface="Arial" panose="020B0604020202020204" pitchFamily="34" charset="0"/>
              </a:rPr>
              <a:t>our</a:t>
            </a:r>
            <a:r>
              <a:rPr lang="hu-HU" sz="2400" b="1" kern="100" dirty="0">
                <a:effectLst/>
                <a:latin typeface="Arial" panose="020B0604020202020204" pitchFamily="34" charset="0"/>
                <a:ea typeface="Aptos" panose="020B0004020202020204" pitchFamily="34" charset="0"/>
                <a:cs typeface="Arial" panose="020B0604020202020204" pitchFamily="34" charset="0"/>
              </a:rPr>
              <a:t> team. </a:t>
            </a:r>
            <a:r>
              <a:rPr lang="hu-HU" sz="2400" b="1" kern="100" dirty="0" err="1">
                <a:effectLst/>
                <a:latin typeface="Arial" panose="020B0604020202020204" pitchFamily="34" charset="0"/>
                <a:ea typeface="Aptos" panose="020B0004020202020204" pitchFamily="34" charset="0"/>
                <a:cs typeface="Arial" panose="020B0604020202020204" pitchFamily="34" charset="0"/>
              </a:rPr>
              <a:t>We</a:t>
            </a:r>
            <a:r>
              <a:rPr lang="hu-HU" sz="2400" b="1" kern="100" dirty="0">
                <a:effectLst/>
                <a:latin typeface="Arial" panose="020B0604020202020204" pitchFamily="34" charset="0"/>
                <a:ea typeface="Aptos" panose="020B0004020202020204" pitchFamily="34" charset="0"/>
                <a:cs typeface="Arial" panose="020B0604020202020204" pitchFamily="34" charset="0"/>
              </a:rPr>
              <a:t> </a:t>
            </a:r>
            <a:r>
              <a:rPr lang="hu-HU" sz="2400" b="1" kern="100" dirty="0" err="1">
                <a:effectLst/>
                <a:latin typeface="Arial" panose="020B0604020202020204" pitchFamily="34" charset="0"/>
                <a:ea typeface="Aptos" panose="020B0004020202020204" pitchFamily="34" charset="0"/>
                <a:cs typeface="Arial" panose="020B0604020202020204" pitchFamily="34" charset="0"/>
              </a:rPr>
              <a:t>are</a:t>
            </a:r>
            <a:r>
              <a:rPr lang="hu-HU" sz="2400" b="1" kern="100" dirty="0">
                <a:effectLst/>
                <a:latin typeface="Arial" panose="020B0604020202020204" pitchFamily="34" charset="0"/>
                <a:ea typeface="Aptos" panose="020B0004020202020204" pitchFamily="34" charset="0"/>
                <a:cs typeface="Arial" panose="020B0604020202020204" pitchFamily="34" charset="0"/>
              </a:rPr>
              <a:t> Tóth Krisztián, Kenéz Bence, and Kreszl Tamás.</a:t>
            </a:r>
            <a:endParaRPr lang="en-GB" sz="2400" b="1" kern="100" dirty="0">
              <a:effectLst/>
              <a:latin typeface="Arial" panose="020B0604020202020204" pitchFamily="34" charset="0"/>
              <a:ea typeface="Aptos" panose="020B0004020202020204" pitchFamily="34" charset="0"/>
              <a:cs typeface="Arial" panose="020B0604020202020204" pitchFamily="34" charset="0"/>
            </a:endParaRPr>
          </a:p>
          <a:p>
            <a:pPr marL="0" lvl="0" indent="0">
              <a:lnSpc>
                <a:spcPct val="115000"/>
              </a:lnSpc>
              <a:spcAft>
                <a:spcPts val="800"/>
              </a:spcAft>
              <a:buSzPts val="1000"/>
              <a:buFont typeface="Symbol" panose="05050102010706020507" pitchFamily="18" charset="2"/>
              <a:buNone/>
              <a:tabLst>
                <a:tab pos="457200" algn="l"/>
              </a:tabLst>
            </a:pPr>
            <a:endParaRPr lang="en-GB" sz="2400" b="1" kern="100" dirty="0">
              <a:effectLst/>
              <a:latin typeface="Arial" panose="020B0604020202020204" pitchFamily="34" charset="0"/>
              <a:ea typeface="Aptos" panose="020B0004020202020204" pitchFamily="34" charset="0"/>
              <a:cs typeface="Arial" panose="020B0604020202020204" pitchFamily="34"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hu-HU" sz="2400" b="1" kern="100" dirty="0">
                <a:effectLst/>
                <a:latin typeface="Arial" panose="020B0604020202020204" pitchFamily="34" charset="0"/>
                <a:ea typeface="Aptos" panose="020B0004020202020204" pitchFamily="34" charset="0"/>
                <a:cs typeface="Arial" panose="020B0604020202020204" pitchFamily="34" charset="0"/>
              </a:rPr>
              <a:t>Over </a:t>
            </a:r>
            <a:r>
              <a:rPr lang="hu-HU" sz="2400" b="1" kern="100" dirty="0" err="1">
                <a:effectLst/>
                <a:latin typeface="Arial" panose="020B0604020202020204" pitchFamily="34" charset="0"/>
                <a:ea typeface="Aptos" panose="020B0004020202020204" pitchFamily="34" charset="0"/>
                <a:cs typeface="Arial" panose="020B0604020202020204" pitchFamily="34" charset="0"/>
              </a:rPr>
              <a:t>the</a:t>
            </a:r>
            <a:r>
              <a:rPr lang="hu-HU" sz="2400" b="1" kern="100" dirty="0">
                <a:effectLst/>
                <a:latin typeface="Arial" panose="020B0604020202020204" pitchFamily="34" charset="0"/>
                <a:ea typeface="Aptos" panose="020B0004020202020204" pitchFamily="34" charset="0"/>
                <a:cs typeface="Arial" panose="020B0604020202020204" pitchFamily="34" charset="0"/>
              </a:rPr>
              <a:t> </a:t>
            </a:r>
            <a:r>
              <a:rPr lang="hu-HU" sz="2400" b="1" kern="100" dirty="0" err="1">
                <a:effectLst/>
                <a:latin typeface="Arial" panose="020B0604020202020204" pitchFamily="34" charset="0"/>
                <a:ea typeface="Aptos" panose="020B0004020202020204" pitchFamily="34" charset="0"/>
                <a:cs typeface="Arial" panose="020B0604020202020204" pitchFamily="34" charset="0"/>
              </a:rPr>
              <a:t>next</a:t>
            </a:r>
            <a:r>
              <a:rPr lang="hu-HU" sz="2400" b="1" kern="100" dirty="0">
                <a:effectLst/>
                <a:latin typeface="Arial" panose="020B0604020202020204" pitchFamily="34" charset="0"/>
                <a:ea typeface="Aptos" panose="020B0004020202020204" pitchFamily="34" charset="0"/>
                <a:cs typeface="Arial" panose="020B0604020202020204" pitchFamily="34" charset="0"/>
              </a:rPr>
              <a:t> </a:t>
            </a:r>
            <a:r>
              <a:rPr lang="hu-HU" sz="2400" b="1" kern="100" dirty="0" err="1">
                <a:effectLst/>
                <a:latin typeface="Arial" panose="020B0604020202020204" pitchFamily="34" charset="0"/>
                <a:ea typeface="Aptos" panose="020B0004020202020204" pitchFamily="34" charset="0"/>
                <a:cs typeface="Arial" panose="020B0604020202020204" pitchFamily="34" charset="0"/>
              </a:rPr>
              <a:t>few</a:t>
            </a:r>
            <a:r>
              <a:rPr lang="hu-HU" sz="2400" b="1" kern="100" dirty="0">
                <a:effectLst/>
                <a:latin typeface="Arial" panose="020B0604020202020204" pitchFamily="34" charset="0"/>
                <a:ea typeface="Aptos" panose="020B0004020202020204" pitchFamily="34" charset="0"/>
                <a:cs typeface="Arial" panose="020B0604020202020204" pitchFamily="34" charset="0"/>
              </a:rPr>
              <a:t> </a:t>
            </a:r>
            <a:r>
              <a:rPr lang="hu-HU" sz="2400" b="1" kern="100" dirty="0" err="1">
                <a:effectLst/>
                <a:latin typeface="Arial" panose="020B0604020202020204" pitchFamily="34" charset="0"/>
                <a:ea typeface="Aptos" panose="020B0004020202020204" pitchFamily="34" charset="0"/>
                <a:cs typeface="Arial" panose="020B0604020202020204" pitchFamily="34" charset="0"/>
              </a:rPr>
              <a:t>minutes</a:t>
            </a:r>
            <a:r>
              <a:rPr lang="hu-HU" sz="2400" b="1" kern="100" dirty="0">
                <a:effectLst/>
                <a:latin typeface="Arial" panose="020B0604020202020204" pitchFamily="34" charset="0"/>
                <a:ea typeface="Aptos" panose="020B0004020202020204" pitchFamily="34" charset="0"/>
                <a:cs typeface="Arial" panose="020B0604020202020204" pitchFamily="34" charset="0"/>
              </a:rPr>
              <a:t>, </a:t>
            </a:r>
            <a:r>
              <a:rPr lang="hu-HU" sz="2400" b="1" kern="100" dirty="0" err="1">
                <a:effectLst/>
                <a:latin typeface="Arial" panose="020B0604020202020204" pitchFamily="34" charset="0"/>
                <a:ea typeface="Aptos" panose="020B0004020202020204" pitchFamily="34" charset="0"/>
                <a:cs typeface="Arial" panose="020B0604020202020204" pitchFamily="34" charset="0"/>
              </a:rPr>
              <a:t>we’ll</a:t>
            </a:r>
            <a:r>
              <a:rPr lang="hu-HU" sz="2400" b="1" kern="100" dirty="0">
                <a:effectLst/>
                <a:latin typeface="Arial" panose="020B0604020202020204" pitchFamily="34" charset="0"/>
                <a:ea typeface="Aptos" panose="020B0004020202020204" pitchFamily="34" charset="0"/>
                <a:cs typeface="Arial" panose="020B0604020202020204" pitchFamily="34" charset="0"/>
              </a:rPr>
              <a:t> </a:t>
            </a:r>
            <a:r>
              <a:rPr lang="hu-HU" sz="2400" b="1" kern="100" dirty="0" err="1">
                <a:effectLst/>
                <a:latin typeface="Arial" panose="020B0604020202020204" pitchFamily="34" charset="0"/>
                <a:ea typeface="Aptos" panose="020B0004020202020204" pitchFamily="34" charset="0"/>
                <a:cs typeface="Arial" panose="020B0604020202020204" pitchFamily="34" charset="0"/>
              </a:rPr>
              <a:t>walk</a:t>
            </a:r>
            <a:r>
              <a:rPr lang="hu-HU" sz="2400" b="1" kern="100" dirty="0">
                <a:effectLst/>
                <a:latin typeface="Arial" panose="020B0604020202020204" pitchFamily="34" charset="0"/>
                <a:ea typeface="Aptos" panose="020B0004020202020204" pitchFamily="34" charset="0"/>
                <a:cs typeface="Arial" panose="020B0604020202020204" pitchFamily="34" charset="0"/>
              </a:rPr>
              <a:t> </a:t>
            </a:r>
            <a:r>
              <a:rPr lang="hu-HU" sz="2400" b="1" kern="100" dirty="0" err="1">
                <a:effectLst/>
                <a:latin typeface="Arial" panose="020B0604020202020204" pitchFamily="34" charset="0"/>
                <a:ea typeface="Aptos" panose="020B0004020202020204" pitchFamily="34" charset="0"/>
                <a:cs typeface="Arial" panose="020B0604020202020204" pitchFamily="34" charset="0"/>
              </a:rPr>
              <a:t>you</a:t>
            </a:r>
            <a:r>
              <a:rPr lang="hu-HU" sz="2400" b="1" kern="100" dirty="0">
                <a:effectLst/>
                <a:latin typeface="Arial" panose="020B0604020202020204" pitchFamily="34" charset="0"/>
                <a:ea typeface="Aptos" panose="020B0004020202020204" pitchFamily="34" charset="0"/>
                <a:cs typeface="Arial" panose="020B0604020202020204" pitchFamily="34" charset="0"/>
              </a:rPr>
              <a:t> </a:t>
            </a:r>
            <a:r>
              <a:rPr lang="hu-HU" sz="2400" b="1" kern="100" dirty="0" err="1">
                <a:effectLst/>
                <a:latin typeface="Arial" panose="020B0604020202020204" pitchFamily="34" charset="0"/>
                <a:ea typeface="Aptos" panose="020B0004020202020204" pitchFamily="34" charset="0"/>
                <a:cs typeface="Arial" panose="020B0604020202020204" pitchFamily="34" charset="0"/>
              </a:rPr>
              <a:t>through</a:t>
            </a:r>
            <a:r>
              <a:rPr lang="hu-HU" sz="2400" b="1" kern="100" dirty="0">
                <a:effectLst/>
                <a:latin typeface="Arial" panose="020B0604020202020204" pitchFamily="34" charset="0"/>
                <a:ea typeface="Aptos" panose="020B0004020202020204" pitchFamily="34" charset="0"/>
                <a:cs typeface="Arial" panose="020B0604020202020204" pitchFamily="34" charset="0"/>
              </a:rPr>
              <a:t> </a:t>
            </a:r>
            <a:r>
              <a:rPr lang="hu-HU" sz="2400" b="1" kern="100" dirty="0" err="1">
                <a:effectLst/>
                <a:latin typeface="Arial" panose="020B0604020202020204" pitchFamily="34" charset="0"/>
                <a:ea typeface="Aptos" panose="020B0004020202020204" pitchFamily="34" charset="0"/>
                <a:cs typeface="Arial" panose="020B0604020202020204" pitchFamily="34" charset="0"/>
              </a:rPr>
              <a:t>the</a:t>
            </a:r>
            <a:r>
              <a:rPr lang="hu-HU" sz="2400" b="1" kern="100" dirty="0">
                <a:effectLst/>
                <a:latin typeface="Arial" panose="020B0604020202020204" pitchFamily="34" charset="0"/>
                <a:ea typeface="Aptos" panose="020B0004020202020204" pitchFamily="34" charset="0"/>
                <a:cs typeface="Arial" panose="020B0604020202020204" pitchFamily="34" charset="0"/>
              </a:rPr>
              <a:t> </a:t>
            </a:r>
            <a:r>
              <a:rPr lang="hu-HU" sz="2400" b="1" kern="100" dirty="0" err="1">
                <a:effectLst/>
                <a:latin typeface="Arial" panose="020B0604020202020204" pitchFamily="34" charset="0"/>
                <a:ea typeface="Aptos" panose="020B0004020202020204" pitchFamily="34" charset="0"/>
                <a:cs typeface="Arial" panose="020B0604020202020204" pitchFamily="34" charset="0"/>
              </a:rPr>
              <a:t>problems</a:t>
            </a:r>
            <a:r>
              <a:rPr lang="hu-HU" sz="2400" b="1" kern="100" dirty="0">
                <a:effectLst/>
                <a:latin typeface="Arial" panose="020B0604020202020204" pitchFamily="34" charset="0"/>
                <a:ea typeface="Aptos" panose="020B0004020202020204" pitchFamily="34" charset="0"/>
                <a:cs typeface="Arial" panose="020B0604020202020204" pitchFamily="34" charset="0"/>
              </a:rPr>
              <a:t> </a:t>
            </a:r>
            <a:r>
              <a:rPr lang="hu-HU" sz="2400" b="1" kern="100" dirty="0" err="1">
                <a:effectLst/>
                <a:latin typeface="Arial" panose="020B0604020202020204" pitchFamily="34" charset="0"/>
                <a:ea typeface="Aptos" panose="020B0004020202020204" pitchFamily="34" charset="0"/>
                <a:cs typeface="Arial" panose="020B0604020202020204" pitchFamily="34" charset="0"/>
              </a:rPr>
              <a:t>we</a:t>
            </a:r>
            <a:r>
              <a:rPr lang="hu-HU" sz="2400" b="1" kern="100" dirty="0">
                <a:effectLst/>
                <a:latin typeface="Arial" panose="020B0604020202020204" pitchFamily="34" charset="0"/>
                <a:ea typeface="Aptos" panose="020B0004020202020204" pitchFamily="34" charset="0"/>
                <a:cs typeface="Arial" panose="020B0604020202020204" pitchFamily="34" charset="0"/>
              </a:rPr>
              <a:t> </a:t>
            </a:r>
            <a:r>
              <a:rPr lang="hu-HU" sz="2400" b="1" kern="100" dirty="0" err="1">
                <a:effectLst/>
                <a:latin typeface="Arial" panose="020B0604020202020204" pitchFamily="34" charset="0"/>
                <a:ea typeface="Aptos" panose="020B0004020202020204" pitchFamily="34" charset="0"/>
                <a:cs typeface="Arial" panose="020B0604020202020204" pitchFamily="34" charset="0"/>
              </a:rPr>
              <a:t>identified</a:t>
            </a:r>
            <a:r>
              <a:rPr lang="hu-HU" sz="2400" b="1" kern="100" dirty="0">
                <a:effectLst/>
                <a:latin typeface="Arial" panose="020B0604020202020204" pitchFamily="34" charset="0"/>
                <a:ea typeface="Aptos" panose="020B0004020202020204" pitchFamily="34" charset="0"/>
                <a:cs typeface="Arial" panose="020B0604020202020204" pitchFamily="34" charset="0"/>
              </a:rPr>
              <a:t> in </a:t>
            </a:r>
            <a:r>
              <a:rPr lang="hu-HU" sz="2400" b="1" kern="100" dirty="0" err="1">
                <a:effectLst/>
                <a:latin typeface="Arial" panose="020B0604020202020204" pitchFamily="34" charset="0"/>
                <a:ea typeface="Aptos" panose="020B0004020202020204" pitchFamily="34" charset="0"/>
                <a:cs typeface="Arial" panose="020B0604020202020204" pitchFamily="34" charset="0"/>
              </a:rPr>
              <a:t>the</a:t>
            </a:r>
            <a:r>
              <a:rPr lang="hu-HU" sz="2400" b="1" kern="100" dirty="0">
                <a:effectLst/>
                <a:latin typeface="Arial" panose="020B0604020202020204" pitchFamily="34" charset="0"/>
                <a:ea typeface="Aptos" panose="020B0004020202020204" pitchFamily="34" charset="0"/>
                <a:cs typeface="Arial" panose="020B0604020202020204" pitchFamily="34" charset="0"/>
              </a:rPr>
              <a:t> </a:t>
            </a:r>
            <a:r>
              <a:rPr lang="hu-HU" sz="2400" b="1" kern="100" dirty="0" err="1">
                <a:effectLst/>
                <a:latin typeface="Arial" panose="020B0604020202020204" pitchFamily="34" charset="0"/>
                <a:ea typeface="Aptos" panose="020B0004020202020204" pitchFamily="34" charset="0"/>
                <a:cs typeface="Arial" panose="020B0604020202020204" pitchFamily="34" charset="0"/>
              </a:rPr>
              <a:t>sneaker</a:t>
            </a:r>
            <a:r>
              <a:rPr lang="hu-HU" sz="2400" b="1" kern="100" dirty="0">
                <a:effectLst/>
                <a:latin typeface="Arial" panose="020B0604020202020204" pitchFamily="34" charset="0"/>
                <a:ea typeface="Aptos" panose="020B0004020202020204" pitchFamily="34" charset="0"/>
                <a:cs typeface="Arial" panose="020B0604020202020204" pitchFamily="34" charset="0"/>
              </a:rPr>
              <a:t> market, </a:t>
            </a:r>
            <a:r>
              <a:rPr lang="hu-HU" sz="2400" b="1" kern="100" dirty="0" err="1">
                <a:effectLst/>
                <a:latin typeface="Arial" panose="020B0604020202020204" pitchFamily="34" charset="0"/>
                <a:ea typeface="Aptos" panose="020B0004020202020204" pitchFamily="34" charset="0"/>
                <a:cs typeface="Arial" panose="020B0604020202020204" pitchFamily="34" charset="0"/>
              </a:rPr>
              <a:t>how</a:t>
            </a:r>
            <a:r>
              <a:rPr lang="hu-HU" sz="2400" b="1" kern="100" dirty="0">
                <a:effectLst/>
                <a:latin typeface="Arial" panose="020B0604020202020204" pitchFamily="34" charset="0"/>
                <a:ea typeface="Aptos" panose="020B0004020202020204" pitchFamily="34" charset="0"/>
                <a:cs typeface="Arial" panose="020B0604020202020204" pitchFamily="34" charset="0"/>
              </a:rPr>
              <a:t> </a:t>
            </a:r>
            <a:r>
              <a:rPr lang="hu-HU" sz="2400" b="1" kern="100" dirty="0" err="1">
                <a:effectLst/>
                <a:latin typeface="Arial" panose="020B0604020202020204" pitchFamily="34" charset="0"/>
                <a:ea typeface="Aptos" panose="020B0004020202020204" pitchFamily="34" charset="0"/>
                <a:cs typeface="Arial" panose="020B0604020202020204" pitchFamily="34" charset="0"/>
              </a:rPr>
              <a:t>SneakR</a:t>
            </a:r>
            <a:r>
              <a:rPr lang="hu-HU" sz="2400" b="1" kern="100" dirty="0">
                <a:effectLst/>
                <a:latin typeface="Arial" panose="020B0604020202020204" pitchFamily="34" charset="0"/>
                <a:ea typeface="Aptos" panose="020B0004020202020204" pitchFamily="34" charset="0"/>
                <a:cs typeface="Arial" panose="020B0604020202020204" pitchFamily="34" charset="0"/>
              </a:rPr>
              <a:t> </a:t>
            </a:r>
            <a:r>
              <a:rPr lang="hu-HU" sz="2400" b="1" kern="100" dirty="0" err="1">
                <a:effectLst/>
                <a:latin typeface="Arial" panose="020B0604020202020204" pitchFamily="34" charset="0"/>
                <a:ea typeface="Aptos" panose="020B0004020202020204" pitchFamily="34" charset="0"/>
                <a:cs typeface="Arial" panose="020B0604020202020204" pitchFamily="34" charset="0"/>
              </a:rPr>
              <a:t>solves</a:t>
            </a:r>
            <a:r>
              <a:rPr lang="hu-HU" sz="2400" b="1" kern="100" dirty="0">
                <a:effectLst/>
                <a:latin typeface="Arial" panose="020B0604020202020204" pitchFamily="34" charset="0"/>
                <a:ea typeface="Aptos" panose="020B0004020202020204" pitchFamily="34" charset="0"/>
                <a:cs typeface="Arial" panose="020B0604020202020204" pitchFamily="34" charset="0"/>
              </a:rPr>
              <a:t> </a:t>
            </a:r>
            <a:r>
              <a:rPr lang="hu-HU" sz="2400" b="1" kern="100" dirty="0" err="1">
                <a:effectLst/>
                <a:latin typeface="Arial" panose="020B0604020202020204" pitchFamily="34" charset="0"/>
                <a:ea typeface="Aptos" panose="020B0004020202020204" pitchFamily="34" charset="0"/>
                <a:cs typeface="Arial" panose="020B0604020202020204" pitchFamily="34" charset="0"/>
              </a:rPr>
              <a:t>these</a:t>
            </a:r>
            <a:r>
              <a:rPr lang="hu-HU" sz="2400" b="1" kern="100" dirty="0">
                <a:effectLst/>
                <a:latin typeface="Arial" panose="020B0604020202020204" pitchFamily="34" charset="0"/>
                <a:ea typeface="Aptos" panose="020B0004020202020204" pitchFamily="34" charset="0"/>
                <a:cs typeface="Arial" panose="020B0604020202020204" pitchFamily="34" charset="0"/>
              </a:rPr>
              <a:t> </a:t>
            </a:r>
            <a:r>
              <a:rPr lang="hu-HU" sz="2400" b="1" kern="100" dirty="0" err="1">
                <a:effectLst/>
                <a:latin typeface="Arial" panose="020B0604020202020204" pitchFamily="34" charset="0"/>
                <a:ea typeface="Aptos" panose="020B0004020202020204" pitchFamily="34" charset="0"/>
                <a:cs typeface="Arial" panose="020B0604020202020204" pitchFamily="34" charset="0"/>
              </a:rPr>
              <a:t>challenges</a:t>
            </a:r>
            <a:r>
              <a:rPr lang="hu-HU" sz="2400" b="1" kern="100" dirty="0">
                <a:effectLst/>
                <a:latin typeface="Arial" panose="020B0604020202020204" pitchFamily="34" charset="0"/>
                <a:ea typeface="Aptos" panose="020B0004020202020204" pitchFamily="34" charset="0"/>
                <a:cs typeface="Arial" panose="020B0604020202020204" pitchFamily="34" charset="0"/>
              </a:rPr>
              <a:t>, </a:t>
            </a:r>
            <a:r>
              <a:rPr lang="hu-HU" sz="2400" b="1" kern="100" dirty="0" err="1">
                <a:effectLst/>
                <a:latin typeface="Arial" panose="020B0604020202020204" pitchFamily="34" charset="0"/>
                <a:ea typeface="Aptos" panose="020B0004020202020204" pitchFamily="34" charset="0"/>
                <a:cs typeface="Arial" panose="020B0604020202020204" pitchFamily="34" charset="0"/>
              </a:rPr>
              <a:t>the</a:t>
            </a:r>
            <a:r>
              <a:rPr lang="hu-HU" sz="2400" b="1" kern="100" dirty="0">
                <a:effectLst/>
                <a:latin typeface="Arial" panose="020B0604020202020204" pitchFamily="34" charset="0"/>
                <a:ea typeface="Aptos" panose="020B0004020202020204" pitchFamily="34" charset="0"/>
                <a:cs typeface="Arial" panose="020B0604020202020204" pitchFamily="34" charset="0"/>
              </a:rPr>
              <a:t> design and </a:t>
            </a:r>
            <a:r>
              <a:rPr lang="hu-HU" sz="2400" b="1" kern="100" dirty="0" err="1">
                <a:effectLst/>
                <a:latin typeface="Arial" panose="020B0604020202020204" pitchFamily="34" charset="0"/>
                <a:ea typeface="Aptos" panose="020B0004020202020204" pitchFamily="34" charset="0"/>
                <a:cs typeface="Arial" panose="020B0604020202020204" pitchFamily="34" charset="0"/>
              </a:rPr>
              <a:t>technical</a:t>
            </a:r>
            <a:r>
              <a:rPr lang="hu-HU" sz="2400" b="1" kern="100" dirty="0">
                <a:effectLst/>
                <a:latin typeface="Arial" panose="020B0604020202020204" pitchFamily="34" charset="0"/>
                <a:ea typeface="Aptos" panose="020B0004020202020204" pitchFamily="34" charset="0"/>
                <a:cs typeface="Arial" panose="020B0604020202020204" pitchFamily="34" charset="0"/>
              </a:rPr>
              <a:t> </a:t>
            </a:r>
            <a:r>
              <a:rPr lang="hu-HU" sz="2400" b="1" kern="100" dirty="0" err="1">
                <a:effectLst/>
                <a:latin typeface="Arial" panose="020B0604020202020204" pitchFamily="34" charset="0"/>
                <a:ea typeface="Aptos" panose="020B0004020202020204" pitchFamily="34" charset="0"/>
                <a:cs typeface="Arial" panose="020B0604020202020204" pitchFamily="34" charset="0"/>
              </a:rPr>
              <a:t>architecture</a:t>
            </a:r>
            <a:r>
              <a:rPr lang="hu-HU" sz="2400" b="1" kern="100" dirty="0">
                <a:effectLst/>
                <a:latin typeface="Arial" panose="020B0604020202020204" pitchFamily="34" charset="0"/>
                <a:ea typeface="Aptos" panose="020B0004020202020204" pitchFamily="34" charset="0"/>
                <a:cs typeface="Arial" panose="020B0604020202020204" pitchFamily="34" charset="0"/>
              </a:rPr>
              <a:t> </a:t>
            </a:r>
            <a:r>
              <a:rPr lang="hu-HU" sz="2400" b="1" kern="100" dirty="0" err="1">
                <a:effectLst/>
                <a:latin typeface="Arial" panose="020B0604020202020204" pitchFamily="34" charset="0"/>
                <a:ea typeface="Aptos" panose="020B0004020202020204" pitchFamily="34" charset="0"/>
                <a:cs typeface="Arial" panose="020B0604020202020204" pitchFamily="34" charset="0"/>
              </a:rPr>
              <a:t>behind</a:t>
            </a:r>
            <a:r>
              <a:rPr lang="hu-HU" sz="2400" b="1" kern="100" dirty="0">
                <a:effectLst/>
                <a:latin typeface="Arial" panose="020B0604020202020204" pitchFamily="34" charset="0"/>
                <a:ea typeface="Aptos" panose="020B0004020202020204" pitchFamily="34" charset="0"/>
                <a:cs typeface="Arial" panose="020B0604020202020204" pitchFamily="34" charset="0"/>
              </a:rPr>
              <a:t> </a:t>
            </a:r>
            <a:r>
              <a:rPr lang="hu-HU" sz="2400" b="1" kern="100" dirty="0" err="1">
                <a:effectLst/>
                <a:latin typeface="Arial" panose="020B0604020202020204" pitchFamily="34" charset="0"/>
                <a:ea typeface="Aptos" panose="020B0004020202020204" pitchFamily="34" charset="0"/>
                <a:cs typeface="Arial" panose="020B0604020202020204" pitchFamily="34" charset="0"/>
              </a:rPr>
              <a:t>it</a:t>
            </a:r>
            <a:r>
              <a:rPr lang="hu-HU" sz="2400" b="1" kern="100" dirty="0">
                <a:effectLst/>
                <a:latin typeface="Arial" panose="020B0604020202020204" pitchFamily="34" charset="0"/>
                <a:ea typeface="Aptos" panose="020B0004020202020204" pitchFamily="34" charset="0"/>
                <a:cs typeface="Arial" panose="020B0604020202020204" pitchFamily="34" charset="0"/>
              </a:rPr>
              <a:t>, and </a:t>
            </a:r>
            <a:r>
              <a:rPr lang="hu-HU" sz="2400" b="1" kern="100" dirty="0" err="1">
                <a:effectLst/>
                <a:latin typeface="Arial" panose="020B0604020202020204" pitchFamily="34" charset="0"/>
                <a:ea typeface="Aptos" panose="020B0004020202020204" pitchFamily="34" charset="0"/>
                <a:cs typeface="Arial" panose="020B0604020202020204" pitchFamily="34" charset="0"/>
              </a:rPr>
              <a:t>our</a:t>
            </a:r>
            <a:r>
              <a:rPr lang="hu-HU" sz="2400" b="1" kern="100" dirty="0">
                <a:effectLst/>
                <a:latin typeface="Arial" panose="020B0604020202020204" pitchFamily="34" charset="0"/>
                <a:ea typeface="Aptos" panose="020B0004020202020204" pitchFamily="34" charset="0"/>
                <a:cs typeface="Arial" panose="020B0604020202020204" pitchFamily="34" charset="0"/>
              </a:rPr>
              <a:t> </a:t>
            </a:r>
            <a:r>
              <a:rPr lang="hu-HU" sz="2400" b="1" kern="100" dirty="0" err="1">
                <a:effectLst/>
                <a:latin typeface="Arial" panose="020B0604020202020204" pitchFamily="34" charset="0"/>
                <a:ea typeface="Aptos" panose="020B0004020202020204" pitchFamily="34" charset="0"/>
                <a:cs typeface="Arial" panose="020B0604020202020204" pitchFamily="34" charset="0"/>
              </a:rPr>
              <a:t>plans</a:t>
            </a:r>
            <a:r>
              <a:rPr lang="hu-HU" sz="2400" b="1" kern="100" dirty="0">
                <a:effectLst/>
                <a:latin typeface="Arial" panose="020B0604020202020204" pitchFamily="34" charset="0"/>
                <a:ea typeface="Aptos" panose="020B0004020202020204" pitchFamily="34" charset="0"/>
                <a:cs typeface="Arial" panose="020B0604020202020204" pitchFamily="34" charset="0"/>
              </a:rPr>
              <a:t> </a:t>
            </a:r>
            <a:r>
              <a:rPr lang="hu-HU" sz="2400" b="1" kern="100" dirty="0" err="1">
                <a:effectLst/>
                <a:latin typeface="Arial" panose="020B0604020202020204" pitchFamily="34" charset="0"/>
                <a:ea typeface="Aptos" panose="020B0004020202020204" pitchFamily="34" charset="0"/>
                <a:cs typeface="Arial" panose="020B0604020202020204" pitchFamily="34" charset="0"/>
              </a:rPr>
              <a:t>for</a:t>
            </a:r>
            <a:r>
              <a:rPr lang="hu-HU" sz="2400" b="1" kern="100" dirty="0">
                <a:effectLst/>
                <a:latin typeface="Arial" panose="020B0604020202020204" pitchFamily="34" charset="0"/>
                <a:ea typeface="Aptos" panose="020B0004020202020204" pitchFamily="34" charset="0"/>
                <a:cs typeface="Arial" panose="020B0604020202020204" pitchFamily="34" charset="0"/>
              </a:rPr>
              <a:t> </a:t>
            </a:r>
            <a:r>
              <a:rPr lang="hu-HU" sz="2400" b="1" kern="100" dirty="0" err="1">
                <a:effectLst/>
                <a:latin typeface="Arial" panose="020B0604020202020204" pitchFamily="34" charset="0"/>
                <a:ea typeface="Aptos" panose="020B0004020202020204" pitchFamily="34" charset="0"/>
                <a:cs typeface="Arial" panose="020B0604020202020204" pitchFamily="34" charset="0"/>
              </a:rPr>
              <a:t>the</a:t>
            </a:r>
            <a:r>
              <a:rPr lang="hu-HU" sz="2400" b="1" kern="100" dirty="0">
                <a:effectLst/>
                <a:latin typeface="Arial" panose="020B0604020202020204" pitchFamily="34" charset="0"/>
                <a:ea typeface="Aptos" panose="020B0004020202020204" pitchFamily="34" charset="0"/>
                <a:cs typeface="Arial" panose="020B0604020202020204" pitchFamily="34" charset="0"/>
              </a:rPr>
              <a:t> </a:t>
            </a:r>
            <a:r>
              <a:rPr lang="hu-HU" sz="2400" b="1" kern="100" dirty="0" err="1">
                <a:effectLst/>
                <a:latin typeface="Arial" panose="020B0604020202020204" pitchFamily="34" charset="0"/>
                <a:ea typeface="Aptos" panose="020B0004020202020204" pitchFamily="34" charset="0"/>
                <a:cs typeface="Arial" panose="020B0604020202020204" pitchFamily="34" charset="0"/>
              </a:rPr>
              <a:t>future</a:t>
            </a:r>
            <a:r>
              <a:rPr lang="hu-HU" sz="2400" b="1" kern="100" dirty="0">
                <a:effectLst/>
                <a:latin typeface="Arial" panose="020B0604020202020204" pitchFamily="34" charset="0"/>
                <a:ea typeface="Aptos" panose="020B0004020202020204" pitchFamily="34" charset="0"/>
                <a:cs typeface="Arial" panose="020B0604020202020204" pitchFamily="34" charset="0"/>
              </a:rPr>
              <a:t>. </a:t>
            </a:r>
            <a:r>
              <a:rPr lang="hu-HU" sz="2400" b="1" kern="100" dirty="0" err="1">
                <a:effectLst/>
                <a:latin typeface="Arial" panose="020B0604020202020204" pitchFamily="34" charset="0"/>
                <a:ea typeface="Aptos" panose="020B0004020202020204" pitchFamily="34" charset="0"/>
                <a:cs typeface="Arial" panose="020B0604020202020204" pitchFamily="34" charset="0"/>
              </a:rPr>
              <a:t>Let's</a:t>
            </a:r>
            <a:r>
              <a:rPr lang="hu-HU" sz="2400" b="1" kern="100" dirty="0">
                <a:effectLst/>
                <a:latin typeface="Arial" panose="020B0604020202020204" pitchFamily="34" charset="0"/>
                <a:ea typeface="Aptos" panose="020B0004020202020204" pitchFamily="34" charset="0"/>
                <a:cs typeface="Arial" panose="020B0604020202020204" pitchFamily="34" charset="0"/>
              </a:rPr>
              <a:t> </a:t>
            </a:r>
            <a:r>
              <a:rPr lang="hu-HU" sz="2400" b="1" kern="100" dirty="0" err="1">
                <a:effectLst/>
                <a:latin typeface="Arial" panose="020B0604020202020204" pitchFamily="34" charset="0"/>
                <a:ea typeface="Aptos" panose="020B0004020202020204" pitchFamily="34" charset="0"/>
                <a:cs typeface="Arial" panose="020B0604020202020204" pitchFamily="34" charset="0"/>
              </a:rPr>
              <a:t>dive</a:t>
            </a:r>
            <a:r>
              <a:rPr lang="hu-HU" sz="2400" b="1" kern="100" dirty="0">
                <a:effectLst/>
                <a:latin typeface="Arial" panose="020B0604020202020204" pitchFamily="34" charset="0"/>
                <a:ea typeface="Aptos" panose="020B0004020202020204" pitchFamily="34" charset="0"/>
                <a:cs typeface="Arial" panose="020B0604020202020204" pitchFamily="34" charset="0"/>
              </a:rPr>
              <a:t> in!</a:t>
            </a:r>
            <a:endParaRPr lang="en-GB" sz="2400" b="1" kern="100" dirty="0">
              <a:effectLst/>
              <a:latin typeface="Arial" panose="020B0604020202020204" pitchFamily="34" charset="0"/>
              <a:ea typeface="Aptos" panose="020B00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15000"/>
              </a:lnSpc>
              <a:spcAft>
                <a:spcPts val="800"/>
              </a:spcAft>
              <a:buNone/>
            </a:pPr>
            <a:r>
              <a:rPr lang="hu-HU" sz="2400" b="1" kern="100" dirty="0">
                <a:effectLst/>
                <a:latin typeface="Arial" panose="020B0604020202020204" pitchFamily="34" charset="0"/>
                <a:ea typeface="Aptos" panose="020B0004020202020204" pitchFamily="34" charset="0"/>
                <a:cs typeface="Arial" panose="020B0604020202020204" pitchFamily="34" charset="0"/>
              </a:rPr>
              <a:t>(</a:t>
            </a:r>
            <a:r>
              <a:rPr lang="hu-HU" sz="2400" b="1" kern="100" dirty="0" err="1">
                <a:effectLst/>
                <a:latin typeface="Arial" panose="020B0604020202020204" pitchFamily="34" charset="0"/>
                <a:ea typeface="Aptos" panose="020B0004020202020204" pitchFamily="34" charset="0"/>
                <a:cs typeface="Arial" panose="020B0604020202020204" pitchFamily="34" charset="0"/>
              </a:rPr>
              <a:t>Presenter</a:t>
            </a:r>
            <a:r>
              <a:rPr lang="hu-HU" sz="2400" b="1" kern="100" dirty="0">
                <a:effectLst/>
                <a:latin typeface="Arial" panose="020B0604020202020204" pitchFamily="34" charset="0"/>
                <a:ea typeface="Aptos" panose="020B0004020202020204" pitchFamily="34" charset="0"/>
                <a:cs typeface="Arial" panose="020B0604020202020204" pitchFamily="34" charset="0"/>
              </a:rPr>
              <a:t>: Kreszl Tamás)</a:t>
            </a:r>
            <a:endParaRPr lang="en-GB" sz="2400" b="1" kern="100" dirty="0">
              <a:effectLst/>
              <a:latin typeface="Arial" panose="020B0604020202020204" pitchFamily="34" charset="0"/>
              <a:ea typeface="Aptos" panose="020B0004020202020204" pitchFamily="34" charset="0"/>
              <a:cs typeface="Arial" panose="020B0604020202020204" pitchFamily="34" charset="0"/>
            </a:endParaRPr>
          </a:p>
          <a:p>
            <a:pPr>
              <a:lnSpc>
                <a:spcPct val="115000"/>
              </a:lnSpc>
              <a:spcAft>
                <a:spcPts val="800"/>
              </a:spcAft>
              <a:buNone/>
            </a:pPr>
            <a:endParaRPr lang="en-GB" sz="2400" b="1" kern="100" dirty="0">
              <a:effectLst/>
              <a:latin typeface="Arial" panose="020B0604020202020204" pitchFamily="34" charset="0"/>
              <a:ea typeface="Aptos" panose="020B0004020202020204" pitchFamily="34" charset="0"/>
              <a:cs typeface="Arial" panose="020B0604020202020204" pitchFamily="34"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hu-HU" sz="2400" b="1" kern="100" dirty="0" err="1">
                <a:effectLst/>
                <a:latin typeface="Arial" panose="020B0604020202020204" pitchFamily="34" charset="0"/>
                <a:ea typeface="Aptos" panose="020B0004020202020204" pitchFamily="34" charset="0"/>
                <a:cs typeface="Arial" panose="020B0604020202020204" pitchFamily="34" charset="0"/>
              </a:rPr>
              <a:t>Now</a:t>
            </a:r>
            <a:r>
              <a:rPr lang="hu-HU" sz="2400" b="1" kern="100" dirty="0">
                <a:effectLst/>
                <a:latin typeface="Arial" panose="020B0604020202020204" pitchFamily="34" charset="0"/>
                <a:ea typeface="Aptos" panose="020B0004020202020204" pitchFamily="34" charset="0"/>
                <a:cs typeface="Arial" panose="020B0604020202020204" pitchFamily="34" charset="0"/>
              </a:rPr>
              <a:t>, </a:t>
            </a:r>
            <a:r>
              <a:rPr lang="hu-HU" sz="2400" b="1" kern="100" dirty="0" err="1">
                <a:effectLst/>
                <a:latin typeface="Arial" panose="020B0604020202020204" pitchFamily="34" charset="0"/>
                <a:ea typeface="Aptos" panose="020B0004020202020204" pitchFamily="34" charset="0"/>
                <a:cs typeface="Arial" panose="020B0604020202020204" pitchFamily="34" charset="0"/>
              </a:rPr>
              <a:t>let’s</a:t>
            </a:r>
            <a:r>
              <a:rPr lang="hu-HU" sz="2400" b="1" kern="100" dirty="0">
                <a:effectLst/>
                <a:latin typeface="Arial" panose="020B0604020202020204" pitchFamily="34" charset="0"/>
                <a:ea typeface="Aptos" panose="020B0004020202020204" pitchFamily="34" charset="0"/>
                <a:cs typeface="Arial" panose="020B0604020202020204" pitchFamily="34" charset="0"/>
              </a:rPr>
              <a:t> </a:t>
            </a:r>
            <a:r>
              <a:rPr lang="hu-HU" sz="2400" b="1" kern="100" dirty="0" err="1">
                <a:effectLst/>
                <a:latin typeface="Arial" panose="020B0604020202020204" pitchFamily="34" charset="0"/>
                <a:ea typeface="Aptos" panose="020B0004020202020204" pitchFamily="34" charset="0"/>
                <a:cs typeface="Arial" panose="020B0604020202020204" pitchFamily="34" charset="0"/>
              </a:rPr>
              <a:t>talk</a:t>
            </a:r>
            <a:r>
              <a:rPr lang="hu-HU" sz="2400" b="1" kern="100" dirty="0">
                <a:effectLst/>
                <a:latin typeface="Arial" panose="020B0604020202020204" pitchFamily="34" charset="0"/>
                <a:ea typeface="Aptos" panose="020B0004020202020204" pitchFamily="34" charset="0"/>
                <a:cs typeface="Arial" panose="020B0604020202020204" pitchFamily="34" charset="0"/>
              </a:rPr>
              <a:t> </a:t>
            </a:r>
            <a:r>
              <a:rPr lang="hu-HU" sz="2400" b="1" kern="100" dirty="0" err="1">
                <a:effectLst/>
                <a:latin typeface="Arial" panose="020B0604020202020204" pitchFamily="34" charset="0"/>
                <a:ea typeface="Aptos" panose="020B0004020202020204" pitchFamily="34" charset="0"/>
                <a:cs typeface="Arial" panose="020B0604020202020204" pitchFamily="34" charset="0"/>
              </a:rPr>
              <a:t>about</a:t>
            </a:r>
            <a:r>
              <a:rPr lang="hu-HU" sz="2400" b="1" kern="100" dirty="0">
                <a:effectLst/>
                <a:latin typeface="Arial" panose="020B0604020202020204" pitchFamily="34" charset="0"/>
                <a:ea typeface="Aptos" panose="020B0004020202020204" pitchFamily="34" charset="0"/>
                <a:cs typeface="Arial" panose="020B0604020202020204" pitchFamily="34" charset="0"/>
              </a:rPr>
              <a:t> </a:t>
            </a:r>
            <a:r>
              <a:rPr lang="hu-HU" sz="2400" b="1" i="1" kern="100" dirty="0" err="1">
                <a:effectLst/>
                <a:latin typeface="Arial" panose="020B0604020202020204" pitchFamily="34" charset="0"/>
                <a:ea typeface="Aptos" panose="020B0004020202020204" pitchFamily="34" charset="0"/>
                <a:cs typeface="Arial" panose="020B0604020202020204" pitchFamily="34" charset="0"/>
              </a:rPr>
              <a:t>why</a:t>
            </a:r>
            <a:r>
              <a:rPr lang="hu-HU" sz="2400" b="1" kern="100" dirty="0">
                <a:effectLst/>
                <a:latin typeface="Arial" panose="020B0604020202020204" pitchFamily="34" charset="0"/>
                <a:ea typeface="Aptos" panose="020B0004020202020204" pitchFamily="34" charset="0"/>
                <a:cs typeface="Arial" panose="020B0604020202020204" pitchFamily="34" charset="0"/>
              </a:rPr>
              <a:t> </a:t>
            </a:r>
            <a:r>
              <a:rPr lang="hu-HU" sz="2400" b="1" kern="100" dirty="0" err="1">
                <a:effectLst/>
                <a:latin typeface="Arial" panose="020B0604020202020204" pitchFamily="34" charset="0"/>
                <a:ea typeface="Aptos" panose="020B0004020202020204" pitchFamily="34" charset="0"/>
                <a:cs typeface="Arial" panose="020B0604020202020204" pitchFamily="34" charset="0"/>
              </a:rPr>
              <a:t>SneakR</a:t>
            </a:r>
            <a:r>
              <a:rPr lang="hu-HU" sz="2400" b="1" kern="100" dirty="0">
                <a:effectLst/>
                <a:latin typeface="Arial" panose="020B0604020202020204" pitchFamily="34" charset="0"/>
                <a:ea typeface="Aptos" panose="020B0004020202020204" pitchFamily="34" charset="0"/>
                <a:cs typeface="Arial" panose="020B0604020202020204" pitchFamily="34" charset="0"/>
              </a:rPr>
              <a:t> </a:t>
            </a:r>
            <a:r>
              <a:rPr lang="hu-HU" sz="2400" b="1" kern="100" dirty="0" err="1">
                <a:effectLst/>
                <a:latin typeface="Arial" panose="020B0604020202020204" pitchFamily="34" charset="0"/>
                <a:ea typeface="Aptos" panose="020B0004020202020204" pitchFamily="34" charset="0"/>
                <a:cs typeface="Arial" panose="020B0604020202020204" pitchFamily="34" charset="0"/>
              </a:rPr>
              <a:t>exists</a:t>
            </a:r>
            <a:r>
              <a:rPr lang="hu-HU" sz="2400" b="1" kern="100" dirty="0">
                <a:effectLst/>
                <a:latin typeface="Arial" panose="020B0604020202020204" pitchFamily="34" charset="0"/>
                <a:ea typeface="Aptos" panose="020B0004020202020204" pitchFamily="34" charset="0"/>
                <a:cs typeface="Arial" panose="020B0604020202020204" pitchFamily="34" charset="0"/>
              </a:rPr>
              <a:t>. The </a:t>
            </a:r>
            <a:r>
              <a:rPr lang="hu-HU" sz="2400" b="1" kern="100" dirty="0" err="1">
                <a:effectLst/>
                <a:latin typeface="Arial" panose="020B0604020202020204" pitchFamily="34" charset="0"/>
                <a:ea typeface="Aptos" panose="020B0004020202020204" pitchFamily="34" charset="0"/>
                <a:cs typeface="Arial" panose="020B0604020202020204" pitchFamily="34" charset="0"/>
              </a:rPr>
              <a:t>current</a:t>
            </a:r>
            <a:r>
              <a:rPr lang="hu-HU" sz="2400" b="1" kern="100" dirty="0">
                <a:effectLst/>
                <a:latin typeface="Arial" panose="020B0604020202020204" pitchFamily="34" charset="0"/>
                <a:ea typeface="Aptos" panose="020B0004020202020204" pitchFamily="34" charset="0"/>
                <a:cs typeface="Arial" panose="020B0604020202020204" pitchFamily="34" charset="0"/>
              </a:rPr>
              <a:t> </a:t>
            </a:r>
            <a:r>
              <a:rPr lang="hu-HU" sz="2400" b="1" kern="100" dirty="0" err="1">
                <a:effectLst/>
                <a:latin typeface="Arial" panose="020B0604020202020204" pitchFamily="34" charset="0"/>
                <a:ea typeface="Aptos" panose="020B0004020202020204" pitchFamily="34" charset="0"/>
                <a:cs typeface="Arial" panose="020B0604020202020204" pitchFamily="34" charset="0"/>
              </a:rPr>
              <a:t>sneaker</a:t>
            </a:r>
            <a:r>
              <a:rPr lang="hu-HU" sz="2400" b="1" kern="100" dirty="0">
                <a:effectLst/>
                <a:latin typeface="Arial" panose="020B0604020202020204" pitchFamily="34" charset="0"/>
                <a:ea typeface="Aptos" panose="020B0004020202020204" pitchFamily="34" charset="0"/>
                <a:cs typeface="Arial" panose="020B0604020202020204" pitchFamily="34" charset="0"/>
              </a:rPr>
              <a:t> market is </a:t>
            </a:r>
            <a:r>
              <a:rPr lang="hu-HU" sz="2400" b="1" kern="100" dirty="0" err="1">
                <a:effectLst/>
                <a:latin typeface="Arial" panose="020B0604020202020204" pitchFamily="34" charset="0"/>
                <a:ea typeface="Aptos" panose="020B0004020202020204" pitchFamily="34" charset="0"/>
                <a:cs typeface="Arial" panose="020B0604020202020204" pitchFamily="34" charset="0"/>
              </a:rPr>
              <a:t>facing</a:t>
            </a:r>
            <a:r>
              <a:rPr lang="hu-HU" sz="2400" b="1" kern="100" dirty="0">
                <a:effectLst/>
                <a:latin typeface="Arial" panose="020B0604020202020204" pitchFamily="34" charset="0"/>
                <a:ea typeface="Aptos" panose="020B0004020202020204" pitchFamily="34" charset="0"/>
                <a:cs typeface="Arial" panose="020B0604020202020204" pitchFamily="34" charset="0"/>
              </a:rPr>
              <a:t> </a:t>
            </a:r>
            <a:r>
              <a:rPr lang="hu-HU" sz="2400" b="1" kern="100" dirty="0" err="1">
                <a:effectLst/>
                <a:latin typeface="Arial" panose="020B0604020202020204" pitchFamily="34" charset="0"/>
                <a:ea typeface="Aptos" panose="020B0004020202020204" pitchFamily="34" charset="0"/>
                <a:cs typeface="Arial" panose="020B0604020202020204" pitchFamily="34" charset="0"/>
              </a:rPr>
              <a:t>some</a:t>
            </a:r>
            <a:r>
              <a:rPr lang="hu-HU" sz="2400" b="1" kern="100" dirty="0">
                <a:effectLst/>
                <a:latin typeface="Arial" panose="020B0604020202020204" pitchFamily="34" charset="0"/>
                <a:ea typeface="Aptos" panose="020B0004020202020204" pitchFamily="34" charset="0"/>
                <a:cs typeface="Arial" panose="020B0604020202020204" pitchFamily="34" charset="0"/>
              </a:rPr>
              <a:t> major </a:t>
            </a:r>
            <a:r>
              <a:rPr lang="hu-HU" sz="2400" b="1" kern="100" dirty="0" err="1">
                <a:effectLst/>
                <a:latin typeface="Arial" panose="020B0604020202020204" pitchFamily="34" charset="0"/>
                <a:ea typeface="Aptos" panose="020B0004020202020204" pitchFamily="34" charset="0"/>
                <a:cs typeface="Arial" panose="020B0604020202020204" pitchFamily="34" charset="0"/>
              </a:rPr>
              <a:t>issues</a:t>
            </a:r>
            <a:r>
              <a:rPr lang="hu-HU" sz="2400" b="1" kern="100" dirty="0">
                <a:effectLst/>
                <a:latin typeface="Arial" panose="020B0604020202020204" pitchFamily="34" charset="0"/>
                <a:ea typeface="Aptos" panose="020B0004020202020204" pitchFamily="34" charset="0"/>
                <a:cs typeface="Arial" panose="020B0604020202020204" pitchFamily="34" charset="0"/>
              </a:rPr>
              <a:t>:</a:t>
            </a:r>
            <a:endParaRPr lang="en-GB" sz="2400" b="1" kern="100" dirty="0">
              <a:effectLst/>
              <a:latin typeface="Arial" panose="020B0604020202020204" pitchFamily="34" charset="0"/>
              <a:ea typeface="Aptos" panose="020B0004020202020204" pitchFamily="34" charset="0"/>
              <a:cs typeface="Arial" panose="020B0604020202020204" pitchFamily="34" charset="0"/>
            </a:endParaRPr>
          </a:p>
          <a:p>
            <a:pPr marL="342900" lvl="0" indent="-342900">
              <a:lnSpc>
                <a:spcPct val="115000"/>
              </a:lnSpc>
              <a:spcAft>
                <a:spcPts val="800"/>
              </a:spcAft>
              <a:buSzPts val="1000"/>
              <a:buFont typeface="Symbol" panose="05050102010706020507" pitchFamily="18" charset="2"/>
              <a:buChar char=""/>
              <a:tabLst>
                <a:tab pos="457200" algn="l"/>
              </a:tabLst>
            </a:pPr>
            <a:endParaRPr lang="en-GB" sz="2400" b="1" kern="100" dirty="0">
              <a:effectLst/>
              <a:latin typeface="Arial" panose="020B0604020202020204" pitchFamily="34" charset="0"/>
              <a:ea typeface="Aptos" panose="020B0004020202020204" pitchFamily="34" charset="0"/>
              <a:cs typeface="Arial" panose="020B0604020202020204" pitchFamily="34" charset="0"/>
            </a:endParaRPr>
          </a:p>
          <a:p>
            <a:pPr marL="342900" lvl="0" indent="-342900">
              <a:lnSpc>
                <a:spcPct val="115000"/>
              </a:lnSpc>
              <a:spcAft>
                <a:spcPts val="800"/>
              </a:spcAft>
              <a:buSzPts val="1000"/>
              <a:buFont typeface="Symbol" panose="05050102010706020507" pitchFamily="18" charset="2"/>
              <a:buChar char=""/>
              <a:tabLst>
                <a:tab pos="457200" algn="l"/>
              </a:tabLst>
            </a:pPr>
            <a:endParaRPr lang="en-GB" sz="2400" b="1" kern="100" dirty="0">
              <a:effectLst/>
              <a:latin typeface="Arial" panose="020B0604020202020204" pitchFamily="34" charset="0"/>
              <a:ea typeface="Aptos" panose="020B0004020202020204" pitchFamily="34" charset="0"/>
              <a:cs typeface="Arial" panose="020B0604020202020204" pitchFamily="34"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hu-HU" sz="2400" b="1" kern="100" dirty="0" err="1">
                <a:effectLst/>
                <a:latin typeface="Arial" panose="020B0604020202020204" pitchFamily="34" charset="0"/>
                <a:ea typeface="Aptos" panose="020B0004020202020204" pitchFamily="34" charset="0"/>
                <a:cs typeface="Arial" panose="020B0604020202020204" pitchFamily="34" charset="0"/>
              </a:rPr>
              <a:t>These</a:t>
            </a:r>
            <a:r>
              <a:rPr lang="hu-HU" sz="2400" b="1" kern="100" dirty="0">
                <a:effectLst/>
                <a:latin typeface="Arial" panose="020B0604020202020204" pitchFamily="34" charset="0"/>
                <a:ea typeface="Aptos" panose="020B0004020202020204" pitchFamily="34" charset="0"/>
                <a:cs typeface="Arial" panose="020B0604020202020204" pitchFamily="34" charset="0"/>
              </a:rPr>
              <a:t> </a:t>
            </a:r>
            <a:r>
              <a:rPr lang="hu-HU" sz="2400" b="1" kern="100" dirty="0" err="1">
                <a:effectLst/>
                <a:latin typeface="Arial" panose="020B0604020202020204" pitchFamily="34" charset="0"/>
                <a:ea typeface="Aptos" panose="020B0004020202020204" pitchFamily="34" charset="0"/>
                <a:cs typeface="Arial" panose="020B0604020202020204" pitchFamily="34" charset="0"/>
              </a:rPr>
              <a:t>pain</a:t>
            </a:r>
            <a:r>
              <a:rPr lang="hu-HU" sz="2400" b="1" kern="100" dirty="0">
                <a:effectLst/>
                <a:latin typeface="Arial" panose="020B0604020202020204" pitchFamily="34" charset="0"/>
                <a:ea typeface="Aptos" panose="020B0004020202020204" pitchFamily="34" charset="0"/>
                <a:cs typeface="Arial" panose="020B0604020202020204" pitchFamily="34" charset="0"/>
              </a:rPr>
              <a:t> </a:t>
            </a:r>
            <a:r>
              <a:rPr lang="hu-HU" sz="2400" b="1" kern="100" dirty="0" err="1">
                <a:effectLst/>
                <a:latin typeface="Arial" panose="020B0604020202020204" pitchFamily="34" charset="0"/>
                <a:ea typeface="Aptos" panose="020B0004020202020204" pitchFamily="34" charset="0"/>
                <a:cs typeface="Arial" panose="020B0604020202020204" pitchFamily="34" charset="0"/>
              </a:rPr>
              <a:t>points</a:t>
            </a:r>
            <a:r>
              <a:rPr lang="hu-HU" sz="2400" b="1" kern="100" dirty="0">
                <a:effectLst/>
                <a:latin typeface="Arial" panose="020B0604020202020204" pitchFamily="34" charset="0"/>
                <a:ea typeface="Aptos" panose="020B0004020202020204" pitchFamily="34" charset="0"/>
                <a:cs typeface="Arial" panose="020B0604020202020204" pitchFamily="34" charset="0"/>
              </a:rPr>
              <a:t> </a:t>
            </a:r>
            <a:r>
              <a:rPr lang="hu-HU" sz="2400" b="1" kern="100" dirty="0" err="1">
                <a:effectLst/>
                <a:latin typeface="Arial" panose="020B0604020202020204" pitchFamily="34" charset="0"/>
                <a:ea typeface="Aptos" panose="020B0004020202020204" pitchFamily="34" charset="0"/>
                <a:cs typeface="Arial" panose="020B0604020202020204" pitchFamily="34" charset="0"/>
              </a:rPr>
              <a:t>led</a:t>
            </a:r>
            <a:r>
              <a:rPr lang="hu-HU" sz="2400" b="1" kern="100" dirty="0">
                <a:effectLst/>
                <a:latin typeface="Arial" panose="020B0604020202020204" pitchFamily="34" charset="0"/>
                <a:ea typeface="Aptos" panose="020B0004020202020204" pitchFamily="34" charset="0"/>
                <a:cs typeface="Arial" panose="020B0604020202020204" pitchFamily="34" charset="0"/>
              </a:rPr>
              <a:t> </a:t>
            </a:r>
            <a:r>
              <a:rPr lang="hu-HU" sz="2400" b="1" kern="100" dirty="0" err="1">
                <a:effectLst/>
                <a:latin typeface="Arial" panose="020B0604020202020204" pitchFamily="34" charset="0"/>
                <a:ea typeface="Aptos" panose="020B0004020202020204" pitchFamily="34" charset="0"/>
                <a:cs typeface="Arial" panose="020B0604020202020204" pitchFamily="34" charset="0"/>
              </a:rPr>
              <a:t>us</a:t>
            </a:r>
            <a:r>
              <a:rPr lang="hu-HU" sz="2400" b="1" kern="100" dirty="0">
                <a:effectLst/>
                <a:latin typeface="Arial" panose="020B0604020202020204" pitchFamily="34" charset="0"/>
                <a:ea typeface="Aptos" panose="020B0004020202020204" pitchFamily="34" charset="0"/>
                <a:cs typeface="Arial" panose="020B0604020202020204" pitchFamily="34" charset="0"/>
              </a:rPr>
              <a:t> </a:t>
            </a:r>
            <a:r>
              <a:rPr lang="hu-HU" sz="2400" b="1" kern="100" dirty="0" err="1">
                <a:effectLst/>
                <a:latin typeface="Arial" panose="020B0604020202020204" pitchFamily="34" charset="0"/>
                <a:ea typeface="Aptos" panose="020B0004020202020204" pitchFamily="34" charset="0"/>
                <a:cs typeface="Arial" panose="020B0604020202020204" pitchFamily="34" charset="0"/>
              </a:rPr>
              <a:t>to</a:t>
            </a:r>
            <a:r>
              <a:rPr lang="hu-HU" sz="2400" b="1" kern="100" dirty="0">
                <a:effectLst/>
                <a:latin typeface="Arial" panose="020B0604020202020204" pitchFamily="34" charset="0"/>
                <a:ea typeface="Aptos" panose="020B0004020202020204" pitchFamily="34" charset="0"/>
                <a:cs typeface="Arial" panose="020B0604020202020204" pitchFamily="34" charset="0"/>
              </a:rPr>
              <a:t> </a:t>
            </a:r>
            <a:r>
              <a:rPr lang="hu-HU" sz="2400" b="1" kern="100" dirty="0" err="1">
                <a:effectLst/>
                <a:latin typeface="Arial" panose="020B0604020202020204" pitchFamily="34" charset="0"/>
                <a:ea typeface="Aptos" panose="020B0004020202020204" pitchFamily="34" charset="0"/>
                <a:cs typeface="Arial" panose="020B0604020202020204" pitchFamily="34" charset="0"/>
              </a:rPr>
              <a:t>develop</a:t>
            </a:r>
            <a:r>
              <a:rPr lang="hu-HU" sz="2400" b="1" kern="100" dirty="0">
                <a:effectLst/>
                <a:latin typeface="Arial" panose="020B0604020202020204" pitchFamily="34" charset="0"/>
                <a:ea typeface="Aptos" panose="020B0004020202020204" pitchFamily="34" charset="0"/>
                <a:cs typeface="Arial" panose="020B0604020202020204" pitchFamily="34" charset="0"/>
              </a:rPr>
              <a:t> </a:t>
            </a:r>
            <a:r>
              <a:rPr lang="hu-HU" sz="2400" b="1" kern="100" dirty="0" err="1">
                <a:effectLst/>
                <a:latin typeface="Arial" panose="020B0604020202020204" pitchFamily="34" charset="0"/>
                <a:ea typeface="Aptos" panose="020B0004020202020204" pitchFamily="34" charset="0"/>
                <a:cs typeface="Arial" panose="020B0604020202020204" pitchFamily="34" charset="0"/>
              </a:rPr>
              <a:t>SneakR</a:t>
            </a:r>
            <a:r>
              <a:rPr lang="hu-HU" sz="2400" b="1" kern="100" dirty="0">
                <a:effectLst/>
                <a:latin typeface="Arial" panose="020B0604020202020204" pitchFamily="34" charset="0"/>
                <a:ea typeface="Aptos" panose="020B0004020202020204" pitchFamily="34" charset="0"/>
                <a:cs typeface="Arial" panose="020B0604020202020204" pitchFamily="34" charset="0"/>
              </a:rPr>
              <a:t> – a </a:t>
            </a:r>
            <a:r>
              <a:rPr lang="hu-HU" sz="2400" b="1" kern="100" dirty="0" err="1">
                <a:effectLst/>
                <a:latin typeface="Arial" panose="020B0604020202020204" pitchFamily="34" charset="0"/>
                <a:ea typeface="Aptos" panose="020B0004020202020204" pitchFamily="34" charset="0"/>
                <a:cs typeface="Arial" panose="020B0604020202020204" pitchFamily="34" charset="0"/>
              </a:rPr>
              <a:t>solution</a:t>
            </a:r>
            <a:r>
              <a:rPr lang="hu-HU" sz="2400" b="1" kern="100" dirty="0">
                <a:effectLst/>
                <a:latin typeface="Arial" panose="020B0604020202020204" pitchFamily="34" charset="0"/>
                <a:ea typeface="Aptos" panose="020B0004020202020204" pitchFamily="34" charset="0"/>
                <a:cs typeface="Arial" panose="020B0604020202020204" pitchFamily="34" charset="0"/>
              </a:rPr>
              <a:t> </a:t>
            </a:r>
            <a:r>
              <a:rPr lang="hu-HU" sz="2400" b="1" kern="100" dirty="0" err="1">
                <a:effectLst/>
                <a:latin typeface="Arial" panose="020B0604020202020204" pitchFamily="34" charset="0"/>
                <a:ea typeface="Aptos" panose="020B0004020202020204" pitchFamily="34" charset="0"/>
                <a:cs typeface="Arial" panose="020B0604020202020204" pitchFamily="34" charset="0"/>
              </a:rPr>
              <a:t>that</a:t>
            </a:r>
            <a:r>
              <a:rPr lang="hu-HU" sz="2400" b="1" kern="100" dirty="0">
                <a:effectLst/>
                <a:latin typeface="Arial" panose="020B0604020202020204" pitchFamily="34" charset="0"/>
                <a:ea typeface="Aptos" panose="020B0004020202020204" pitchFamily="34" charset="0"/>
                <a:cs typeface="Arial" panose="020B0604020202020204" pitchFamily="34" charset="0"/>
              </a:rPr>
              <a:t> </a:t>
            </a:r>
            <a:r>
              <a:rPr lang="hu-HU" sz="2400" b="1" kern="100" dirty="0" err="1">
                <a:effectLst/>
                <a:latin typeface="Arial" panose="020B0604020202020204" pitchFamily="34" charset="0"/>
                <a:ea typeface="Aptos" panose="020B0004020202020204" pitchFamily="34" charset="0"/>
                <a:cs typeface="Arial" panose="020B0604020202020204" pitchFamily="34" charset="0"/>
              </a:rPr>
              <a:t>offers</a:t>
            </a:r>
            <a:r>
              <a:rPr lang="hu-HU" sz="2400" b="1" kern="100" dirty="0">
                <a:effectLst/>
                <a:latin typeface="Arial" panose="020B0604020202020204" pitchFamily="34" charset="0"/>
                <a:ea typeface="Aptos" panose="020B0004020202020204" pitchFamily="34" charset="0"/>
                <a:cs typeface="Arial" panose="020B0604020202020204" pitchFamily="34" charset="0"/>
              </a:rPr>
              <a:t> a </a:t>
            </a:r>
            <a:r>
              <a:rPr lang="hu-HU" sz="2400" b="1" kern="100" dirty="0" err="1">
                <a:effectLst/>
                <a:latin typeface="Arial" panose="020B0604020202020204" pitchFamily="34" charset="0"/>
                <a:ea typeface="Aptos" panose="020B0004020202020204" pitchFamily="34" charset="0"/>
                <a:cs typeface="Arial" panose="020B0604020202020204" pitchFamily="34" charset="0"/>
              </a:rPr>
              <a:t>better</a:t>
            </a:r>
            <a:r>
              <a:rPr lang="hu-HU" sz="2400" b="1" kern="100" dirty="0">
                <a:effectLst/>
                <a:latin typeface="Arial" panose="020B0604020202020204" pitchFamily="34" charset="0"/>
                <a:ea typeface="Aptos" panose="020B0004020202020204" pitchFamily="34" charset="0"/>
                <a:cs typeface="Arial" panose="020B0604020202020204" pitchFamily="34" charset="0"/>
              </a:rPr>
              <a:t>, more </a:t>
            </a:r>
            <a:r>
              <a:rPr lang="hu-HU" sz="2400" b="1" kern="100" dirty="0" err="1">
                <a:effectLst/>
                <a:latin typeface="Arial" panose="020B0604020202020204" pitchFamily="34" charset="0"/>
                <a:ea typeface="Aptos" panose="020B0004020202020204" pitchFamily="34" charset="0"/>
                <a:cs typeface="Arial" panose="020B0604020202020204" pitchFamily="34" charset="0"/>
              </a:rPr>
              <a:t>efficient</a:t>
            </a:r>
            <a:r>
              <a:rPr lang="hu-HU" sz="2400" b="1" kern="100" dirty="0">
                <a:effectLst/>
                <a:latin typeface="Arial" panose="020B0604020202020204" pitchFamily="34" charset="0"/>
                <a:ea typeface="Aptos" panose="020B0004020202020204" pitchFamily="34" charset="0"/>
                <a:cs typeface="Arial" panose="020B0604020202020204" pitchFamily="34" charset="0"/>
              </a:rPr>
              <a:t> </a:t>
            </a:r>
            <a:r>
              <a:rPr lang="hu-HU" sz="2400" b="1" kern="100" dirty="0" err="1">
                <a:effectLst/>
                <a:latin typeface="Arial" panose="020B0604020202020204" pitchFamily="34" charset="0"/>
                <a:ea typeface="Aptos" panose="020B0004020202020204" pitchFamily="34" charset="0"/>
                <a:cs typeface="Arial" panose="020B0604020202020204" pitchFamily="34" charset="0"/>
              </a:rPr>
              <a:t>way</a:t>
            </a:r>
            <a:r>
              <a:rPr lang="hu-HU" sz="2400" b="1" kern="100" dirty="0">
                <a:effectLst/>
                <a:latin typeface="Arial" panose="020B0604020202020204" pitchFamily="34" charset="0"/>
                <a:ea typeface="Aptos" panose="020B0004020202020204" pitchFamily="34" charset="0"/>
                <a:cs typeface="Arial" panose="020B0604020202020204" pitchFamily="34" charset="0"/>
              </a:rPr>
              <a:t> </a:t>
            </a:r>
            <a:r>
              <a:rPr lang="hu-HU" sz="2400" b="1" kern="100" dirty="0" err="1">
                <a:effectLst/>
                <a:latin typeface="Arial" panose="020B0604020202020204" pitchFamily="34" charset="0"/>
                <a:ea typeface="Aptos" panose="020B0004020202020204" pitchFamily="34" charset="0"/>
                <a:cs typeface="Arial" panose="020B0604020202020204" pitchFamily="34" charset="0"/>
              </a:rPr>
              <a:t>to</a:t>
            </a:r>
            <a:r>
              <a:rPr lang="hu-HU" sz="2400" b="1" kern="100" dirty="0">
                <a:effectLst/>
                <a:latin typeface="Arial" panose="020B0604020202020204" pitchFamily="34" charset="0"/>
                <a:ea typeface="Aptos" panose="020B0004020202020204" pitchFamily="34" charset="0"/>
                <a:cs typeface="Arial" panose="020B0604020202020204" pitchFamily="34" charset="0"/>
              </a:rPr>
              <a:t> </a:t>
            </a:r>
            <a:r>
              <a:rPr lang="hu-HU" sz="2400" b="1" kern="100" dirty="0" err="1">
                <a:effectLst/>
                <a:latin typeface="Arial" panose="020B0604020202020204" pitchFamily="34" charset="0"/>
                <a:ea typeface="Aptos" panose="020B0004020202020204" pitchFamily="34" charset="0"/>
                <a:cs typeface="Arial" panose="020B0604020202020204" pitchFamily="34" charset="0"/>
              </a:rPr>
              <a:t>buy</a:t>
            </a:r>
            <a:r>
              <a:rPr lang="hu-HU" sz="2400" b="1" kern="100" dirty="0">
                <a:effectLst/>
                <a:latin typeface="Arial" panose="020B0604020202020204" pitchFamily="34" charset="0"/>
                <a:ea typeface="Aptos" panose="020B0004020202020204" pitchFamily="34" charset="0"/>
                <a:cs typeface="Arial" panose="020B0604020202020204" pitchFamily="34" charset="0"/>
              </a:rPr>
              <a:t>, </a:t>
            </a:r>
            <a:r>
              <a:rPr lang="hu-HU" sz="2400" b="1" kern="100" dirty="0" err="1">
                <a:effectLst/>
                <a:latin typeface="Arial" panose="020B0604020202020204" pitchFamily="34" charset="0"/>
                <a:ea typeface="Aptos" panose="020B0004020202020204" pitchFamily="34" charset="0"/>
                <a:cs typeface="Arial" panose="020B0604020202020204" pitchFamily="34" charset="0"/>
              </a:rPr>
              <a:t>sell</a:t>
            </a:r>
            <a:r>
              <a:rPr lang="hu-HU" sz="2400" b="1" kern="100" dirty="0">
                <a:effectLst/>
                <a:latin typeface="Arial" panose="020B0604020202020204" pitchFamily="34" charset="0"/>
                <a:ea typeface="Aptos" panose="020B0004020202020204" pitchFamily="34" charset="0"/>
                <a:cs typeface="Arial" panose="020B0604020202020204" pitchFamily="34" charset="0"/>
              </a:rPr>
              <a:t>, and </a:t>
            </a:r>
            <a:r>
              <a:rPr lang="hu-HU" sz="2400" b="1" kern="100" dirty="0" err="1">
                <a:effectLst/>
                <a:latin typeface="Arial" panose="020B0604020202020204" pitchFamily="34" charset="0"/>
                <a:ea typeface="Aptos" panose="020B0004020202020204" pitchFamily="34" charset="0"/>
                <a:cs typeface="Arial" panose="020B0604020202020204" pitchFamily="34" charset="0"/>
              </a:rPr>
              <a:t>discover</a:t>
            </a:r>
            <a:r>
              <a:rPr lang="hu-HU" sz="2400" b="1" kern="100" dirty="0">
                <a:effectLst/>
                <a:latin typeface="Arial" panose="020B0604020202020204" pitchFamily="34" charset="0"/>
                <a:ea typeface="Aptos" panose="020B0004020202020204" pitchFamily="34" charset="0"/>
                <a:cs typeface="Arial" panose="020B0604020202020204" pitchFamily="34" charset="0"/>
              </a:rPr>
              <a:t> </a:t>
            </a:r>
            <a:r>
              <a:rPr lang="hu-HU" sz="2400" b="1" kern="100" dirty="0" err="1">
                <a:effectLst/>
                <a:latin typeface="Arial" panose="020B0604020202020204" pitchFamily="34" charset="0"/>
                <a:ea typeface="Aptos" panose="020B0004020202020204" pitchFamily="34" charset="0"/>
                <a:cs typeface="Arial" panose="020B0604020202020204" pitchFamily="34" charset="0"/>
              </a:rPr>
              <a:t>sneakers</a:t>
            </a:r>
            <a:r>
              <a:rPr lang="hu-HU" sz="2400" b="1" kern="100" dirty="0">
                <a:effectLst/>
                <a:latin typeface="Arial" panose="020B0604020202020204" pitchFamily="34" charset="0"/>
                <a:ea typeface="Aptos" panose="020B0004020202020204" pitchFamily="34" charset="0"/>
                <a:cs typeface="Arial" panose="020B0604020202020204" pitchFamily="34" charset="0"/>
              </a:rPr>
              <a:t>. </a:t>
            </a:r>
            <a:r>
              <a:rPr lang="hu-HU" sz="2400" b="1" kern="100" dirty="0" err="1">
                <a:effectLst/>
                <a:latin typeface="Arial" panose="020B0604020202020204" pitchFamily="34" charset="0"/>
                <a:ea typeface="Aptos" panose="020B0004020202020204" pitchFamily="34" charset="0"/>
                <a:cs typeface="Arial" panose="020B0604020202020204" pitchFamily="34" charset="0"/>
              </a:rPr>
              <a:t>Let’s</a:t>
            </a:r>
            <a:r>
              <a:rPr lang="hu-HU" sz="2400" b="1" kern="100" dirty="0">
                <a:effectLst/>
                <a:latin typeface="Arial" panose="020B0604020202020204" pitchFamily="34" charset="0"/>
                <a:ea typeface="Aptos" panose="020B0004020202020204" pitchFamily="34" charset="0"/>
                <a:cs typeface="Arial" panose="020B0604020202020204" pitchFamily="34" charset="0"/>
              </a:rPr>
              <a:t> </a:t>
            </a:r>
            <a:r>
              <a:rPr lang="hu-HU" sz="2400" b="1" kern="100" dirty="0" err="1">
                <a:effectLst/>
                <a:latin typeface="Arial" panose="020B0604020202020204" pitchFamily="34" charset="0"/>
                <a:ea typeface="Aptos" panose="020B0004020202020204" pitchFamily="34" charset="0"/>
                <a:cs typeface="Arial" panose="020B0604020202020204" pitchFamily="34" charset="0"/>
              </a:rPr>
              <a:t>now</a:t>
            </a:r>
            <a:r>
              <a:rPr lang="hu-HU" sz="2400" b="1" kern="100" dirty="0">
                <a:effectLst/>
                <a:latin typeface="Arial" panose="020B0604020202020204" pitchFamily="34" charset="0"/>
                <a:ea typeface="Aptos" panose="020B0004020202020204" pitchFamily="34" charset="0"/>
                <a:cs typeface="Arial" panose="020B0604020202020204" pitchFamily="34" charset="0"/>
              </a:rPr>
              <a:t> </a:t>
            </a:r>
            <a:r>
              <a:rPr lang="hu-HU" sz="2400" b="1" kern="100" dirty="0" err="1">
                <a:effectLst/>
                <a:latin typeface="Arial" panose="020B0604020202020204" pitchFamily="34" charset="0"/>
                <a:ea typeface="Aptos" panose="020B0004020202020204" pitchFamily="34" charset="0"/>
                <a:cs typeface="Arial" panose="020B0604020202020204" pitchFamily="34" charset="0"/>
              </a:rPr>
              <a:t>look</a:t>
            </a:r>
            <a:r>
              <a:rPr lang="hu-HU" sz="2400" b="1" kern="100" dirty="0">
                <a:effectLst/>
                <a:latin typeface="Arial" panose="020B0604020202020204" pitchFamily="34" charset="0"/>
                <a:ea typeface="Aptos" panose="020B0004020202020204" pitchFamily="34" charset="0"/>
                <a:cs typeface="Arial" panose="020B0604020202020204" pitchFamily="34" charset="0"/>
              </a:rPr>
              <a:t> </a:t>
            </a:r>
            <a:r>
              <a:rPr lang="hu-HU" sz="2400" b="1" kern="100" dirty="0" err="1">
                <a:effectLst/>
                <a:latin typeface="Arial" panose="020B0604020202020204" pitchFamily="34" charset="0"/>
                <a:ea typeface="Aptos" panose="020B0004020202020204" pitchFamily="34" charset="0"/>
                <a:cs typeface="Arial" panose="020B0604020202020204" pitchFamily="34" charset="0"/>
              </a:rPr>
              <a:t>at</a:t>
            </a:r>
            <a:r>
              <a:rPr lang="hu-HU" sz="2400" b="1" kern="100" dirty="0">
                <a:effectLst/>
                <a:latin typeface="Arial" panose="020B0604020202020204" pitchFamily="34" charset="0"/>
                <a:ea typeface="Aptos" panose="020B0004020202020204" pitchFamily="34" charset="0"/>
                <a:cs typeface="Arial" panose="020B0604020202020204" pitchFamily="34" charset="0"/>
              </a:rPr>
              <a:t> </a:t>
            </a:r>
            <a:r>
              <a:rPr lang="hu-HU" sz="2400" b="1" kern="100" dirty="0" err="1">
                <a:effectLst/>
                <a:latin typeface="Arial" panose="020B0604020202020204" pitchFamily="34" charset="0"/>
                <a:ea typeface="Aptos" panose="020B0004020202020204" pitchFamily="34" charset="0"/>
                <a:cs typeface="Arial" panose="020B0604020202020204" pitchFamily="34" charset="0"/>
              </a:rPr>
              <a:t>how</a:t>
            </a:r>
            <a:r>
              <a:rPr lang="hu-HU" sz="2400" b="1" kern="100" dirty="0">
                <a:effectLst/>
                <a:latin typeface="Arial" panose="020B0604020202020204" pitchFamily="34" charset="0"/>
                <a:ea typeface="Aptos" panose="020B0004020202020204" pitchFamily="34" charset="0"/>
                <a:cs typeface="Arial" panose="020B0604020202020204" pitchFamily="34" charset="0"/>
              </a:rPr>
              <a:t> </a:t>
            </a:r>
            <a:r>
              <a:rPr lang="hu-HU" sz="2400" b="1" kern="100" dirty="0" err="1">
                <a:effectLst/>
                <a:latin typeface="Arial" panose="020B0604020202020204" pitchFamily="34" charset="0"/>
                <a:ea typeface="Aptos" panose="020B0004020202020204" pitchFamily="34" charset="0"/>
                <a:cs typeface="Arial" panose="020B0604020202020204" pitchFamily="34" charset="0"/>
              </a:rPr>
              <a:t>we</a:t>
            </a:r>
            <a:r>
              <a:rPr lang="hu-HU" sz="2400" b="1" kern="100" dirty="0">
                <a:effectLst/>
                <a:latin typeface="Arial" panose="020B0604020202020204" pitchFamily="34" charset="0"/>
                <a:ea typeface="Aptos" panose="020B0004020202020204" pitchFamily="34" charset="0"/>
                <a:cs typeface="Arial" panose="020B0604020202020204" pitchFamily="34" charset="0"/>
              </a:rPr>
              <a:t> </a:t>
            </a:r>
            <a:r>
              <a:rPr lang="hu-HU" sz="2400" b="1" kern="100" dirty="0" err="1">
                <a:effectLst/>
                <a:latin typeface="Arial" panose="020B0604020202020204" pitchFamily="34" charset="0"/>
                <a:ea typeface="Aptos" panose="020B0004020202020204" pitchFamily="34" charset="0"/>
                <a:cs typeface="Arial" panose="020B0604020202020204" pitchFamily="34" charset="0"/>
              </a:rPr>
              <a:t>are</a:t>
            </a:r>
            <a:r>
              <a:rPr lang="hu-HU" sz="2400" b="1" kern="100" dirty="0">
                <a:effectLst/>
                <a:latin typeface="Arial" panose="020B0604020202020204" pitchFamily="34" charset="0"/>
                <a:ea typeface="Aptos" panose="020B0004020202020204" pitchFamily="34" charset="0"/>
                <a:cs typeface="Arial" panose="020B0604020202020204" pitchFamily="34" charset="0"/>
              </a:rPr>
              <a:t> </a:t>
            </a:r>
            <a:r>
              <a:rPr lang="hu-HU" sz="2400" b="1" kern="100" dirty="0" err="1">
                <a:effectLst/>
                <a:latin typeface="Arial" panose="020B0604020202020204" pitchFamily="34" charset="0"/>
                <a:ea typeface="Aptos" panose="020B0004020202020204" pitchFamily="34" charset="0"/>
                <a:cs typeface="Arial" panose="020B0604020202020204" pitchFamily="34" charset="0"/>
              </a:rPr>
              <a:t>tackling</a:t>
            </a:r>
            <a:r>
              <a:rPr lang="hu-HU" sz="2400" b="1" kern="100" dirty="0">
                <a:effectLst/>
                <a:latin typeface="Arial" panose="020B0604020202020204" pitchFamily="34" charset="0"/>
                <a:ea typeface="Aptos" panose="020B0004020202020204" pitchFamily="34" charset="0"/>
                <a:cs typeface="Arial" panose="020B0604020202020204" pitchFamily="34" charset="0"/>
              </a:rPr>
              <a:t> </a:t>
            </a:r>
            <a:r>
              <a:rPr lang="hu-HU" sz="2400" b="1" kern="100" dirty="0" err="1">
                <a:effectLst/>
                <a:latin typeface="Arial" panose="020B0604020202020204" pitchFamily="34" charset="0"/>
                <a:ea typeface="Aptos" panose="020B0004020202020204" pitchFamily="34" charset="0"/>
                <a:cs typeface="Arial" panose="020B0604020202020204" pitchFamily="34" charset="0"/>
              </a:rPr>
              <a:t>these</a:t>
            </a:r>
            <a:r>
              <a:rPr lang="hu-HU" sz="2400" b="1" kern="100" dirty="0">
                <a:effectLst/>
                <a:latin typeface="Arial" panose="020B0604020202020204" pitchFamily="34" charset="0"/>
                <a:ea typeface="Aptos" panose="020B0004020202020204" pitchFamily="34" charset="0"/>
                <a:cs typeface="Arial" panose="020B0604020202020204" pitchFamily="34" charset="0"/>
              </a:rPr>
              <a:t> </a:t>
            </a:r>
            <a:r>
              <a:rPr lang="hu-HU" sz="2400" b="1" kern="100" dirty="0" err="1">
                <a:effectLst/>
                <a:latin typeface="Arial" panose="020B0604020202020204" pitchFamily="34" charset="0"/>
                <a:ea typeface="Aptos" panose="020B0004020202020204" pitchFamily="34" charset="0"/>
                <a:cs typeface="Arial" panose="020B0604020202020204" pitchFamily="34" charset="0"/>
              </a:rPr>
              <a:t>challenges</a:t>
            </a:r>
            <a:r>
              <a:rPr lang="hu-HU" sz="2400" b="1" kern="100" dirty="0">
                <a:effectLst/>
                <a:latin typeface="Arial" panose="020B0604020202020204" pitchFamily="34" charset="0"/>
                <a:ea typeface="Aptos" panose="020B0004020202020204" pitchFamily="34" charset="0"/>
                <a:cs typeface="Arial" panose="020B0604020202020204" pitchFamily="34" charset="0"/>
              </a:rPr>
              <a:t>.</a:t>
            </a:r>
            <a:endParaRPr lang="en-GB" sz="2400" b="1" kern="100" dirty="0">
              <a:effectLst/>
              <a:latin typeface="Arial" panose="020B0604020202020204" pitchFamily="34" charset="0"/>
              <a:ea typeface="Aptos" panose="020B00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15000"/>
              </a:lnSpc>
              <a:spcAft>
                <a:spcPts val="800"/>
              </a:spcAft>
              <a:buNone/>
            </a:pPr>
            <a:r>
              <a:rPr lang="hu-HU" sz="1800" b="1" kern="100" dirty="0">
                <a:effectLst/>
                <a:latin typeface="Aptos" panose="020B0004020202020204" pitchFamily="34" charset="0"/>
                <a:ea typeface="Aptos" panose="020B0004020202020204" pitchFamily="34" charset="0"/>
                <a:cs typeface="Times New Roman" panose="02020603050405020304" pitchFamily="18" charset="0"/>
              </a:rPr>
              <a:t>(</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Presenter</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Tóth Krisztián)</a:t>
            </a:r>
            <a:endParaRPr lang="en-GB" sz="1800" b="1"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endParaRPr lang="en-GB" sz="1800" b="1"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SneakR</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addresses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these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issues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with</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three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key</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features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a:t>
            </a:r>
            <a:endParaRPr lang="en-GB" sz="1800" b="1" kern="100" dirty="0">
              <a:effectLst/>
              <a:latin typeface="Aptos" panose="020B0004020202020204" pitchFamily="34" charset="0"/>
              <a:ea typeface="Aptos" panose="020B0004020202020204" pitchFamily="34" charset="0"/>
              <a:cs typeface="Times New Roman" panose="02020603050405020304" pitchFamily="18" charset="0"/>
            </a:endParaRPr>
          </a:p>
          <a:p>
            <a:pPr marL="0" lvl="0" indent="0">
              <a:lnSpc>
                <a:spcPct val="115000"/>
              </a:lnSpc>
              <a:spcAft>
                <a:spcPts val="800"/>
              </a:spcAft>
              <a:buSzPts val="1000"/>
              <a:buFont typeface="Symbol" panose="05050102010706020507" pitchFamily="18" charset="2"/>
              <a:buNone/>
              <a:tabLst>
                <a:tab pos="457200" algn="l"/>
              </a:tabLst>
            </a:pPr>
            <a:endParaRPr lang="en-GB" sz="1800" b="1"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Font typeface="+mj-lt"/>
              <a:buAutoNum type="arabicPeriod"/>
              <a:tabLst>
                <a:tab pos="457200" algn="l"/>
              </a:tabLst>
            </a:pP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Comprehensive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Selection</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We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offer</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vast</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selection</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of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popular</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sneaker</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brands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This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ensures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that</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customers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can</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find</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exactly</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what</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they’re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looking</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for</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whether</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it’s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the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latest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release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or</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classic</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design.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SneakR</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provides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range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of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styles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and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sizes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to</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cater</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to</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every</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sneaker</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enthusiast’s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needs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a:t>
            </a:r>
            <a:endParaRPr lang="en-GB" sz="1800" b="1"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Font typeface="+mj-lt"/>
              <a:buAutoNum type="arabicPeriod"/>
              <a:tabLst>
                <a:tab pos="457200" algn="l"/>
              </a:tabLst>
            </a:pPr>
            <a:r>
              <a:rPr lang="hu-HU" sz="1800" b="1" kern="100" dirty="0">
                <a:effectLst/>
                <a:latin typeface="Aptos" panose="020B0004020202020204" pitchFamily="34" charset="0"/>
                <a:ea typeface="Aptos" panose="020B0004020202020204" pitchFamily="34" charset="0"/>
                <a:cs typeface="Times New Roman" panose="02020603050405020304" pitchFamily="18" charset="0"/>
              </a:rPr>
              <a:t>Low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Fees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We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aim</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to</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keep</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costs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low</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While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many</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platforms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charge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hefty</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transaction</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fees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SneakR</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generates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revenue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primarily</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through</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advertisements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allowing</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us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to</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drastically</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reduce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fees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This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creates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win-win</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situation</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for</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buyers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and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sellers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alike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making</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transactions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more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affordable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and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appealing</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a:t>
            </a:r>
            <a:endParaRPr lang="en-GB" sz="1800" b="1"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Font typeface="+mj-lt"/>
              <a:buAutoNum type="arabicPeriod"/>
              <a:tabLst>
                <a:tab pos="457200" algn="l"/>
              </a:tabLst>
            </a:pP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Our</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Platform: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Unlike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other</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platforms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SneakR</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is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the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only</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one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where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you</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can</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buy</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directly</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from</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us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or</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from</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other</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resellers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in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our</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peer-to-peer</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marketplace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This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dual</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approach</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gives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users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flexibility</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and more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options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allowing</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them</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to</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either</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find</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shoes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from</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trusted</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reseller</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or</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directly</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from</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SneakR</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itself</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a:t>
            </a:r>
            <a:endParaRPr lang="en-GB" sz="1800" b="1" kern="100" dirty="0">
              <a:effectLst/>
              <a:latin typeface="Aptos" panose="020B0004020202020204" pitchFamily="34" charset="0"/>
              <a:ea typeface="Aptos" panose="020B0004020202020204" pitchFamily="34" charset="0"/>
              <a:cs typeface="Times New Roman" panose="02020603050405020304" pitchFamily="18" charset="0"/>
            </a:endParaRPr>
          </a:p>
          <a:p>
            <a:pPr marL="0" lvl="0" indent="0">
              <a:lnSpc>
                <a:spcPct val="115000"/>
              </a:lnSpc>
              <a:spcAft>
                <a:spcPts val="800"/>
              </a:spcAft>
              <a:buFont typeface="+mj-lt"/>
              <a:buNone/>
              <a:tabLst>
                <a:tab pos="457200" algn="l"/>
              </a:tabLst>
            </a:pPr>
            <a:endParaRPr lang="en-GB" sz="1800" b="1"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This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is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how</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we’re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solving</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the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problems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we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discussed</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earlier</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But</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what</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does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SneakR</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look</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like in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practice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Let’s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take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look</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at</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our</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Design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Plan</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a:t>
            </a:r>
            <a:endParaRPr lang="en-GB" sz="1800" b="1"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b="1"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57C41C-24B1-E9B5-8336-72670948CA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DE7684-6897-8C20-E863-39BCC49F18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023F32-0265-E577-8F0C-02DD0AAEE0D9}"/>
              </a:ext>
            </a:extLst>
          </p:cNvPr>
          <p:cNvSpPr>
            <a:spLocks noGrp="1"/>
          </p:cNvSpPr>
          <p:nvPr>
            <p:ph type="body" idx="1"/>
          </p:nvPr>
        </p:nvSpPr>
        <p:spPr/>
        <p:txBody>
          <a:bodyPr/>
          <a:lstStyle/>
          <a:p>
            <a:pPr>
              <a:lnSpc>
                <a:spcPct val="115000"/>
              </a:lnSpc>
              <a:spcAft>
                <a:spcPts val="800"/>
              </a:spcAft>
              <a:buNone/>
            </a:pPr>
            <a:r>
              <a:rPr lang="hu-HU" sz="1800" b="1" i="0" kern="100" dirty="0">
                <a:effectLst/>
                <a:latin typeface="Aptos" panose="020B0004020202020204" pitchFamily="34" charset="0"/>
                <a:ea typeface="Aptos" panose="020B0004020202020204" pitchFamily="34" charset="0"/>
                <a:cs typeface="Times New Roman" panose="02020603050405020304" pitchFamily="18" charset="0"/>
              </a:rPr>
              <a:t>(</a:t>
            </a:r>
            <a:r>
              <a:rPr lang="hu-HU" sz="1800" b="1" i="0" kern="100" dirty="0" err="1">
                <a:effectLst/>
                <a:latin typeface="Aptos" panose="020B0004020202020204" pitchFamily="34" charset="0"/>
                <a:ea typeface="Aptos" panose="020B0004020202020204" pitchFamily="34" charset="0"/>
                <a:cs typeface="Times New Roman" panose="02020603050405020304" pitchFamily="18" charset="0"/>
              </a:rPr>
              <a:t>Presenter</a:t>
            </a:r>
            <a:r>
              <a:rPr lang="hu-HU" sz="1800" b="1" i="0" kern="100" dirty="0">
                <a:effectLst/>
                <a:latin typeface="Aptos" panose="020B0004020202020204" pitchFamily="34" charset="0"/>
                <a:ea typeface="Aptos" panose="020B0004020202020204" pitchFamily="34" charset="0"/>
                <a:cs typeface="Times New Roman" panose="02020603050405020304" pitchFamily="18" charset="0"/>
              </a:rPr>
              <a:t>: Kenéz Bence)</a:t>
            </a:r>
            <a:endParaRPr lang="en-GB" sz="1800" b="1" i="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endParaRPr lang="en-GB" sz="1800" b="1" i="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hu-HU" sz="1800" b="1" i="0" kern="100" dirty="0" err="1">
                <a:effectLst/>
                <a:latin typeface="Aptos" panose="020B0004020202020204" pitchFamily="34" charset="0"/>
                <a:ea typeface="Aptos" panose="020B0004020202020204" pitchFamily="34" charset="0"/>
                <a:cs typeface="Times New Roman" panose="02020603050405020304" pitchFamily="18" charset="0"/>
              </a:rPr>
              <a:t>Our</a:t>
            </a:r>
            <a:r>
              <a:rPr lang="hu-HU" sz="1800" b="1" i="0" kern="100" dirty="0">
                <a:effectLst/>
                <a:latin typeface="Aptos" panose="020B0004020202020204" pitchFamily="34" charset="0"/>
                <a:ea typeface="Aptos" panose="020B0004020202020204" pitchFamily="34" charset="0"/>
                <a:cs typeface="Times New Roman" panose="02020603050405020304" pitchFamily="18" charset="0"/>
              </a:rPr>
              <a:t> design </a:t>
            </a:r>
            <a:r>
              <a:rPr lang="hu-HU" sz="1800" b="1" i="0" kern="100" dirty="0" err="1">
                <a:effectLst/>
                <a:latin typeface="Aptos" panose="020B0004020202020204" pitchFamily="34" charset="0"/>
                <a:ea typeface="Aptos" panose="020B0004020202020204" pitchFamily="34" charset="0"/>
                <a:cs typeface="Times New Roman" panose="02020603050405020304" pitchFamily="18" charset="0"/>
              </a:rPr>
              <a:t>focuses</a:t>
            </a:r>
            <a:r>
              <a:rPr lang="hu-HU" sz="1800" b="1" i="0"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i="0" kern="100" dirty="0" err="1">
                <a:effectLst/>
                <a:latin typeface="Aptos" panose="020B0004020202020204" pitchFamily="34" charset="0"/>
                <a:ea typeface="Aptos" panose="020B0004020202020204" pitchFamily="34" charset="0"/>
                <a:cs typeface="Times New Roman" panose="02020603050405020304" pitchFamily="18" charset="0"/>
              </a:rPr>
              <a:t>on</a:t>
            </a:r>
            <a:r>
              <a:rPr lang="hu-HU" sz="1800" b="1" i="0"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i="0" kern="100" dirty="0" err="1">
                <a:effectLst/>
                <a:latin typeface="Aptos" panose="020B0004020202020204" pitchFamily="34" charset="0"/>
                <a:ea typeface="Aptos" panose="020B0004020202020204" pitchFamily="34" charset="0"/>
                <a:cs typeface="Times New Roman" panose="02020603050405020304" pitchFamily="18" charset="0"/>
              </a:rPr>
              <a:t>simplicity</a:t>
            </a:r>
            <a:r>
              <a:rPr lang="hu-HU" sz="1800" b="1" i="0" kern="100" dirty="0">
                <a:effectLst/>
                <a:latin typeface="Aptos" panose="020B0004020202020204" pitchFamily="34" charset="0"/>
                <a:ea typeface="Aptos" panose="020B0004020202020204" pitchFamily="34" charset="0"/>
                <a:cs typeface="Times New Roman" panose="02020603050405020304" pitchFamily="18" charset="0"/>
              </a:rPr>
              <a:t> and </a:t>
            </a:r>
            <a:r>
              <a:rPr lang="hu-HU" sz="1800" b="1" i="0" kern="100" dirty="0" err="1">
                <a:effectLst/>
                <a:latin typeface="Aptos" panose="020B0004020202020204" pitchFamily="34" charset="0"/>
                <a:ea typeface="Aptos" panose="020B0004020202020204" pitchFamily="34" charset="0"/>
                <a:cs typeface="Times New Roman" panose="02020603050405020304" pitchFamily="18" charset="0"/>
              </a:rPr>
              <a:t>usability</a:t>
            </a:r>
            <a:r>
              <a:rPr lang="hu-HU" sz="1800" b="1" i="0" kern="100" dirty="0">
                <a:effectLst/>
                <a:latin typeface="Aptos" panose="020B0004020202020204" pitchFamily="34" charset="0"/>
                <a:ea typeface="Aptos" panose="020B0004020202020204" pitchFamily="34" charset="0"/>
                <a:cs typeface="Times New Roman" panose="02020603050405020304" pitchFamily="18" charset="0"/>
              </a:rPr>
              <a:t>. The </a:t>
            </a:r>
            <a:r>
              <a:rPr lang="hu-HU" sz="1800" b="1" i="0" kern="100" dirty="0" err="1">
                <a:effectLst/>
                <a:latin typeface="Aptos" panose="020B0004020202020204" pitchFamily="34" charset="0"/>
                <a:ea typeface="Aptos" panose="020B0004020202020204" pitchFamily="34" charset="0"/>
                <a:cs typeface="Times New Roman" panose="02020603050405020304" pitchFamily="18" charset="0"/>
              </a:rPr>
              <a:t>wireframes</a:t>
            </a:r>
            <a:r>
              <a:rPr lang="hu-HU" sz="1800" b="1" i="0" kern="100" dirty="0">
                <a:effectLst/>
                <a:latin typeface="Aptos" panose="020B0004020202020204" pitchFamily="34" charset="0"/>
                <a:ea typeface="Aptos" panose="020B0004020202020204" pitchFamily="34" charset="0"/>
                <a:cs typeface="Times New Roman" panose="02020603050405020304" pitchFamily="18" charset="0"/>
              </a:rPr>
              <a:t> and </a:t>
            </a:r>
            <a:r>
              <a:rPr lang="hu-HU" sz="1800" b="1" i="0" kern="100" dirty="0" err="1">
                <a:effectLst/>
                <a:latin typeface="Aptos" panose="020B0004020202020204" pitchFamily="34" charset="0"/>
                <a:ea typeface="Aptos" panose="020B0004020202020204" pitchFamily="34" charset="0"/>
                <a:cs typeface="Times New Roman" panose="02020603050405020304" pitchFamily="18" charset="0"/>
              </a:rPr>
              <a:t>mockups</a:t>
            </a:r>
            <a:r>
              <a:rPr lang="hu-HU" sz="1800" b="1" i="0"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i="0" kern="100" dirty="0" err="1">
                <a:effectLst/>
                <a:latin typeface="Aptos" panose="020B0004020202020204" pitchFamily="34" charset="0"/>
                <a:ea typeface="Aptos" panose="020B0004020202020204" pitchFamily="34" charset="0"/>
                <a:cs typeface="Times New Roman" panose="02020603050405020304" pitchFamily="18" charset="0"/>
              </a:rPr>
              <a:t>you</a:t>
            </a:r>
            <a:r>
              <a:rPr lang="hu-HU" sz="1800" b="1" i="0"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i="0" kern="100" dirty="0" err="1">
                <a:effectLst/>
                <a:latin typeface="Aptos" panose="020B0004020202020204" pitchFamily="34" charset="0"/>
                <a:ea typeface="Aptos" panose="020B0004020202020204" pitchFamily="34" charset="0"/>
                <a:cs typeface="Times New Roman" panose="02020603050405020304" pitchFamily="18" charset="0"/>
              </a:rPr>
              <a:t>see</a:t>
            </a:r>
            <a:r>
              <a:rPr lang="hu-HU" sz="1800" b="1" i="0" kern="100" dirty="0">
                <a:effectLst/>
                <a:latin typeface="Aptos" panose="020B0004020202020204" pitchFamily="34" charset="0"/>
                <a:ea typeface="Aptos" panose="020B0004020202020204" pitchFamily="34" charset="0"/>
                <a:cs typeface="Times New Roman" panose="02020603050405020304" pitchFamily="18" charset="0"/>
              </a:rPr>
              <a:t> here </a:t>
            </a:r>
            <a:r>
              <a:rPr lang="hu-HU" sz="1800" b="1" i="0" kern="100" dirty="0" err="1">
                <a:effectLst/>
                <a:latin typeface="Aptos" panose="020B0004020202020204" pitchFamily="34" charset="0"/>
                <a:ea typeface="Aptos" panose="020B0004020202020204" pitchFamily="34" charset="0"/>
                <a:cs typeface="Times New Roman" panose="02020603050405020304" pitchFamily="18" charset="0"/>
              </a:rPr>
              <a:t>represent</a:t>
            </a:r>
            <a:r>
              <a:rPr lang="hu-HU" sz="1800" b="1" i="0"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i="0" kern="100" dirty="0" err="1">
                <a:effectLst/>
                <a:latin typeface="Aptos" panose="020B0004020202020204" pitchFamily="34" charset="0"/>
                <a:ea typeface="Aptos" panose="020B0004020202020204" pitchFamily="34" charset="0"/>
                <a:cs typeface="Times New Roman" panose="02020603050405020304" pitchFamily="18" charset="0"/>
              </a:rPr>
              <a:t>our</a:t>
            </a:r>
            <a:r>
              <a:rPr lang="hu-HU" sz="1800" b="1" i="0"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i="0" kern="100" dirty="0" err="1">
                <a:effectLst/>
                <a:latin typeface="Aptos" panose="020B0004020202020204" pitchFamily="34" charset="0"/>
                <a:ea typeface="Aptos" panose="020B0004020202020204" pitchFamily="34" charset="0"/>
                <a:cs typeface="Times New Roman" panose="02020603050405020304" pitchFamily="18" charset="0"/>
              </a:rPr>
              <a:t>vision</a:t>
            </a:r>
            <a:r>
              <a:rPr lang="hu-HU" sz="1800" b="1" i="0"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i="0" kern="100" dirty="0" err="1">
                <a:effectLst/>
                <a:latin typeface="Aptos" panose="020B0004020202020204" pitchFamily="34" charset="0"/>
                <a:ea typeface="Aptos" panose="020B0004020202020204" pitchFamily="34" charset="0"/>
                <a:cs typeface="Times New Roman" panose="02020603050405020304" pitchFamily="18" charset="0"/>
              </a:rPr>
              <a:t>for</a:t>
            </a:r>
            <a:r>
              <a:rPr lang="hu-HU" sz="1800" b="1" i="0"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i="0" kern="100" dirty="0" err="1">
                <a:effectLst/>
                <a:latin typeface="Aptos" panose="020B0004020202020204" pitchFamily="34" charset="0"/>
                <a:ea typeface="Aptos" panose="020B0004020202020204" pitchFamily="34" charset="0"/>
                <a:cs typeface="Times New Roman" panose="02020603050405020304" pitchFamily="18" charset="0"/>
              </a:rPr>
              <a:t>the</a:t>
            </a:r>
            <a:r>
              <a:rPr lang="hu-HU" sz="1800" b="1" i="0"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i="0" kern="100" dirty="0" err="1">
                <a:effectLst/>
                <a:latin typeface="Aptos" panose="020B0004020202020204" pitchFamily="34" charset="0"/>
                <a:ea typeface="Aptos" panose="020B0004020202020204" pitchFamily="34" charset="0"/>
                <a:cs typeface="Times New Roman" panose="02020603050405020304" pitchFamily="18" charset="0"/>
              </a:rPr>
              <a:t>user</a:t>
            </a:r>
            <a:r>
              <a:rPr lang="hu-HU" sz="1800" b="1" i="0"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i="0" kern="100" dirty="0" err="1">
                <a:effectLst/>
                <a:latin typeface="Aptos" panose="020B0004020202020204" pitchFamily="34" charset="0"/>
                <a:ea typeface="Aptos" panose="020B0004020202020204" pitchFamily="34" charset="0"/>
                <a:cs typeface="Times New Roman" panose="02020603050405020304" pitchFamily="18" charset="0"/>
              </a:rPr>
              <a:t>interface</a:t>
            </a:r>
            <a:r>
              <a:rPr lang="hu-HU" sz="1800" b="1" i="0" kern="100" dirty="0">
                <a:effectLst/>
                <a:latin typeface="Aptos" panose="020B0004020202020204" pitchFamily="34" charset="0"/>
                <a:ea typeface="Aptos" panose="020B0004020202020204" pitchFamily="34" charset="0"/>
                <a:cs typeface="Times New Roman" panose="02020603050405020304" pitchFamily="18" charset="0"/>
              </a:rPr>
              <a:t>. The </a:t>
            </a:r>
            <a:r>
              <a:rPr lang="hu-HU" sz="1800" b="1" i="0" kern="100" dirty="0" err="1">
                <a:effectLst/>
                <a:latin typeface="Aptos" panose="020B0004020202020204" pitchFamily="34" charset="0"/>
                <a:ea typeface="Aptos" panose="020B0004020202020204" pitchFamily="34" charset="0"/>
                <a:cs typeface="Times New Roman" panose="02020603050405020304" pitchFamily="18" charset="0"/>
              </a:rPr>
              <a:t>aim</a:t>
            </a:r>
            <a:r>
              <a:rPr lang="hu-HU" sz="1800" b="1" i="0" kern="100" dirty="0">
                <a:effectLst/>
                <a:latin typeface="Aptos" panose="020B0004020202020204" pitchFamily="34" charset="0"/>
                <a:ea typeface="Aptos" panose="020B0004020202020204" pitchFamily="34" charset="0"/>
                <a:cs typeface="Times New Roman" panose="02020603050405020304" pitchFamily="18" charset="0"/>
              </a:rPr>
              <a:t> is </a:t>
            </a:r>
            <a:r>
              <a:rPr lang="hu-HU" sz="1800" b="1" i="0" kern="100" dirty="0" err="1">
                <a:effectLst/>
                <a:latin typeface="Aptos" panose="020B0004020202020204" pitchFamily="34" charset="0"/>
                <a:ea typeface="Aptos" panose="020B0004020202020204" pitchFamily="34" charset="0"/>
                <a:cs typeface="Times New Roman" panose="02020603050405020304" pitchFamily="18" charset="0"/>
              </a:rPr>
              <a:t>to</a:t>
            </a:r>
            <a:r>
              <a:rPr lang="hu-HU" sz="1800" b="1" i="0"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i="0" kern="100" dirty="0" err="1">
                <a:effectLst/>
                <a:latin typeface="Aptos" panose="020B0004020202020204" pitchFamily="34" charset="0"/>
                <a:ea typeface="Aptos" panose="020B0004020202020204" pitchFamily="34" charset="0"/>
                <a:cs typeface="Times New Roman" panose="02020603050405020304" pitchFamily="18" charset="0"/>
              </a:rPr>
              <a:t>create</a:t>
            </a:r>
            <a:r>
              <a:rPr lang="hu-HU" sz="1800" b="1" i="0" kern="100" dirty="0">
                <a:effectLst/>
                <a:latin typeface="Aptos" panose="020B0004020202020204" pitchFamily="34" charset="0"/>
                <a:ea typeface="Aptos" panose="020B0004020202020204" pitchFamily="34" charset="0"/>
                <a:cs typeface="Times New Roman" panose="02020603050405020304" pitchFamily="18" charset="0"/>
              </a:rPr>
              <a:t> an </a:t>
            </a:r>
            <a:r>
              <a:rPr lang="hu-HU" sz="1800" b="1" i="0" kern="100" dirty="0" err="1">
                <a:effectLst/>
                <a:latin typeface="Aptos" panose="020B0004020202020204" pitchFamily="34" charset="0"/>
                <a:ea typeface="Aptos" panose="020B0004020202020204" pitchFamily="34" charset="0"/>
                <a:cs typeface="Times New Roman" panose="02020603050405020304" pitchFamily="18" charset="0"/>
              </a:rPr>
              <a:t>intuitive</a:t>
            </a:r>
            <a:r>
              <a:rPr lang="hu-HU" sz="1800" b="1" i="0" kern="100" dirty="0">
                <a:effectLst/>
                <a:latin typeface="Aptos" panose="020B0004020202020204" pitchFamily="34" charset="0"/>
                <a:ea typeface="Aptos" panose="020B0004020202020204" pitchFamily="34" charset="0"/>
                <a:cs typeface="Times New Roman" panose="02020603050405020304" pitchFamily="18" charset="0"/>
              </a:rPr>
              <a:t> platform </a:t>
            </a:r>
            <a:r>
              <a:rPr lang="hu-HU" sz="1800" b="1" i="0" kern="100" dirty="0" err="1">
                <a:effectLst/>
                <a:latin typeface="Aptos" panose="020B0004020202020204" pitchFamily="34" charset="0"/>
                <a:ea typeface="Aptos" panose="020B0004020202020204" pitchFamily="34" charset="0"/>
                <a:cs typeface="Times New Roman" panose="02020603050405020304" pitchFamily="18" charset="0"/>
              </a:rPr>
              <a:t>where</a:t>
            </a:r>
            <a:r>
              <a:rPr lang="hu-HU" sz="1800" b="1" i="0"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i="0" kern="100" dirty="0" err="1">
                <a:effectLst/>
                <a:latin typeface="Aptos" panose="020B0004020202020204" pitchFamily="34" charset="0"/>
                <a:ea typeface="Aptos" panose="020B0004020202020204" pitchFamily="34" charset="0"/>
                <a:cs typeface="Times New Roman" panose="02020603050405020304" pitchFamily="18" charset="0"/>
              </a:rPr>
              <a:t>users</a:t>
            </a:r>
            <a:r>
              <a:rPr lang="hu-HU" sz="1800" b="1" i="0"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i="0" kern="100" dirty="0" err="1">
                <a:effectLst/>
                <a:latin typeface="Aptos" panose="020B0004020202020204" pitchFamily="34" charset="0"/>
                <a:ea typeface="Aptos" panose="020B0004020202020204" pitchFamily="34" charset="0"/>
                <a:cs typeface="Times New Roman" panose="02020603050405020304" pitchFamily="18" charset="0"/>
              </a:rPr>
              <a:t>can</a:t>
            </a:r>
            <a:r>
              <a:rPr lang="hu-HU" sz="1800" b="1" i="0"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i="0" kern="100" dirty="0" err="1">
                <a:effectLst/>
                <a:latin typeface="Aptos" panose="020B0004020202020204" pitchFamily="34" charset="0"/>
                <a:ea typeface="Aptos" panose="020B0004020202020204" pitchFamily="34" charset="0"/>
                <a:cs typeface="Times New Roman" panose="02020603050405020304" pitchFamily="18" charset="0"/>
              </a:rPr>
              <a:t>easily</a:t>
            </a:r>
            <a:r>
              <a:rPr lang="hu-HU" sz="1800" b="1" i="0"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i="0" kern="100" dirty="0" err="1">
                <a:effectLst/>
                <a:latin typeface="Aptos" panose="020B0004020202020204" pitchFamily="34" charset="0"/>
                <a:ea typeface="Aptos" panose="020B0004020202020204" pitchFamily="34" charset="0"/>
                <a:cs typeface="Times New Roman" panose="02020603050405020304" pitchFamily="18" charset="0"/>
              </a:rPr>
              <a:t>navigate</a:t>
            </a:r>
            <a:r>
              <a:rPr lang="hu-HU" sz="1800" b="1" i="0"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i="0" kern="100" dirty="0" err="1">
                <a:effectLst/>
                <a:latin typeface="Aptos" panose="020B0004020202020204" pitchFamily="34" charset="0"/>
                <a:ea typeface="Aptos" panose="020B0004020202020204" pitchFamily="34" charset="0"/>
                <a:cs typeface="Times New Roman" panose="02020603050405020304" pitchFamily="18" charset="0"/>
              </a:rPr>
              <a:t>search</a:t>
            </a:r>
            <a:r>
              <a:rPr lang="hu-HU" sz="1800" b="1" i="0"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i="0" kern="100" dirty="0" err="1">
                <a:effectLst/>
                <a:latin typeface="Aptos" panose="020B0004020202020204" pitchFamily="34" charset="0"/>
                <a:ea typeface="Aptos" panose="020B0004020202020204" pitchFamily="34" charset="0"/>
                <a:cs typeface="Times New Roman" panose="02020603050405020304" pitchFamily="18" charset="0"/>
              </a:rPr>
              <a:t>for</a:t>
            </a:r>
            <a:r>
              <a:rPr lang="hu-HU" sz="1800" b="1" i="0"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i="0" kern="100" dirty="0" err="1">
                <a:effectLst/>
                <a:latin typeface="Aptos" panose="020B0004020202020204" pitchFamily="34" charset="0"/>
                <a:ea typeface="Aptos" panose="020B0004020202020204" pitchFamily="34" charset="0"/>
                <a:cs typeface="Times New Roman" panose="02020603050405020304" pitchFamily="18" charset="0"/>
              </a:rPr>
              <a:t>shoes</a:t>
            </a:r>
            <a:r>
              <a:rPr lang="hu-HU" sz="1800" b="1" i="0"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i="0" kern="100" dirty="0" err="1">
                <a:effectLst/>
                <a:latin typeface="Aptos" panose="020B0004020202020204" pitchFamily="34" charset="0"/>
                <a:ea typeface="Aptos" panose="020B0004020202020204" pitchFamily="34" charset="0"/>
                <a:cs typeface="Times New Roman" panose="02020603050405020304" pitchFamily="18" charset="0"/>
              </a:rPr>
              <a:t>check</a:t>
            </a:r>
            <a:r>
              <a:rPr lang="hu-HU" sz="1800" b="1" i="0" kern="100" dirty="0">
                <a:effectLst/>
                <a:latin typeface="Aptos" panose="020B0004020202020204" pitchFamily="34" charset="0"/>
                <a:ea typeface="Aptos" panose="020B0004020202020204" pitchFamily="34" charset="0"/>
                <a:cs typeface="Times New Roman" panose="02020603050405020304" pitchFamily="18" charset="0"/>
              </a:rPr>
              <a:t> out, and </a:t>
            </a:r>
            <a:r>
              <a:rPr lang="hu-HU" sz="1800" b="1" i="0" kern="100" dirty="0" err="1">
                <a:effectLst/>
                <a:latin typeface="Aptos" panose="020B0004020202020204" pitchFamily="34" charset="0"/>
                <a:ea typeface="Aptos" panose="020B0004020202020204" pitchFamily="34" charset="0"/>
                <a:cs typeface="Times New Roman" panose="02020603050405020304" pitchFamily="18" charset="0"/>
              </a:rPr>
              <a:t>connect</a:t>
            </a:r>
            <a:r>
              <a:rPr lang="hu-HU" sz="1800" b="1" i="0"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i="0" kern="100" dirty="0" err="1">
                <a:effectLst/>
                <a:latin typeface="Aptos" panose="020B0004020202020204" pitchFamily="34" charset="0"/>
                <a:ea typeface="Aptos" panose="020B0004020202020204" pitchFamily="34" charset="0"/>
                <a:cs typeface="Times New Roman" panose="02020603050405020304" pitchFamily="18" charset="0"/>
              </a:rPr>
              <a:t>with</a:t>
            </a:r>
            <a:r>
              <a:rPr lang="hu-HU" sz="1800" b="1" i="0"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i="0" kern="100" dirty="0" err="1">
                <a:effectLst/>
                <a:latin typeface="Aptos" panose="020B0004020202020204" pitchFamily="34" charset="0"/>
                <a:ea typeface="Aptos" panose="020B0004020202020204" pitchFamily="34" charset="0"/>
                <a:cs typeface="Times New Roman" panose="02020603050405020304" pitchFamily="18" charset="0"/>
              </a:rPr>
              <a:t>other</a:t>
            </a:r>
            <a:r>
              <a:rPr lang="hu-HU" sz="1800" b="1" i="0"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i="0" kern="100" dirty="0" err="1">
                <a:effectLst/>
                <a:latin typeface="Aptos" panose="020B0004020202020204" pitchFamily="34" charset="0"/>
                <a:ea typeface="Aptos" panose="020B0004020202020204" pitchFamily="34" charset="0"/>
                <a:cs typeface="Times New Roman" panose="02020603050405020304" pitchFamily="18" charset="0"/>
              </a:rPr>
              <a:t>users</a:t>
            </a:r>
            <a:r>
              <a:rPr lang="hu-HU" sz="1800" b="1" i="0" kern="100" dirty="0">
                <a:effectLst/>
                <a:latin typeface="Aptos" panose="020B0004020202020204" pitchFamily="34" charset="0"/>
                <a:ea typeface="Aptos" panose="020B0004020202020204" pitchFamily="34" charset="0"/>
                <a:cs typeface="Times New Roman" panose="02020603050405020304" pitchFamily="18" charset="0"/>
              </a:rPr>
              <a:t>.</a:t>
            </a:r>
            <a:endParaRPr lang="en-GB" sz="1800" b="1" i="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endParaRPr lang="en-GB" sz="1800" b="1" i="0" kern="100" dirty="0">
              <a:effectLst/>
              <a:latin typeface="Aptos" panose="020B0004020202020204" pitchFamily="34" charset="0"/>
              <a:ea typeface="Aptos" panose="020B0004020202020204" pitchFamily="34" charset="0"/>
              <a:cs typeface="Times New Roman" panose="02020603050405020304" pitchFamily="18" charset="0"/>
            </a:endParaRPr>
          </a:p>
          <a:p>
            <a:pPr marL="0" lvl="0" indent="0">
              <a:lnSpc>
                <a:spcPct val="115000"/>
              </a:lnSpc>
              <a:spcAft>
                <a:spcPts val="800"/>
              </a:spcAft>
              <a:buSzPts val="1000"/>
              <a:buFont typeface="Symbol" panose="05050102010706020507" pitchFamily="18" charset="2"/>
              <a:buNone/>
              <a:tabLst>
                <a:tab pos="457200" algn="l"/>
              </a:tabLst>
            </a:pPr>
            <a:endParaRPr lang="en-GB" sz="1800" b="1" i="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hu-HU" sz="1800" b="1" i="0" kern="100" dirty="0" err="1">
                <a:effectLst/>
                <a:latin typeface="Aptos" panose="020B0004020202020204" pitchFamily="34" charset="0"/>
                <a:ea typeface="Aptos" panose="020B0004020202020204" pitchFamily="34" charset="0"/>
                <a:cs typeface="Times New Roman" panose="02020603050405020304" pitchFamily="18" charset="0"/>
              </a:rPr>
              <a:t>We've</a:t>
            </a:r>
            <a:r>
              <a:rPr lang="hu-HU" sz="1800" b="1" i="0"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i="0" kern="100" dirty="0" err="1">
                <a:effectLst/>
                <a:latin typeface="Aptos" panose="020B0004020202020204" pitchFamily="34" charset="0"/>
                <a:ea typeface="Aptos" panose="020B0004020202020204" pitchFamily="34" charset="0"/>
                <a:cs typeface="Times New Roman" panose="02020603050405020304" pitchFamily="18" charset="0"/>
              </a:rPr>
              <a:t>created</a:t>
            </a:r>
            <a:r>
              <a:rPr lang="hu-HU" sz="1800" b="1" i="0" kern="100" dirty="0">
                <a:effectLst/>
                <a:latin typeface="Aptos" panose="020B0004020202020204" pitchFamily="34" charset="0"/>
                <a:ea typeface="Aptos" panose="020B0004020202020204" pitchFamily="34" charset="0"/>
                <a:cs typeface="Times New Roman" panose="02020603050405020304" pitchFamily="18" charset="0"/>
              </a:rPr>
              <a:t> a </a:t>
            </a:r>
            <a:r>
              <a:rPr lang="hu-HU" sz="1800" b="1" i="0" kern="100" dirty="0" err="1">
                <a:effectLst/>
                <a:latin typeface="Aptos" panose="020B0004020202020204" pitchFamily="34" charset="0"/>
                <a:ea typeface="Aptos" panose="020B0004020202020204" pitchFamily="34" charset="0"/>
                <a:cs typeface="Times New Roman" panose="02020603050405020304" pitchFamily="18" charset="0"/>
              </a:rPr>
              <a:t>clean</a:t>
            </a:r>
            <a:r>
              <a:rPr lang="hu-HU" sz="1800" b="1" i="0" kern="100" dirty="0">
                <a:effectLst/>
                <a:latin typeface="Aptos" panose="020B0004020202020204" pitchFamily="34" charset="0"/>
                <a:ea typeface="Aptos" panose="020B0004020202020204" pitchFamily="34" charset="0"/>
                <a:cs typeface="Times New Roman" panose="02020603050405020304" pitchFamily="18" charset="0"/>
              </a:rPr>
              <a:t>, modern design </a:t>
            </a:r>
            <a:r>
              <a:rPr lang="hu-HU" sz="1800" b="1" i="0" kern="100" dirty="0" err="1">
                <a:effectLst/>
                <a:latin typeface="Aptos" panose="020B0004020202020204" pitchFamily="34" charset="0"/>
                <a:ea typeface="Aptos" panose="020B0004020202020204" pitchFamily="34" charset="0"/>
                <a:cs typeface="Times New Roman" panose="02020603050405020304" pitchFamily="18" charset="0"/>
              </a:rPr>
              <a:t>with</a:t>
            </a:r>
            <a:r>
              <a:rPr lang="hu-HU" sz="1800" b="1" i="0"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i="0" kern="100" dirty="0" err="1">
                <a:effectLst/>
                <a:latin typeface="Aptos" panose="020B0004020202020204" pitchFamily="34" charset="0"/>
                <a:ea typeface="Aptos" panose="020B0004020202020204" pitchFamily="34" charset="0"/>
                <a:cs typeface="Times New Roman" panose="02020603050405020304" pitchFamily="18" charset="0"/>
              </a:rPr>
              <a:t>easy-to-use</a:t>
            </a:r>
            <a:r>
              <a:rPr lang="hu-HU" sz="1800" b="1" i="0"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i="0" kern="100" dirty="0" err="1">
                <a:effectLst/>
                <a:latin typeface="Aptos" panose="020B0004020202020204" pitchFamily="34" charset="0"/>
                <a:ea typeface="Aptos" panose="020B0004020202020204" pitchFamily="34" charset="0"/>
                <a:cs typeface="Times New Roman" panose="02020603050405020304" pitchFamily="18" charset="0"/>
              </a:rPr>
              <a:t>search</a:t>
            </a:r>
            <a:r>
              <a:rPr lang="hu-HU" sz="1800" b="1" i="0"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i="0" kern="100" dirty="0" err="1">
                <a:effectLst/>
                <a:latin typeface="Aptos" panose="020B0004020202020204" pitchFamily="34" charset="0"/>
                <a:ea typeface="Aptos" panose="020B0004020202020204" pitchFamily="34" charset="0"/>
                <a:cs typeface="Times New Roman" panose="02020603050405020304" pitchFamily="18" charset="0"/>
              </a:rPr>
              <a:t>functionality</a:t>
            </a:r>
            <a:r>
              <a:rPr lang="hu-HU" sz="1800" b="1" i="0"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i="0" kern="100" dirty="0" err="1">
                <a:effectLst/>
                <a:latin typeface="Aptos" panose="020B0004020202020204" pitchFamily="34" charset="0"/>
                <a:ea typeface="Aptos" panose="020B0004020202020204" pitchFamily="34" charset="0"/>
                <a:cs typeface="Times New Roman" panose="02020603050405020304" pitchFamily="18" charset="0"/>
              </a:rPr>
              <a:t>clear</a:t>
            </a:r>
            <a:r>
              <a:rPr lang="hu-HU" sz="1800" b="1" i="0"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i="0" kern="100" dirty="0" err="1">
                <a:effectLst/>
                <a:latin typeface="Aptos" panose="020B0004020202020204" pitchFamily="34" charset="0"/>
                <a:ea typeface="Aptos" panose="020B0004020202020204" pitchFamily="34" charset="0"/>
                <a:cs typeface="Times New Roman" panose="02020603050405020304" pitchFamily="18" charset="0"/>
              </a:rPr>
              <a:t>categorization</a:t>
            </a:r>
            <a:r>
              <a:rPr lang="hu-HU" sz="1800" b="1" i="0" kern="100" dirty="0">
                <a:effectLst/>
                <a:latin typeface="Aptos" panose="020B0004020202020204" pitchFamily="34" charset="0"/>
                <a:ea typeface="Aptos" panose="020B0004020202020204" pitchFamily="34" charset="0"/>
                <a:cs typeface="Times New Roman" panose="02020603050405020304" pitchFamily="18" charset="0"/>
              </a:rPr>
              <a:t>, and </a:t>
            </a:r>
            <a:r>
              <a:rPr lang="hu-HU" sz="1800" b="1" i="0" kern="100" dirty="0" err="1">
                <a:effectLst/>
                <a:latin typeface="Aptos" panose="020B0004020202020204" pitchFamily="34" charset="0"/>
                <a:ea typeface="Aptos" panose="020B0004020202020204" pitchFamily="34" charset="0"/>
                <a:cs typeface="Times New Roman" panose="02020603050405020304" pitchFamily="18" charset="0"/>
              </a:rPr>
              <a:t>user-friendly</a:t>
            </a:r>
            <a:r>
              <a:rPr lang="hu-HU" sz="1800" b="1" i="0" kern="100" dirty="0">
                <a:effectLst/>
                <a:latin typeface="Aptos" panose="020B0004020202020204" pitchFamily="34" charset="0"/>
                <a:ea typeface="Aptos" panose="020B0004020202020204" pitchFamily="34" charset="0"/>
                <a:cs typeface="Times New Roman" panose="02020603050405020304" pitchFamily="18" charset="0"/>
              </a:rPr>
              <a:t> shopping </a:t>
            </a:r>
            <a:r>
              <a:rPr lang="hu-HU" sz="1800" b="1" i="0" kern="100" dirty="0" err="1">
                <a:effectLst/>
                <a:latin typeface="Aptos" panose="020B0004020202020204" pitchFamily="34" charset="0"/>
                <a:ea typeface="Aptos" panose="020B0004020202020204" pitchFamily="34" charset="0"/>
                <a:cs typeface="Times New Roman" panose="02020603050405020304" pitchFamily="18" charset="0"/>
              </a:rPr>
              <a:t>experience</a:t>
            </a:r>
            <a:r>
              <a:rPr lang="hu-HU" sz="1800" b="1" i="0"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i="0" kern="100" dirty="0" err="1">
                <a:effectLst/>
                <a:latin typeface="Aptos" panose="020B0004020202020204" pitchFamily="34" charset="0"/>
                <a:ea typeface="Aptos" panose="020B0004020202020204" pitchFamily="34" charset="0"/>
                <a:cs typeface="Times New Roman" panose="02020603050405020304" pitchFamily="18" charset="0"/>
              </a:rPr>
              <a:t>whether</a:t>
            </a:r>
            <a:r>
              <a:rPr lang="hu-HU" sz="1800" b="1" i="0"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i="0" kern="100" dirty="0" err="1">
                <a:effectLst/>
                <a:latin typeface="Aptos" panose="020B0004020202020204" pitchFamily="34" charset="0"/>
                <a:ea typeface="Aptos" panose="020B0004020202020204" pitchFamily="34" charset="0"/>
                <a:cs typeface="Times New Roman" panose="02020603050405020304" pitchFamily="18" charset="0"/>
              </a:rPr>
              <a:t>users</a:t>
            </a:r>
            <a:r>
              <a:rPr lang="hu-HU" sz="1800" b="1" i="0"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i="0" kern="100" dirty="0" err="1">
                <a:effectLst/>
                <a:latin typeface="Aptos" panose="020B0004020202020204" pitchFamily="34" charset="0"/>
                <a:ea typeface="Aptos" panose="020B0004020202020204" pitchFamily="34" charset="0"/>
                <a:cs typeface="Times New Roman" panose="02020603050405020304" pitchFamily="18" charset="0"/>
              </a:rPr>
              <a:t>are</a:t>
            </a:r>
            <a:r>
              <a:rPr lang="hu-HU" sz="1800" b="1" i="0"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i="0" kern="100" dirty="0" err="1">
                <a:effectLst/>
                <a:latin typeface="Aptos" panose="020B0004020202020204" pitchFamily="34" charset="0"/>
                <a:ea typeface="Aptos" panose="020B0004020202020204" pitchFamily="34" charset="0"/>
                <a:cs typeface="Times New Roman" panose="02020603050405020304" pitchFamily="18" charset="0"/>
              </a:rPr>
              <a:t>browsing</a:t>
            </a:r>
            <a:r>
              <a:rPr lang="hu-HU" sz="1800" b="1" i="0"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i="0" kern="100" dirty="0" err="1">
                <a:effectLst/>
                <a:latin typeface="Aptos" panose="020B0004020202020204" pitchFamily="34" charset="0"/>
                <a:ea typeface="Aptos" panose="020B0004020202020204" pitchFamily="34" charset="0"/>
                <a:cs typeface="Times New Roman" panose="02020603050405020304" pitchFamily="18" charset="0"/>
              </a:rPr>
              <a:t>products</a:t>
            </a:r>
            <a:r>
              <a:rPr lang="hu-HU" sz="1800" b="1" i="0"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i="0" kern="100" dirty="0" err="1">
                <a:effectLst/>
                <a:latin typeface="Aptos" panose="020B0004020202020204" pitchFamily="34" charset="0"/>
                <a:ea typeface="Aptos" panose="020B0004020202020204" pitchFamily="34" charset="0"/>
                <a:cs typeface="Times New Roman" panose="02020603050405020304" pitchFamily="18" charset="0"/>
              </a:rPr>
              <a:t>or</a:t>
            </a:r>
            <a:r>
              <a:rPr lang="hu-HU" sz="1800" b="1" i="0"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i="0" kern="100" dirty="0" err="1">
                <a:effectLst/>
                <a:latin typeface="Aptos" panose="020B0004020202020204" pitchFamily="34" charset="0"/>
                <a:ea typeface="Aptos" panose="020B0004020202020204" pitchFamily="34" charset="0"/>
                <a:cs typeface="Times New Roman" panose="02020603050405020304" pitchFamily="18" charset="0"/>
              </a:rPr>
              <a:t>reselling</a:t>
            </a:r>
            <a:r>
              <a:rPr lang="hu-HU" sz="1800" b="1" i="0"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i="0" kern="100" dirty="0" err="1">
                <a:effectLst/>
                <a:latin typeface="Aptos" panose="020B0004020202020204" pitchFamily="34" charset="0"/>
                <a:ea typeface="Aptos" panose="020B0004020202020204" pitchFamily="34" charset="0"/>
                <a:cs typeface="Times New Roman" panose="02020603050405020304" pitchFamily="18" charset="0"/>
              </a:rPr>
              <a:t>sneakers</a:t>
            </a:r>
            <a:r>
              <a:rPr lang="hu-HU" sz="1800" b="1" i="0" kern="100" dirty="0">
                <a:effectLst/>
                <a:latin typeface="Aptos" panose="020B0004020202020204" pitchFamily="34" charset="0"/>
                <a:ea typeface="Aptos" panose="020B0004020202020204" pitchFamily="34" charset="0"/>
                <a:cs typeface="Times New Roman" panose="02020603050405020304" pitchFamily="18" charset="0"/>
              </a:rPr>
              <a:t>.</a:t>
            </a:r>
            <a:endParaRPr lang="en-GB" sz="1800" b="1" i="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b="1" i="0" dirty="0"/>
          </a:p>
        </p:txBody>
      </p:sp>
      <p:sp>
        <p:nvSpPr>
          <p:cNvPr id="4" name="Slide Number Placeholder 3">
            <a:extLst>
              <a:ext uri="{FF2B5EF4-FFF2-40B4-BE49-F238E27FC236}">
                <a16:creationId xmlns:a16="http://schemas.microsoft.com/office/drawing/2014/main" id="{FD23FFF9-ABEB-EE22-B6C1-4408D1D603D9}"/>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7960202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57C41C-24B1-E9B5-8336-72670948CA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DE7684-6897-8C20-E863-39BCC49F18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023F32-0265-E577-8F0C-02DD0AAEE0D9}"/>
              </a:ext>
            </a:extLst>
          </p:cNvPr>
          <p:cNvSpPr>
            <a:spLocks noGrp="1"/>
          </p:cNvSpPr>
          <p:nvPr>
            <p:ph type="body" idx="1"/>
          </p:nvPr>
        </p:nvSpPr>
        <p:spPr/>
        <p:txBody>
          <a:bodyPr/>
          <a:lstStyle/>
          <a:p>
            <a:pPr>
              <a:lnSpc>
                <a:spcPct val="115000"/>
              </a:lnSpc>
              <a:spcAft>
                <a:spcPts val="800"/>
              </a:spcAft>
              <a:buNone/>
            </a:pPr>
            <a:r>
              <a:rPr lang="hu-HU" sz="1800" b="1" kern="100" dirty="0">
                <a:effectLst/>
                <a:latin typeface="Aptos" panose="020B0004020202020204" pitchFamily="34" charset="0"/>
                <a:ea typeface="Aptos" panose="020B0004020202020204" pitchFamily="34" charset="0"/>
                <a:cs typeface="Times New Roman" panose="02020603050405020304" pitchFamily="18" charset="0"/>
              </a:rPr>
              <a:t>(</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Presenter</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Kreszl Tamás)</a:t>
            </a:r>
            <a:endParaRPr lang="en-GB" sz="1800" b="1"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Behind</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the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scenes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we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have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robust</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database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designed</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to</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handle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complex</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data</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related</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to</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products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users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orders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and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payments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a:t>
            </a:r>
            <a:endParaRPr lang="en-GB" sz="1800" b="1" kern="100" dirty="0">
              <a:effectLst/>
              <a:latin typeface="Aptos" panose="020B0004020202020204" pitchFamily="34" charset="0"/>
              <a:ea typeface="Aptos" panose="020B0004020202020204" pitchFamily="34" charset="0"/>
              <a:cs typeface="Times New Roman" panose="02020603050405020304" pitchFamily="18" charset="0"/>
            </a:endParaRPr>
          </a:p>
          <a:p>
            <a:pPr marL="0" lvl="0" indent="0">
              <a:lnSpc>
                <a:spcPct val="115000"/>
              </a:lnSpc>
              <a:spcAft>
                <a:spcPts val="800"/>
              </a:spcAft>
              <a:buSzPts val="1000"/>
              <a:buFont typeface="Symbol" panose="05050102010706020507" pitchFamily="18" charset="2"/>
              <a:buNone/>
              <a:tabLst>
                <a:tab pos="457200" algn="l"/>
              </a:tabLst>
            </a:pPr>
            <a:endParaRPr lang="en-GB" sz="1800" b="1"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hu-HU" sz="1800" b="1" kern="100" dirty="0">
                <a:effectLst/>
                <a:latin typeface="Aptos" panose="020B0004020202020204" pitchFamily="34" charset="0"/>
                <a:ea typeface="Aptos" panose="020B0004020202020204" pitchFamily="34" charset="0"/>
                <a:cs typeface="Times New Roman" panose="02020603050405020304" pitchFamily="18" charset="0"/>
              </a:rPr>
              <a:t>The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system</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ensures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that</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product</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information</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user</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data</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transaction</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details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and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order</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status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are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stored</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efficiently</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and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securely</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endParaRPr lang="en-GB" sz="1800" b="1" kern="100" dirty="0">
              <a:effectLst/>
              <a:latin typeface="Aptos" panose="020B0004020202020204" pitchFamily="34" charset="0"/>
              <a:ea typeface="Aptos" panose="020B0004020202020204" pitchFamily="34" charset="0"/>
              <a:cs typeface="Times New Roman" panose="02020603050405020304" pitchFamily="18" charset="0"/>
            </a:endParaRPr>
          </a:p>
          <a:p>
            <a:pPr marL="0" lvl="0" indent="0">
              <a:lnSpc>
                <a:spcPct val="115000"/>
              </a:lnSpc>
              <a:spcAft>
                <a:spcPts val="800"/>
              </a:spcAft>
              <a:buSzPts val="1000"/>
              <a:buFont typeface="Symbol" panose="05050102010706020507" pitchFamily="18" charset="2"/>
              <a:buNone/>
              <a:tabLst>
                <a:tab pos="457200" algn="l"/>
              </a:tabLst>
            </a:pPr>
            <a:endParaRPr lang="en-GB" sz="1800" b="1"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This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database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is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scalable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and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flexible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ensuring</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that</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it</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can</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grow</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as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our</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platform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grows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It’s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an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essential</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part of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the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platform’s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foundation</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ensuring</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smooth</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operations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for</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every</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user</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a:t>
            </a:r>
            <a:endParaRPr lang="en-GB" sz="1800" b="1"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b="1" dirty="0"/>
          </a:p>
        </p:txBody>
      </p:sp>
      <p:sp>
        <p:nvSpPr>
          <p:cNvPr id="4" name="Slide Number Placeholder 3">
            <a:extLst>
              <a:ext uri="{FF2B5EF4-FFF2-40B4-BE49-F238E27FC236}">
                <a16:creationId xmlns:a16="http://schemas.microsoft.com/office/drawing/2014/main" id="{FD23FFF9-ABEB-EE22-B6C1-4408D1D603D9}"/>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3965390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15000"/>
              </a:lnSpc>
              <a:spcAft>
                <a:spcPts val="800"/>
              </a:spcAft>
              <a:buNone/>
            </a:pPr>
            <a:r>
              <a:rPr lang="hu-HU" sz="1800" b="1" kern="100" dirty="0">
                <a:effectLst/>
                <a:latin typeface="Aptos" panose="020B0004020202020204" pitchFamily="34" charset="0"/>
                <a:ea typeface="Aptos" panose="020B0004020202020204" pitchFamily="34" charset="0"/>
                <a:cs typeface="Times New Roman" panose="02020603050405020304" pitchFamily="18" charset="0"/>
              </a:rPr>
              <a:t>(</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Presenter</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Tóth Krisztián)</a:t>
            </a:r>
            <a:endParaRPr lang="en-GB" sz="1800" b="1"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endParaRPr lang="en-GB" sz="1800" b="1"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We’ve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carefully</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selected</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the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technology</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stack</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to</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ensure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that</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SneakR</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is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fast</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reliable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and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scalable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Here’s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how</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we’ve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built</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it</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a:t>
            </a:r>
            <a:endParaRPr lang="en-GB" sz="1800" b="1" kern="100" dirty="0">
              <a:effectLst/>
              <a:latin typeface="Aptos" panose="020B0004020202020204" pitchFamily="34" charset="0"/>
              <a:ea typeface="Aptos" panose="020B0004020202020204" pitchFamily="34" charset="0"/>
              <a:cs typeface="Times New Roman" panose="02020603050405020304" pitchFamily="18" charset="0"/>
            </a:endParaRPr>
          </a:p>
          <a:p>
            <a:pPr marL="0" lvl="0" indent="0">
              <a:lnSpc>
                <a:spcPct val="115000"/>
              </a:lnSpc>
              <a:spcAft>
                <a:spcPts val="800"/>
              </a:spcAft>
              <a:buSzPts val="1000"/>
              <a:buFont typeface="Symbol" panose="05050102010706020507" pitchFamily="18" charset="2"/>
              <a:buNone/>
              <a:tabLst>
                <a:tab pos="457200" algn="l"/>
              </a:tabLst>
            </a:pPr>
            <a:endParaRPr lang="en-GB" sz="1800" b="1" kern="100" dirty="0">
              <a:effectLst/>
              <a:latin typeface="Aptos" panose="020B0004020202020204" pitchFamily="34" charset="0"/>
              <a:ea typeface="Aptos" panose="020B0004020202020204" pitchFamily="34" charset="0"/>
              <a:cs typeface="Times New Roman" panose="02020603050405020304" pitchFamily="18" charset="0"/>
            </a:endParaRPr>
          </a:p>
          <a:p>
            <a:pPr marL="285750" lvl="0" indent="-285750">
              <a:lnSpc>
                <a:spcPct val="115000"/>
              </a:lnSpc>
              <a:spcAft>
                <a:spcPts val="800"/>
              </a:spcAft>
              <a:buFont typeface="Arial" panose="020B0604020202020204" pitchFamily="34" charset="0"/>
              <a:buChar char="•"/>
              <a:tabLst>
                <a:tab pos="457200" algn="l"/>
              </a:tabLst>
            </a:pPr>
            <a:r>
              <a:rPr lang="hu-HU" sz="1800" b="1" kern="100" dirty="0">
                <a:effectLst/>
                <a:latin typeface="Aptos" panose="020B0004020202020204" pitchFamily="34" charset="0"/>
                <a:ea typeface="Aptos" panose="020B0004020202020204" pitchFamily="34" charset="0"/>
                <a:cs typeface="Times New Roman" panose="02020603050405020304" pitchFamily="18" charset="0"/>
              </a:rPr>
              <a:t>Frontend: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We’re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using</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Angular</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and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TypeScript</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for</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the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frontend.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Angular</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is a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powerful</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framework</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that</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allows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us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to</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build</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dynamic</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responsive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and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fast</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web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applications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while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TypeScript</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adds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type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safety</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and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clarity</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to</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our</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code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a:t>
            </a:r>
            <a:endParaRPr lang="en-GB" sz="1800" b="1" kern="100" dirty="0">
              <a:effectLst/>
              <a:latin typeface="Aptos" panose="020B0004020202020204" pitchFamily="34" charset="0"/>
              <a:ea typeface="Aptos" panose="020B0004020202020204" pitchFamily="34" charset="0"/>
              <a:cs typeface="Times New Roman" panose="02020603050405020304" pitchFamily="18" charset="0"/>
            </a:endParaRPr>
          </a:p>
          <a:p>
            <a:pPr marL="0" lvl="0" indent="0">
              <a:lnSpc>
                <a:spcPct val="115000"/>
              </a:lnSpc>
              <a:spcAft>
                <a:spcPts val="800"/>
              </a:spcAft>
              <a:buFont typeface="+mj-lt"/>
              <a:buNone/>
              <a:tabLst>
                <a:tab pos="457200" algn="l"/>
              </a:tabLst>
            </a:pPr>
            <a:endParaRPr lang="en-GB" sz="1800" b="1" kern="100" dirty="0">
              <a:effectLst/>
              <a:latin typeface="Aptos" panose="020B0004020202020204" pitchFamily="34" charset="0"/>
              <a:ea typeface="Aptos" panose="020B0004020202020204" pitchFamily="34" charset="0"/>
              <a:cs typeface="Times New Roman" panose="02020603050405020304" pitchFamily="18" charset="0"/>
            </a:endParaRPr>
          </a:p>
          <a:p>
            <a:pPr marL="285750" lvl="0" indent="-285750">
              <a:lnSpc>
                <a:spcPct val="115000"/>
              </a:lnSpc>
              <a:spcAft>
                <a:spcPts val="800"/>
              </a:spcAft>
              <a:buFont typeface="Arial" panose="020B0604020202020204" pitchFamily="34" charset="0"/>
              <a:buChar char="•"/>
              <a:tabLst>
                <a:tab pos="457200" algn="l"/>
              </a:tabLst>
            </a:pPr>
            <a:r>
              <a:rPr lang="hu-HU" sz="1800" b="1" kern="100" dirty="0">
                <a:effectLst/>
                <a:latin typeface="Aptos" panose="020B0004020202020204" pitchFamily="34" charset="0"/>
                <a:ea typeface="Aptos" panose="020B0004020202020204" pitchFamily="34" charset="0"/>
                <a:cs typeface="Times New Roman" panose="02020603050405020304" pitchFamily="18" charset="0"/>
              </a:rPr>
              <a:t>Backend: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For</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the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server-</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side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logic</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we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use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Java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with</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Node.js,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making</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the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platform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both</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scalable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and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efficient</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a:t>
            </a:r>
            <a:endParaRPr lang="en-GB" sz="1800" b="1" kern="100" dirty="0">
              <a:effectLst/>
              <a:latin typeface="Aptos" panose="020B0004020202020204" pitchFamily="34" charset="0"/>
              <a:ea typeface="Aptos" panose="020B0004020202020204" pitchFamily="34" charset="0"/>
              <a:cs typeface="Times New Roman" panose="02020603050405020304" pitchFamily="18" charset="0"/>
            </a:endParaRPr>
          </a:p>
          <a:p>
            <a:pPr marL="0" lvl="0" indent="0">
              <a:lnSpc>
                <a:spcPct val="115000"/>
              </a:lnSpc>
              <a:spcAft>
                <a:spcPts val="800"/>
              </a:spcAft>
              <a:buFont typeface="+mj-lt"/>
              <a:buNone/>
              <a:tabLst>
                <a:tab pos="457200" algn="l"/>
              </a:tabLst>
            </a:pPr>
            <a:endParaRPr lang="en-GB" sz="1800" b="1" kern="100" dirty="0">
              <a:effectLst/>
              <a:latin typeface="Aptos" panose="020B0004020202020204" pitchFamily="34" charset="0"/>
              <a:ea typeface="Aptos" panose="020B0004020202020204" pitchFamily="34" charset="0"/>
              <a:cs typeface="Times New Roman" panose="02020603050405020304" pitchFamily="18" charset="0"/>
            </a:endParaRPr>
          </a:p>
          <a:p>
            <a:pPr marL="285750" lvl="0" indent="-285750">
              <a:lnSpc>
                <a:spcPct val="115000"/>
              </a:lnSpc>
              <a:spcAft>
                <a:spcPts val="800"/>
              </a:spcAft>
              <a:buFont typeface="Arial" panose="020B0604020202020204" pitchFamily="34" charset="0"/>
              <a:buChar char="•"/>
              <a:tabLst>
                <a:tab pos="457200" algn="l"/>
              </a:tabLst>
            </a:pP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Database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The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data</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is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securely</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stored</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in a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MySQL</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database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MySQL</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allows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us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to</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manage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large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volumes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of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data</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reliably</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while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keeping</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performance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high</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a:t>
            </a:r>
            <a:endParaRPr lang="en-GB" sz="1800" b="1" kern="100" dirty="0">
              <a:effectLst/>
              <a:latin typeface="Aptos" panose="020B0004020202020204" pitchFamily="34" charset="0"/>
              <a:ea typeface="Aptos" panose="020B0004020202020204" pitchFamily="34" charset="0"/>
              <a:cs typeface="Times New Roman" panose="02020603050405020304" pitchFamily="18" charset="0"/>
            </a:endParaRPr>
          </a:p>
          <a:p>
            <a:pPr marL="0" lvl="0" indent="0">
              <a:lnSpc>
                <a:spcPct val="115000"/>
              </a:lnSpc>
              <a:spcAft>
                <a:spcPts val="800"/>
              </a:spcAft>
              <a:buFont typeface="+mj-lt"/>
              <a:buNone/>
              <a:tabLst>
                <a:tab pos="457200" algn="l"/>
              </a:tabLst>
            </a:pPr>
            <a:endParaRPr lang="en-GB" sz="1800" b="1"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Together</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these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technologies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form</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powerful</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and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reliable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stack</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that</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supports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SneakR’s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features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and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user</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needs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a:t>
            </a:r>
            <a:endParaRPr lang="en-GB" sz="1800" b="1"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b="1"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15000"/>
              </a:lnSpc>
              <a:spcAft>
                <a:spcPts val="800"/>
              </a:spcAft>
              <a:buNone/>
            </a:pPr>
            <a:r>
              <a:rPr lang="hu-HU" sz="1800" b="1" kern="100" dirty="0">
                <a:effectLst/>
                <a:latin typeface="Aptos" panose="020B0004020202020204" pitchFamily="34" charset="0"/>
                <a:ea typeface="Aptos" panose="020B0004020202020204" pitchFamily="34" charset="0"/>
                <a:cs typeface="Times New Roman" panose="02020603050405020304" pitchFamily="18" charset="0"/>
              </a:rPr>
              <a:t>(</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Presenter</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Kenéz Bence)</a:t>
            </a:r>
            <a:endParaRPr lang="en-GB" sz="1800" b="1"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endParaRPr lang="en-GB" sz="1800" b="1"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Let’s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dive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into</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some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of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our</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code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Here,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we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have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an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example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of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the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Angular</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code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that</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powers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our</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checkout</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process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This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piece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of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code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interacts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with</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our</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backend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services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to</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process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user</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orders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a:t>
            </a:r>
            <a:endParaRPr lang="en-GB" sz="1800" b="1" kern="100" dirty="0">
              <a:effectLst/>
              <a:latin typeface="Aptos" panose="020B0004020202020204" pitchFamily="34" charset="0"/>
              <a:ea typeface="Aptos" panose="020B0004020202020204" pitchFamily="34" charset="0"/>
              <a:cs typeface="Times New Roman" panose="02020603050405020304" pitchFamily="18" charset="0"/>
            </a:endParaRPr>
          </a:p>
          <a:p>
            <a:pPr marL="0" lvl="0" indent="0">
              <a:lnSpc>
                <a:spcPct val="115000"/>
              </a:lnSpc>
              <a:spcAft>
                <a:spcPts val="800"/>
              </a:spcAft>
              <a:buSzPts val="1000"/>
              <a:buFont typeface="Symbol" panose="05050102010706020507" pitchFamily="18" charset="2"/>
              <a:buNone/>
              <a:tabLst>
                <a:tab pos="457200" algn="l"/>
              </a:tabLst>
            </a:pPr>
            <a:endParaRPr lang="en-GB" sz="1800" b="1"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It</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ensures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that</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users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can</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smoothly</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move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from</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selecting</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sneakers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to</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confirming</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their</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order</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while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also</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managing</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the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cart’s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contents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and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finalizing</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the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transaction</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a:t>
            </a:r>
            <a:endParaRPr lang="en-GB" sz="1800" b="1"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b="1"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528840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15000"/>
              </a:lnSpc>
              <a:spcAft>
                <a:spcPts val="800"/>
              </a:spcAft>
              <a:buNone/>
            </a:pPr>
            <a:r>
              <a:rPr lang="hu-HU" sz="1800" b="1" kern="100" dirty="0">
                <a:effectLst/>
                <a:latin typeface="Aptos" panose="020B0004020202020204" pitchFamily="34" charset="0"/>
                <a:ea typeface="Aptos" panose="020B0004020202020204" pitchFamily="34" charset="0"/>
                <a:cs typeface="Times New Roman" panose="02020603050405020304" pitchFamily="18" charset="0"/>
              </a:rPr>
              <a:t>(</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Presenter</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Tóth Krisztián)</a:t>
            </a:r>
            <a:endParaRPr lang="en-GB" sz="1800" b="1"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endParaRPr lang="en-GB" sz="1800" b="1"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On</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the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backend,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we’ve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implemented</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APIs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for</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user</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login and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registration</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ensuring</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secure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user</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data</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handling</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Here’s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an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example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of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the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code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responsible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for</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processing</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login and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registration</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requests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a:t>
            </a:r>
            <a:endParaRPr lang="en-GB" sz="1800" b="1" kern="100" dirty="0">
              <a:effectLst/>
              <a:latin typeface="Aptos" panose="020B0004020202020204" pitchFamily="34" charset="0"/>
              <a:ea typeface="Aptos" panose="020B0004020202020204" pitchFamily="34" charset="0"/>
              <a:cs typeface="Times New Roman" panose="02020603050405020304" pitchFamily="18" charset="0"/>
            </a:endParaRPr>
          </a:p>
          <a:p>
            <a:pPr marL="0" lvl="0" indent="0">
              <a:lnSpc>
                <a:spcPct val="115000"/>
              </a:lnSpc>
              <a:spcAft>
                <a:spcPts val="800"/>
              </a:spcAft>
              <a:buSzPts val="1000"/>
              <a:buFont typeface="Symbol" panose="05050102010706020507" pitchFamily="18" charset="2"/>
              <a:buNone/>
              <a:tabLst>
                <a:tab pos="457200" algn="l"/>
              </a:tabLst>
            </a:pPr>
            <a:endParaRPr lang="en-GB" sz="1800" b="1"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hu-HU" sz="1800" b="1" kern="100" dirty="0">
                <a:effectLst/>
                <a:latin typeface="Aptos" panose="020B0004020202020204" pitchFamily="34" charset="0"/>
                <a:ea typeface="Aptos" panose="020B0004020202020204" pitchFamily="34" charset="0"/>
                <a:cs typeface="Times New Roman" panose="02020603050405020304" pitchFamily="18" charset="0"/>
              </a:rPr>
              <a:t>The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system</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ensures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data</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privacy</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and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security</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allowing</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only</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authenticated</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users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to</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access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their</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profiles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and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make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transactions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a:t>
            </a:r>
            <a:endParaRPr lang="en-GB" sz="1800" b="1"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b="1"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8698847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15000"/>
              </a:lnSpc>
              <a:spcAft>
                <a:spcPts val="800"/>
              </a:spcAft>
              <a:buNone/>
            </a:pPr>
            <a:r>
              <a:rPr lang="hu-HU" sz="1800" b="1" kern="100" dirty="0">
                <a:effectLst/>
                <a:latin typeface="Aptos" panose="020B0004020202020204" pitchFamily="34" charset="0"/>
                <a:ea typeface="Aptos" panose="020B0004020202020204" pitchFamily="34" charset="0"/>
                <a:cs typeface="Times New Roman" panose="02020603050405020304" pitchFamily="18" charset="0"/>
              </a:rPr>
              <a:t>(</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Presenter</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Kreszl Tamás)</a:t>
            </a:r>
            <a:endParaRPr lang="en-GB" sz="1800" b="1"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endParaRPr lang="en-GB" sz="1800" b="1"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Next</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let’s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look</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at</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our</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database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routines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These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handle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tasks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such</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as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retrieving</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product</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data</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managing</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user</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sessions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and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processing</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orders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a:t>
            </a:r>
            <a:endParaRPr lang="en-GB" sz="1800" b="1" kern="100" dirty="0">
              <a:effectLst/>
              <a:latin typeface="Aptos" panose="020B0004020202020204" pitchFamily="34" charset="0"/>
              <a:ea typeface="Aptos" panose="020B0004020202020204" pitchFamily="34" charset="0"/>
              <a:cs typeface="Times New Roman" panose="02020603050405020304" pitchFamily="18" charset="0"/>
            </a:endParaRPr>
          </a:p>
          <a:p>
            <a:pPr marL="0" lvl="0" indent="0">
              <a:lnSpc>
                <a:spcPct val="115000"/>
              </a:lnSpc>
              <a:spcAft>
                <a:spcPts val="800"/>
              </a:spcAft>
              <a:buSzPts val="1000"/>
              <a:buFont typeface="Symbol" panose="05050102010706020507" pitchFamily="18" charset="2"/>
              <a:buNone/>
              <a:tabLst>
                <a:tab pos="457200" algn="l"/>
              </a:tabLst>
            </a:pPr>
            <a:endParaRPr lang="en-GB" sz="1800" b="1"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hu-HU" sz="1800" b="1" kern="100" dirty="0">
                <a:effectLst/>
                <a:latin typeface="Aptos" panose="020B0004020202020204" pitchFamily="34" charset="0"/>
                <a:ea typeface="Aptos" panose="020B0004020202020204" pitchFamily="34" charset="0"/>
                <a:cs typeface="Times New Roman" panose="02020603050405020304" pitchFamily="18" charset="0"/>
              </a:rPr>
              <a:t>The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database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structure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is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optimized</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for</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speed</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ensuring</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that</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queries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are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efficient</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and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that</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the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platform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can</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handle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large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number</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of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users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simultaneously</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This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is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crucial</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for</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maintaining</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smooth</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operation</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as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our</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community</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grows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a:t>
            </a:r>
            <a:endParaRPr lang="en-GB" sz="1800" b="1"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b="1"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752315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15000"/>
              </a:lnSpc>
              <a:spcAft>
                <a:spcPts val="800"/>
              </a:spcAft>
              <a:buNone/>
            </a:pPr>
            <a:r>
              <a:rPr lang="hu-HU" sz="2000" b="1" kern="100" dirty="0">
                <a:effectLst/>
                <a:latin typeface="Aptos" panose="020B0004020202020204" pitchFamily="34" charset="0"/>
                <a:ea typeface="Aptos" panose="020B0004020202020204" pitchFamily="34" charset="0"/>
                <a:cs typeface="Times New Roman" panose="02020603050405020304" pitchFamily="18" charset="0"/>
              </a:rPr>
              <a:t>(</a:t>
            </a:r>
            <a:r>
              <a:rPr lang="hu-HU" sz="2000" b="1" kern="100" dirty="0" err="1">
                <a:effectLst/>
                <a:latin typeface="Aptos" panose="020B0004020202020204" pitchFamily="34" charset="0"/>
                <a:ea typeface="Aptos" panose="020B0004020202020204" pitchFamily="34" charset="0"/>
                <a:cs typeface="Times New Roman" panose="02020603050405020304" pitchFamily="18" charset="0"/>
              </a:rPr>
              <a:t>Presenter</a:t>
            </a:r>
            <a:r>
              <a:rPr lang="hu-HU" sz="2000" b="1" kern="100" dirty="0">
                <a:effectLst/>
                <a:latin typeface="Aptos" panose="020B0004020202020204" pitchFamily="34" charset="0"/>
                <a:ea typeface="Aptos" panose="020B0004020202020204" pitchFamily="34" charset="0"/>
                <a:cs typeface="Times New Roman" panose="02020603050405020304" pitchFamily="18" charset="0"/>
              </a:rPr>
              <a:t>: Kenéz Bence)</a:t>
            </a:r>
            <a:endParaRPr lang="en-GB" sz="2000" b="1"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endParaRPr lang="en-GB" sz="2000" b="1"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Font typeface="+mj-lt"/>
              <a:buAutoNum type="arabicPeriod"/>
              <a:tabLst>
                <a:tab pos="457200" algn="l"/>
              </a:tabLst>
            </a:pPr>
            <a:r>
              <a:rPr lang="hu-HU" sz="2000" b="1" kern="100" dirty="0">
                <a:effectLst/>
                <a:latin typeface="Aptos" panose="020B0004020202020204" pitchFamily="34" charset="0"/>
                <a:ea typeface="Aptos" panose="020B0004020202020204" pitchFamily="34" charset="0"/>
                <a:cs typeface="Times New Roman" panose="02020603050405020304" pitchFamily="18" charset="0"/>
              </a:rPr>
              <a:t>OLVASD FEL</a:t>
            </a:r>
            <a:endParaRPr lang="en-GB" sz="2000" b="1"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sz="1400" b="1"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15000"/>
              </a:lnSpc>
              <a:spcAft>
                <a:spcPts val="800"/>
              </a:spcAft>
              <a:buNone/>
            </a:pPr>
            <a:r>
              <a:rPr lang="hu-HU" sz="1800" b="1" kern="100" dirty="0">
                <a:effectLst/>
                <a:latin typeface="Aptos" panose="020B0004020202020204" pitchFamily="34" charset="0"/>
                <a:ea typeface="Aptos" panose="020B0004020202020204" pitchFamily="34" charset="0"/>
                <a:cs typeface="Times New Roman" panose="02020603050405020304" pitchFamily="18" charset="0"/>
              </a:rPr>
              <a:t>(</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Presenter</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Tóth Krisztián)</a:t>
            </a:r>
            <a:endParaRPr lang="en-GB" sz="1800" b="1"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endParaRPr lang="en-GB" sz="1800" b="1"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Here’s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look</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at</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our</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GitHub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commit</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distribution</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As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you</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can</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see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everyone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contributed</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significantly</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to</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the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project,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with</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each</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member</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making</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substantial</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commits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a:t>
            </a:r>
            <a:endParaRPr lang="en-GB" sz="1800" b="1" kern="100" dirty="0">
              <a:effectLst/>
              <a:latin typeface="Aptos" panose="020B0004020202020204" pitchFamily="34" charset="0"/>
              <a:ea typeface="Aptos" panose="020B0004020202020204" pitchFamily="34" charset="0"/>
              <a:cs typeface="Times New Roman" panose="02020603050405020304" pitchFamily="18" charset="0"/>
            </a:endParaRPr>
          </a:p>
          <a:p>
            <a:pPr marL="0" lvl="0" indent="0">
              <a:lnSpc>
                <a:spcPct val="115000"/>
              </a:lnSpc>
              <a:spcAft>
                <a:spcPts val="800"/>
              </a:spcAft>
              <a:buSzPts val="1000"/>
              <a:buFont typeface="Symbol" panose="05050102010706020507" pitchFamily="18" charset="2"/>
              <a:buNone/>
              <a:tabLst>
                <a:tab pos="457200" algn="l"/>
              </a:tabLst>
            </a:pPr>
            <a:endParaRPr lang="en-GB" sz="1800" b="1"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This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reflects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our</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collaborative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effort</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over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the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course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of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the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development</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process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ensuring</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that</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the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codebase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is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constantly</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improving</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and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evolving</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a:t>
            </a:r>
            <a:endParaRPr lang="en-GB" sz="1800" b="1"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4215413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15000"/>
              </a:lnSpc>
              <a:spcAft>
                <a:spcPts val="800"/>
              </a:spcAft>
              <a:buNone/>
            </a:pPr>
            <a:r>
              <a:rPr lang="hu-HU" sz="1800" b="1" kern="100" dirty="0">
                <a:effectLst/>
                <a:latin typeface="Aptos" panose="020B0004020202020204" pitchFamily="34" charset="0"/>
                <a:ea typeface="Aptos" panose="020B0004020202020204" pitchFamily="34" charset="0"/>
                <a:cs typeface="Times New Roman" panose="02020603050405020304" pitchFamily="18" charset="0"/>
              </a:rPr>
              <a:t>(</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Presenter</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Tóth Krisztián) (felolvasós)</a:t>
            </a:r>
            <a:endParaRPr lang="en-GB" sz="1800" b="1"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endParaRPr lang="en-GB" sz="1800" b="1"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Now</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let’s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look</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at</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the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Jira</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workload</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distribution</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This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pie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chart</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breaks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down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how</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much</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time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each</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of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us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spent</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on</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the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project.</a:t>
            </a:r>
            <a:endParaRPr lang="en-GB" sz="1800" b="1" kern="100" dirty="0">
              <a:effectLst/>
              <a:latin typeface="Aptos" panose="020B0004020202020204" pitchFamily="34" charset="0"/>
              <a:ea typeface="Aptos" panose="020B0004020202020204" pitchFamily="34" charset="0"/>
              <a:cs typeface="Times New Roman" panose="02020603050405020304" pitchFamily="18" charset="0"/>
            </a:endParaRPr>
          </a:p>
          <a:p>
            <a:pPr marL="0" lvl="0" indent="0">
              <a:lnSpc>
                <a:spcPct val="115000"/>
              </a:lnSpc>
              <a:spcAft>
                <a:spcPts val="800"/>
              </a:spcAft>
              <a:buSzPts val="1000"/>
              <a:buFont typeface="Symbol" panose="05050102010706020507" pitchFamily="18" charset="2"/>
              <a:buNone/>
              <a:tabLst>
                <a:tab pos="457200" algn="l"/>
              </a:tabLst>
            </a:pPr>
            <a:endParaRPr lang="en-GB" sz="1800" b="1"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hu-HU" sz="1800" b="1" kern="100" dirty="0">
                <a:effectLst/>
                <a:latin typeface="Aptos" panose="020B0004020202020204" pitchFamily="34" charset="0"/>
                <a:ea typeface="Aptos" panose="020B0004020202020204" pitchFamily="34" charset="0"/>
                <a:cs typeface="Times New Roman" panose="02020603050405020304" pitchFamily="18" charset="0"/>
              </a:rPr>
              <a:t>Kenéz Bence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worked</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for</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3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days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7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hours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and 2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minutes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Kreszl Tamás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spent</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3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days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3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hours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and 31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minutes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and Tóth Krisztián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contributed</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4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days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1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hour</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and 8 minutes.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This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shows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how</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the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workload</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was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shared</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evenly</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across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the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team.</a:t>
            </a:r>
            <a:endParaRPr lang="en-GB" sz="1800" b="1"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4098619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15000"/>
              </a:lnSpc>
              <a:spcAft>
                <a:spcPts val="800"/>
              </a:spcAft>
              <a:buNone/>
            </a:pPr>
            <a:r>
              <a:rPr lang="hu-HU" sz="1800" b="1" kern="100" dirty="0">
                <a:effectLst/>
                <a:latin typeface="Aptos" panose="020B0004020202020204" pitchFamily="34" charset="0"/>
                <a:ea typeface="Aptos" panose="020B0004020202020204" pitchFamily="34" charset="0"/>
                <a:cs typeface="Times New Roman" panose="02020603050405020304" pitchFamily="18" charset="0"/>
              </a:rPr>
              <a:t>(</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Presenter</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Kreszl Tamás) (felolvasós)</a:t>
            </a:r>
            <a:endParaRPr lang="en-GB" sz="1800" b="1"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Font typeface="+mj-lt"/>
              <a:buAutoNum type="arabicPeriod"/>
              <a:tabLst>
                <a:tab pos="457200" algn="l"/>
              </a:tabLst>
            </a:pPr>
            <a:r>
              <a:rPr lang="hu-HU" sz="1800" b="1" kern="100" dirty="0">
                <a:effectLst/>
                <a:latin typeface="Aptos" panose="020B0004020202020204" pitchFamily="34" charset="0"/>
                <a:ea typeface="Aptos" panose="020B0004020202020204" pitchFamily="34" charset="0"/>
                <a:cs typeface="Times New Roman" panose="02020603050405020304" pitchFamily="18" charset="0"/>
              </a:rPr>
              <a:t>OLVASD FEL</a:t>
            </a:r>
            <a:endParaRPr lang="en-GB" sz="1800" b="1"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b="1"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6815EC-2EA5-2F2E-911E-28691B602F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F79F24-6726-6BBA-ED6A-BAD248639E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7C124A-0834-DA98-3E77-9AF7CB6BAC82}"/>
              </a:ext>
            </a:extLst>
          </p:cNvPr>
          <p:cNvSpPr>
            <a:spLocks noGrp="1"/>
          </p:cNvSpPr>
          <p:nvPr>
            <p:ph type="body" idx="1"/>
          </p:nvPr>
        </p:nvSpPr>
        <p:spPr/>
        <p:txBody>
          <a:bodyPr/>
          <a:lstStyle/>
          <a:p>
            <a:pPr>
              <a:lnSpc>
                <a:spcPct val="115000"/>
              </a:lnSpc>
              <a:spcAft>
                <a:spcPts val="800"/>
              </a:spcAft>
              <a:buNone/>
            </a:pPr>
            <a:r>
              <a:rPr lang="hu-HU" sz="1800" b="1" kern="100" dirty="0">
                <a:effectLst/>
                <a:latin typeface="Aptos" panose="020B0004020202020204" pitchFamily="34" charset="0"/>
                <a:ea typeface="Aptos" panose="020B0004020202020204" pitchFamily="34" charset="0"/>
                <a:cs typeface="Times New Roman" panose="02020603050405020304" pitchFamily="18" charset="0"/>
              </a:rPr>
              <a:t>(</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Presenter</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Kreszl Tamás) (felolvasós)</a:t>
            </a:r>
            <a:endParaRPr lang="en-GB" sz="1800" b="1"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endParaRPr lang="en-GB" sz="1800" b="1"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Font typeface="+mj-lt"/>
              <a:buAutoNum type="arabicPeriod"/>
              <a:tabLst>
                <a:tab pos="457200" algn="l"/>
              </a:tabLst>
            </a:pPr>
            <a:r>
              <a:rPr lang="hu-HU" sz="1800" b="1" kern="100" dirty="0">
                <a:effectLst/>
                <a:latin typeface="Aptos" panose="020B0004020202020204" pitchFamily="34" charset="0"/>
                <a:ea typeface="Aptos" panose="020B0004020202020204" pitchFamily="34" charset="0"/>
                <a:cs typeface="Times New Roman" panose="02020603050405020304" pitchFamily="18" charset="0"/>
              </a:rPr>
              <a:t>OLVASD FEL</a:t>
            </a:r>
            <a:endParaRPr lang="en-GB" sz="1800" b="1"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b="1" dirty="0"/>
          </a:p>
        </p:txBody>
      </p:sp>
      <p:sp>
        <p:nvSpPr>
          <p:cNvPr id="4" name="Slide Number Placeholder 3">
            <a:extLst>
              <a:ext uri="{FF2B5EF4-FFF2-40B4-BE49-F238E27FC236}">
                <a16:creationId xmlns:a16="http://schemas.microsoft.com/office/drawing/2014/main" id="{FC6AC6AD-8EDB-1C15-26EC-D1794A61607F}"/>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6513770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15000"/>
              </a:lnSpc>
              <a:spcAft>
                <a:spcPts val="800"/>
              </a:spcAft>
              <a:buNone/>
            </a:pPr>
            <a:r>
              <a:rPr lang="hu-HU" sz="1800" b="1" kern="100" dirty="0">
                <a:effectLst/>
                <a:latin typeface="Aptos" panose="020B0004020202020204" pitchFamily="34" charset="0"/>
                <a:ea typeface="Aptos" panose="020B0004020202020204" pitchFamily="34" charset="0"/>
                <a:cs typeface="Times New Roman" panose="02020603050405020304" pitchFamily="18" charset="0"/>
              </a:rPr>
              <a:t>(</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Presenter</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Kenéz Bence) (felolvasós)</a:t>
            </a:r>
            <a:endParaRPr lang="en-GB" sz="1800" b="1"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endParaRPr lang="en-GB" sz="1800" b="1"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Looking</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ahead</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we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have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several</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exciting</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plans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for</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SneakR</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a:t>
            </a:r>
            <a:endParaRPr lang="en-GB" sz="1800" b="1" kern="100" dirty="0">
              <a:effectLst/>
              <a:latin typeface="Aptos" panose="020B0004020202020204" pitchFamily="34" charset="0"/>
              <a:ea typeface="Aptos" panose="020B0004020202020204" pitchFamily="34" charset="0"/>
              <a:cs typeface="Times New Roman" panose="02020603050405020304" pitchFamily="18" charset="0"/>
            </a:endParaRPr>
          </a:p>
          <a:p>
            <a:pPr marL="0" lvl="0" indent="0">
              <a:lnSpc>
                <a:spcPct val="115000"/>
              </a:lnSpc>
              <a:spcAft>
                <a:spcPts val="800"/>
              </a:spcAft>
              <a:buSzPts val="1000"/>
              <a:buFont typeface="Symbol" panose="05050102010706020507" pitchFamily="18" charset="2"/>
              <a:buNone/>
              <a:tabLst>
                <a:tab pos="457200" algn="l"/>
              </a:tabLst>
            </a:pPr>
            <a:endParaRPr lang="en-GB" sz="1800" b="1"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Font typeface="+mj-lt"/>
              <a:buAutoNum type="arabicPeriod"/>
              <a:tabLst>
                <a:tab pos="457200" algn="l"/>
              </a:tabLst>
            </a:pP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Integrating</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SimplePay</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a:t>
            </a:r>
            <a:endParaRPr lang="en-GB" sz="1800" b="1" kern="100" dirty="0">
              <a:effectLst/>
              <a:latin typeface="Aptos" panose="020B0004020202020204" pitchFamily="34" charset="0"/>
              <a:ea typeface="Aptos" panose="020B0004020202020204" pitchFamily="34" charset="0"/>
              <a:cs typeface="Times New Roman" panose="02020603050405020304" pitchFamily="18" charset="0"/>
            </a:endParaRPr>
          </a:p>
          <a:p>
            <a:pPr marL="0" lvl="0" indent="0">
              <a:lnSpc>
                <a:spcPct val="115000"/>
              </a:lnSpc>
              <a:spcAft>
                <a:spcPts val="800"/>
              </a:spcAft>
              <a:buFont typeface="+mj-lt"/>
              <a:buNone/>
              <a:tabLst>
                <a:tab pos="457200" algn="l"/>
              </a:tabLst>
            </a:pPr>
            <a:endParaRPr lang="en-GB" sz="1800" b="1"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Font typeface="+mj-lt"/>
              <a:buAutoNum type="arabicPeriod"/>
              <a:tabLst>
                <a:tab pos="457200" algn="l"/>
              </a:tabLst>
            </a:pPr>
            <a:r>
              <a:rPr lang="hu-HU" sz="1800" b="1" kern="100" dirty="0">
                <a:effectLst/>
                <a:latin typeface="Aptos" panose="020B0004020202020204" pitchFamily="34" charset="0"/>
                <a:ea typeface="Aptos" panose="020B0004020202020204" pitchFamily="34" charset="0"/>
                <a:cs typeface="Times New Roman" panose="02020603050405020304" pitchFamily="18" charset="0"/>
              </a:rPr>
              <a:t>Mobile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Application</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a:t>
            </a:r>
            <a:endParaRPr lang="en-GB" sz="1800" b="1"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Font typeface="+mj-lt"/>
              <a:buAutoNum type="arabicPeriod"/>
              <a:tabLst>
                <a:tab pos="457200" algn="l"/>
              </a:tabLst>
            </a:pPr>
            <a:endParaRPr lang="en-GB" sz="1800" b="1"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Font typeface="+mj-lt"/>
              <a:buAutoNum type="arabicPeriod"/>
              <a:tabLst>
                <a:tab pos="457200" algn="l"/>
              </a:tabLst>
            </a:pP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Continuous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Feedback</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a:t>
            </a:r>
            <a:endParaRPr lang="en-GB" sz="1800" b="1"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b="1"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15000"/>
              </a:lnSpc>
              <a:spcAft>
                <a:spcPts val="800"/>
              </a:spcAft>
              <a:buNone/>
            </a:pPr>
            <a:r>
              <a:rPr lang="hu-HU" sz="1800" b="1" kern="100" dirty="0">
                <a:effectLst/>
                <a:latin typeface="Aptos" panose="020B0004020202020204" pitchFamily="34" charset="0"/>
                <a:ea typeface="Aptos" panose="020B0004020202020204" pitchFamily="34" charset="0"/>
                <a:cs typeface="Times New Roman" panose="02020603050405020304" pitchFamily="18" charset="0"/>
              </a:rPr>
              <a:t>(</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Presenter</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Kreszl Tamás) (felolvasós)</a:t>
            </a:r>
            <a:endParaRPr lang="en-GB" sz="1800" b="1"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endParaRPr lang="en-GB" sz="1800" b="1"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Thank</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you</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for</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watching</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our</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presentation</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We’re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excited</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to</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show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you</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how</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SneakR</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works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so</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now</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let’s</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move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on</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to</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the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live</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hu-HU" sz="1800" b="1" kern="100" dirty="0" err="1">
                <a:effectLst/>
                <a:latin typeface="Aptos" panose="020B0004020202020204" pitchFamily="34" charset="0"/>
                <a:ea typeface="Aptos" panose="020B0004020202020204" pitchFamily="34" charset="0"/>
                <a:cs typeface="Times New Roman" panose="02020603050405020304" pitchFamily="18" charset="0"/>
              </a:rPr>
              <a:t>demo</a:t>
            </a:r>
            <a:r>
              <a:rPr lang="hu-HU" sz="1800" b="1" kern="100" dirty="0">
                <a:effectLst/>
                <a:latin typeface="Aptos" panose="020B0004020202020204" pitchFamily="34" charset="0"/>
                <a:ea typeface="Aptos" panose="020B0004020202020204" pitchFamily="34" charset="0"/>
                <a:cs typeface="Times New Roman" panose="02020603050405020304" pitchFamily="18" charset="0"/>
              </a:rPr>
              <a:t>!</a:t>
            </a:r>
            <a:endParaRPr lang="en-GB" sz="1800" b="1"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7918580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C32"/>
          </a:solidFill>
          <a:ln/>
        </p:spPr>
      </p:sp>
      <p:sp>
        <p:nvSpPr>
          <p:cNvPr id="3" name="Shape 1"/>
          <p:cNvSpPr/>
          <p:nvPr/>
        </p:nvSpPr>
        <p:spPr>
          <a:xfrm>
            <a:off x="0" y="0"/>
            <a:ext cx="14630400" cy="8229600"/>
          </a:xfrm>
          <a:prstGeom prst="rect">
            <a:avLst/>
          </a:prstGeom>
          <a:solidFill>
            <a:srgbClr val="282C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C32"/>
          </a:solidFill>
          <a:ln/>
        </p:spPr>
      </p:sp>
      <p:sp>
        <p:nvSpPr>
          <p:cNvPr id="3" name="Shape 1"/>
          <p:cNvSpPr/>
          <p:nvPr/>
        </p:nvSpPr>
        <p:spPr>
          <a:xfrm>
            <a:off x="0" y="0"/>
            <a:ext cx="14630400" cy="8229600"/>
          </a:xfrm>
          <a:prstGeom prst="rect">
            <a:avLst/>
          </a:prstGeom>
          <a:solidFill>
            <a:srgbClr val="282C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C32"/>
          </a:solidFill>
          <a:ln/>
        </p:spPr>
      </p:sp>
      <p:sp>
        <p:nvSpPr>
          <p:cNvPr id="3" name="Shape 1"/>
          <p:cNvSpPr/>
          <p:nvPr/>
        </p:nvSpPr>
        <p:spPr>
          <a:xfrm>
            <a:off x="0" y="0"/>
            <a:ext cx="14630400" cy="8229600"/>
          </a:xfrm>
          <a:prstGeom prst="rect">
            <a:avLst/>
          </a:prstGeom>
          <a:solidFill>
            <a:srgbClr val="282C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C32"/>
          </a:solidFill>
          <a:ln/>
        </p:spPr>
      </p:sp>
      <p:sp>
        <p:nvSpPr>
          <p:cNvPr id="3" name="Shape 1"/>
          <p:cNvSpPr/>
          <p:nvPr/>
        </p:nvSpPr>
        <p:spPr>
          <a:xfrm>
            <a:off x="0" y="0"/>
            <a:ext cx="14630400" cy="8229600"/>
          </a:xfrm>
          <a:prstGeom prst="rect">
            <a:avLst/>
          </a:prstGeom>
          <a:solidFill>
            <a:srgbClr val="282C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C32"/>
          </a:solidFill>
          <a:ln/>
        </p:spPr>
      </p:sp>
      <p:sp>
        <p:nvSpPr>
          <p:cNvPr id="3" name="Shape 1"/>
          <p:cNvSpPr/>
          <p:nvPr/>
        </p:nvSpPr>
        <p:spPr>
          <a:xfrm>
            <a:off x="0" y="0"/>
            <a:ext cx="14630400" cy="8229600"/>
          </a:xfrm>
          <a:prstGeom prst="rect">
            <a:avLst/>
          </a:prstGeom>
          <a:solidFill>
            <a:srgbClr val="282C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C32"/>
          </a:solidFill>
          <a:ln/>
        </p:spPr>
      </p:sp>
      <p:sp>
        <p:nvSpPr>
          <p:cNvPr id="3" name="Shape 1"/>
          <p:cNvSpPr/>
          <p:nvPr/>
        </p:nvSpPr>
        <p:spPr>
          <a:xfrm>
            <a:off x="0" y="0"/>
            <a:ext cx="14630400" cy="8229600"/>
          </a:xfrm>
          <a:prstGeom prst="rect">
            <a:avLst/>
          </a:prstGeom>
          <a:solidFill>
            <a:srgbClr val="282C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C32"/>
          </a:solidFill>
          <a:ln/>
        </p:spPr>
      </p:sp>
      <p:sp>
        <p:nvSpPr>
          <p:cNvPr id="3" name="Shape 1"/>
          <p:cNvSpPr/>
          <p:nvPr/>
        </p:nvSpPr>
        <p:spPr>
          <a:xfrm>
            <a:off x="0" y="0"/>
            <a:ext cx="14630400" cy="8229600"/>
          </a:xfrm>
          <a:prstGeom prst="rect">
            <a:avLst/>
          </a:prstGeom>
          <a:solidFill>
            <a:srgbClr val="282C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C32"/>
          </a:solidFill>
          <a:ln/>
        </p:spPr>
      </p:sp>
      <p:sp>
        <p:nvSpPr>
          <p:cNvPr id="3" name="Shape 1"/>
          <p:cNvSpPr/>
          <p:nvPr/>
        </p:nvSpPr>
        <p:spPr>
          <a:xfrm>
            <a:off x="0" y="0"/>
            <a:ext cx="14630400" cy="8229600"/>
          </a:xfrm>
          <a:prstGeom prst="rect">
            <a:avLst/>
          </a:prstGeom>
          <a:solidFill>
            <a:srgbClr val="282C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C32"/>
          </a:solidFill>
          <a:ln/>
        </p:spPr>
      </p:sp>
      <p:sp>
        <p:nvSpPr>
          <p:cNvPr id="3" name="Shape 1"/>
          <p:cNvSpPr/>
          <p:nvPr/>
        </p:nvSpPr>
        <p:spPr>
          <a:xfrm>
            <a:off x="0" y="0"/>
            <a:ext cx="14630400" cy="8229600"/>
          </a:xfrm>
          <a:prstGeom prst="rect">
            <a:avLst/>
          </a:prstGeom>
          <a:solidFill>
            <a:srgbClr val="282C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C32"/>
          </a:solidFill>
          <a:ln/>
        </p:spPr>
      </p:sp>
      <p:sp>
        <p:nvSpPr>
          <p:cNvPr id="3" name="Shape 1"/>
          <p:cNvSpPr/>
          <p:nvPr/>
        </p:nvSpPr>
        <p:spPr>
          <a:xfrm>
            <a:off x="0" y="0"/>
            <a:ext cx="14630400" cy="8229600"/>
          </a:xfrm>
          <a:prstGeom prst="rect">
            <a:avLst/>
          </a:prstGeom>
          <a:solidFill>
            <a:srgbClr val="282C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5.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5.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5.xml"/><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9.xml"/><Relationship Id="rId4" Type="http://schemas.openxmlformats.org/officeDocument/2006/relationships/image" Target="../media/image14.jpe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9.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9.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8.xml"/><Relationship Id="rId5" Type="http://schemas.openxmlformats.org/officeDocument/2006/relationships/image" Target="../media/image18.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8.xml"/><Relationship Id="rId5" Type="http://schemas.openxmlformats.org/officeDocument/2006/relationships/image" Target="../media/image20.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11.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8884071" y="961906"/>
            <a:ext cx="7627382" cy="1425416"/>
          </a:xfrm>
          <a:prstGeom prst="rect">
            <a:avLst/>
          </a:prstGeom>
          <a:noFill/>
          <a:ln/>
        </p:spPr>
        <p:txBody>
          <a:bodyPr wrap="square" lIns="0" tIns="0" rIns="0" bIns="0" rtlCol="0" anchor="t"/>
          <a:lstStyle/>
          <a:p>
            <a:pPr marL="0" indent="0">
              <a:lnSpc>
                <a:spcPts val="5600"/>
              </a:lnSpc>
              <a:buNone/>
            </a:pPr>
            <a:r>
              <a:rPr lang="en-US" sz="4450" b="1" dirty="0" err="1">
                <a:solidFill>
                  <a:srgbClr val="9998FF"/>
                </a:solidFill>
                <a:latin typeface="Arial" panose="020B0604020202020204" pitchFamily="34" charset="0"/>
                <a:ea typeface="Barlow Bold" pitchFamily="34" charset="-122"/>
                <a:cs typeface="Arial" panose="020B0604020202020204" pitchFamily="34" charset="0"/>
              </a:rPr>
              <a:t>SneakR</a:t>
            </a:r>
            <a:endParaRPr lang="en-US" sz="4450" dirty="0">
              <a:latin typeface="Arial" panose="020B0604020202020204" pitchFamily="34" charset="0"/>
              <a:cs typeface="Arial" panose="020B0604020202020204" pitchFamily="34" charset="0"/>
            </a:endParaRPr>
          </a:p>
        </p:txBody>
      </p:sp>
      <p:sp>
        <p:nvSpPr>
          <p:cNvPr id="4" name="Text 1"/>
          <p:cNvSpPr/>
          <p:nvPr/>
        </p:nvSpPr>
        <p:spPr>
          <a:xfrm>
            <a:off x="8884071" y="3800704"/>
            <a:ext cx="2663160" cy="2041575"/>
          </a:xfrm>
          <a:prstGeom prst="rect">
            <a:avLst/>
          </a:prstGeom>
          <a:noFill/>
          <a:ln/>
        </p:spPr>
        <p:txBody>
          <a:bodyPr wrap="square" lIns="0" tIns="0" rIns="0" bIns="0" rtlCol="0" anchor="t"/>
          <a:lstStyle/>
          <a:p>
            <a:pPr marL="0" indent="0">
              <a:lnSpc>
                <a:spcPct val="150000"/>
              </a:lnSpc>
              <a:buNone/>
            </a:pPr>
            <a:r>
              <a:rPr lang="hu-HU" sz="2000" b="1" dirty="0">
                <a:solidFill>
                  <a:schemeClr val="bg1"/>
                </a:solidFill>
                <a:latin typeface="Arial" panose="020B0604020202020204" pitchFamily="34" charset="0"/>
                <a:ea typeface="Montserrat" pitchFamily="34" charset="-122"/>
                <a:cs typeface="Arial" panose="020B0604020202020204" pitchFamily="34" charset="0"/>
              </a:rPr>
              <a:t>Team </a:t>
            </a:r>
            <a:r>
              <a:rPr lang="hu-HU" sz="2000" b="1" dirty="0" err="1">
                <a:solidFill>
                  <a:schemeClr val="bg1"/>
                </a:solidFill>
                <a:latin typeface="Arial" panose="020B0604020202020204" pitchFamily="34" charset="0"/>
                <a:ea typeface="Montserrat" pitchFamily="34" charset="-122"/>
                <a:cs typeface="Arial" panose="020B0604020202020204" pitchFamily="34" charset="0"/>
              </a:rPr>
              <a:t>members</a:t>
            </a:r>
            <a:r>
              <a:rPr lang="hu-HU" sz="2000" b="1" dirty="0">
                <a:solidFill>
                  <a:schemeClr val="bg1"/>
                </a:solidFill>
                <a:latin typeface="Arial" panose="020B0604020202020204" pitchFamily="34" charset="0"/>
                <a:ea typeface="Montserrat" pitchFamily="34" charset="-122"/>
                <a:cs typeface="Arial" panose="020B0604020202020204" pitchFamily="34" charset="0"/>
              </a:rPr>
              <a:t>:</a:t>
            </a:r>
          </a:p>
          <a:p>
            <a:pPr marL="285750" indent="-285750">
              <a:lnSpc>
                <a:spcPct val="150000"/>
              </a:lnSpc>
              <a:buFont typeface="Arial" panose="020B0604020202020204" pitchFamily="34" charset="0"/>
              <a:buChar char="•"/>
            </a:pPr>
            <a:r>
              <a:rPr lang="hu-HU" sz="2000" b="1" dirty="0">
                <a:solidFill>
                  <a:schemeClr val="bg1"/>
                </a:solidFill>
                <a:latin typeface="Arial" panose="020B0604020202020204" pitchFamily="34" charset="0"/>
                <a:cs typeface="Arial" panose="020B0604020202020204" pitchFamily="34" charset="0"/>
              </a:rPr>
              <a:t>Tóth Krisztián </a:t>
            </a:r>
          </a:p>
          <a:p>
            <a:pPr marL="285750" indent="-285750">
              <a:lnSpc>
                <a:spcPct val="150000"/>
              </a:lnSpc>
              <a:buFont typeface="Arial" panose="020B0604020202020204" pitchFamily="34" charset="0"/>
              <a:buChar char="•"/>
            </a:pPr>
            <a:r>
              <a:rPr lang="hu-HU" sz="2000" b="1" dirty="0">
                <a:solidFill>
                  <a:schemeClr val="bg1"/>
                </a:solidFill>
                <a:latin typeface="Arial" panose="020B0604020202020204" pitchFamily="34" charset="0"/>
                <a:cs typeface="Arial" panose="020B0604020202020204" pitchFamily="34" charset="0"/>
              </a:rPr>
              <a:t>Kenéz Bence</a:t>
            </a:r>
          </a:p>
          <a:p>
            <a:pPr marL="285750" indent="-285750">
              <a:lnSpc>
                <a:spcPct val="150000"/>
              </a:lnSpc>
              <a:buFont typeface="Arial" panose="020B0604020202020204" pitchFamily="34" charset="0"/>
              <a:buChar char="•"/>
            </a:pPr>
            <a:r>
              <a:rPr lang="hu-HU" sz="2000" b="1" dirty="0">
                <a:solidFill>
                  <a:schemeClr val="bg1"/>
                </a:solidFill>
                <a:latin typeface="Arial" panose="020B0604020202020204" pitchFamily="34" charset="0"/>
                <a:cs typeface="Arial" panose="020B0604020202020204" pitchFamily="34" charset="0"/>
              </a:rPr>
              <a:t>Kreszl Tamás</a:t>
            </a:r>
            <a:endParaRPr lang="en-US" sz="2000" b="1" dirty="0">
              <a:solidFill>
                <a:schemeClr val="bg1"/>
              </a:solidFill>
              <a:latin typeface="Arial" panose="020B0604020202020204" pitchFamily="34" charset="0"/>
              <a:cs typeface="Arial" panose="020B0604020202020204" pitchFamily="34" charset="0"/>
            </a:endParaRPr>
          </a:p>
        </p:txBody>
      </p:sp>
      <p:pic>
        <p:nvPicPr>
          <p:cNvPr id="9" name="Kép 8">
            <a:extLst>
              <a:ext uri="{FF2B5EF4-FFF2-40B4-BE49-F238E27FC236}">
                <a16:creationId xmlns:a16="http://schemas.microsoft.com/office/drawing/2014/main" id="{ADD004B0-9296-C6D3-218D-D26CAD17C5C2}"/>
              </a:ext>
            </a:extLst>
          </p:cNvPr>
          <p:cNvPicPr>
            <a:picLocks noChangeAspect="1"/>
          </p:cNvPicPr>
          <p:nvPr/>
        </p:nvPicPr>
        <p:blipFill>
          <a:blip r:embed="rId3"/>
          <a:stretch>
            <a:fillRect/>
          </a:stretch>
        </p:blipFill>
        <p:spPr>
          <a:xfrm>
            <a:off x="12697762" y="7635240"/>
            <a:ext cx="1932638" cy="462745"/>
          </a:xfrm>
          <a:prstGeom prst="rect">
            <a:avLst/>
          </a:prstGeom>
        </p:spPr>
      </p:pic>
      <p:pic>
        <p:nvPicPr>
          <p:cNvPr id="6" name="Kép 5" descr="A képen Grafikus tervezés, Grafika, rajz, embléma látható&#10;&#10;AI-generated content may be incorrect.">
            <a:extLst>
              <a:ext uri="{FF2B5EF4-FFF2-40B4-BE49-F238E27FC236}">
                <a16:creationId xmlns:a16="http://schemas.microsoft.com/office/drawing/2014/main" id="{AADA9FDD-308E-955F-3EC8-43627478AC9A}"/>
              </a:ext>
            </a:extLst>
          </p:cNvPr>
          <p:cNvPicPr>
            <a:picLocks noChangeAspect="1"/>
          </p:cNvPicPr>
          <p:nvPr/>
        </p:nvPicPr>
        <p:blipFill>
          <a:blip r:embed="rId4"/>
          <a:stretch>
            <a:fillRect/>
          </a:stretch>
        </p:blipFill>
        <p:spPr>
          <a:xfrm>
            <a:off x="758309" y="1674614"/>
            <a:ext cx="4812844" cy="4880371"/>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91609" y="351000"/>
            <a:ext cx="5701546" cy="712708"/>
          </a:xfrm>
          <a:prstGeom prst="rect">
            <a:avLst/>
          </a:prstGeom>
          <a:noFill/>
          <a:ln/>
        </p:spPr>
        <p:txBody>
          <a:bodyPr wrap="none" lIns="0" tIns="0" rIns="0" bIns="0" rtlCol="0" anchor="t"/>
          <a:lstStyle/>
          <a:p>
            <a:pPr marL="0" indent="0">
              <a:lnSpc>
                <a:spcPts val="5600"/>
              </a:lnSpc>
              <a:buNone/>
            </a:pPr>
            <a:r>
              <a:rPr lang="en-US" sz="4450" b="1" dirty="0">
                <a:solidFill>
                  <a:srgbClr val="9998FF"/>
                </a:solidFill>
                <a:latin typeface="Arial" panose="020B0604020202020204" pitchFamily="34" charset="0"/>
                <a:ea typeface="Barlow Bold" pitchFamily="34" charset="-122"/>
                <a:cs typeface="Arial" panose="020B0604020202020204" pitchFamily="34" charset="0"/>
              </a:rPr>
              <a:t>The Problem</a:t>
            </a:r>
            <a:endParaRPr lang="en-US" sz="4450" dirty="0">
              <a:latin typeface="Arial" panose="020B0604020202020204" pitchFamily="34" charset="0"/>
              <a:cs typeface="Arial" panose="020B0604020202020204" pitchFamily="34" charset="0"/>
            </a:endParaRPr>
          </a:p>
        </p:txBody>
      </p:sp>
      <p:sp>
        <p:nvSpPr>
          <p:cNvPr id="3" name="Text 1"/>
          <p:cNvSpPr/>
          <p:nvPr/>
        </p:nvSpPr>
        <p:spPr>
          <a:xfrm>
            <a:off x="1512689" y="1933692"/>
            <a:ext cx="2850713" cy="356235"/>
          </a:xfrm>
          <a:prstGeom prst="rect">
            <a:avLst/>
          </a:prstGeom>
          <a:noFill/>
          <a:ln/>
        </p:spPr>
        <p:txBody>
          <a:bodyPr wrap="none" lIns="0" tIns="0" rIns="0" bIns="0" rtlCol="0" anchor="t"/>
          <a:lstStyle/>
          <a:p>
            <a:pPr marL="0" indent="0">
              <a:lnSpc>
                <a:spcPts val="2800"/>
              </a:lnSpc>
              <a:buNone/>
            </a:pPr>
            <a:r>
              <a:rPr lang="en-US" sz="2400" b="1" dirty="0">
                <a:solidFill>
                  <a:srgbClr val="9998FF"/>
                </a:solidFill>
                <a:latin typeface="Arial" panose="020B0604020202020204" pitchFamily="34" charset="0"/>
                <a:ea typeface="Barlow Bold" pitchFamily="34" charset="-122"/>
                <a:cs typeface="Arial" panose="020B0604020202020204" pitchFamily="34" charset="0"/>
              </a:rPr>
              <a:t>Limited Options</a:t>
            </a:r>
            <a:endParaRPr lang="en-US" sz="2400" dirty="0">
              <a:latin typeface="Arial" panose="020B0604020202020204" pitchFamily="34" charset="0"/>
              <a:cs typeface="Arial" panose="020B0604020202020204" pitchFamily="34" charset="0"/>
            </a:endParaRPr>
          </a:p>
        </p:txBody>
      </p:sp>
      <p:sp>
        <p:nvSpPr>
          <p:cNvPr id="4" name="Text 2"/>
          <p:cNvSpPr/>
          <p:nvPr/>
        </p:nvSpPr>
        <p:spPr>
          <a:xfrm>
            <a:off x="1512689" y="2506501"/>
            <a:ext cx="6292572" cy="693420"/>
          </a:xfrm>
          <a:prstGeom prst="rect">
            <a:avLst/>
          </a:prstGeom>
          <a:noFill/>
          <a:ln/>
        </p:spPr>
        <p:txBody>
          <a:bodyPr wrap="square" lIns="0" tIns="0" rIns="0" bIns="0" rtlCol="0" anchor="t"/>
          <a:lstStyle/>
          <a:p>
            <a:pPr marL="285750" indent="-285750">
              <a:lnSpc>
                <a:spcPts val="2700"/>
              </a:lnSpc>
              <a:buFont typeface="Arial" panose="020B0604020202020204" pitchFamily="34" charset="0"/>
              <a:buChar char="•"/>
            </a:pPr>
            <a:r>
              <a:rPr lang="en-US" sz="2000" dirty="0">
                <a:solidFill>
                  <a:srgbClr val="EEEFF5"/>
                </a:solidFill>
                <a:latin typeface="Arial" panose="020B0604020202020204" pitchFamily="34" charset="0"/>
                <a:ea typeface="Montserrat" pitchFamily="34" charset="-122"/>
                <a:cs typeface="Arial" panose="020B0604020202020204" pitchFamily="34" charset="0"/>
              </a:rPr>
              <a:t>Existing sneaker stores often lack variety and offer a limited selection of brands and styles. </a:t>
            </a:r>
            <a:r>
              <a:rPr lang="en-GB" sz="2000" dirty="0">
                <a:solidFill>
                  <a:srgbClr val="EEEFF5"/>
                </a:solidFill>
                <a:latin typeface="Arial" panose="020B0604020202020204" pitchFamily="34" charset="0"/>
                <a:ea typeface="Montserrat" pitchFamily="34" charset="-122"/>
                <a:cs typeface="Arial" panose="020B0604020202020204" pitchFamily="34" charset="0"/>
              </a:rPr>
              <a:t>This makes it difficult for sneaker lovers to find the perfect shoes.</a:t>
            </a:r>
            <a:endParaRPr lang="en-US" sz="2000" dirty="0">
              <a:latin typeface="Arial" panose="020B0604020202020204" pitchFamily="34" charset="0"/>
              <a:cs typeface="Arial" panose="020B0604020202020204" pitchFamily="34" charset="0"/>
            </a:endParaRPr>
          </a:p>
        </p:txBody>
      </p:sp>
      <p:pic>
        <p:nvPicPr>
          <p:cNvPr id="7" name="Kép 6">
            <a:extLst>
              <a:ext uri="{FF2B5EF4-FFF2-40B4-BE49-F238E27FC236}">
                <a16:creationId xmlns:a16="http://schemas.microsoft.com/office/drawing/2014/main" id="{EDFA0871-033E-83DC-3691-73A0B9FB590B}"/>
              </a:ext>
            </a:extLst>
          </p:cNvPr>
          <p:cNvPicPr>
            <a:picLocks noChangeAspect="1"/>
          </p:cNvPicPr>
          <p:nvPr/>
        </p:nvPicPr>
        <p:blipFill>
          <a:blip r:embed="rId3"/>
          <a:stretch>
            <a:fillRect/>
          </a:stretch>
        </p:blipFill>
        <p:spPr>
          <a:xfrm>
            <a:off x="12697762" y="7711440"/>
            <a:ext cx="1932638" cy="462745"/>
          </a:xfrm>
          <a:prstGeom prst="rect">
            <a:avLst/>
          </a:prstGeom>
        </p:spPr>
      </p:pic>
      <p:sp>
        <p:nvSpPr>
          <p:cNvPr id="8" name="Text 3">
            <a:extLst>
              <a:ext uri="{FF2B5EF4-FFF2-40B4-BE49-F238E27FC236}">
                <a16:creationId xmlns:a16="http://schemas.microsoft.com/office/drawing/2014/main" id="{EB6AA79C-0AF5-1EC5-C8E8-764CA892416A}"/>
              </a:ext>
            </a:extLst>
          </p:cNvPr>
          <p:cNvSpPr/>
          <p:nvPr/>
        </p:nvSpPr>
        <p:spPr>
          <a:xfrm>
            <a:off x="7805261" y="3758565"/>
            <a:ext cx="2850713" cy="356235"/>
          </a:xfrm>
          <a:prstGeom prst="rect">
            <a:avLst/>
          </a:prstGeom>
          <a:noFill/>
          <a:ln/>
        </p:spPr>
        <p:txBody>
          <a:bodyPr wrap="none" lIns="0" tIns="0" rIns="0" bIns="0" rtlCol="0" anchor="t"/>
          <a:lstStyle/>
          <a:p>
            <a:pPr marL="0" indent="0">
              <a:lnSpc>
                <a:spcPts val="2800"/>
              </a:lnSpc>
              <a:buNone/>
            </a:pPr>
            <a:r>
              <a:rPr lang="hu-HU" sz="2400" b="1" dirty="0" err="1">
                <a:solidFill>
                  <a:srgbClr val="9998FF"/>
                </a:solidFill>
                <a:latin typeface="Arial" panose="020B0604020202020204" pitchFamily="34" charset="0"/>
                <a:ea typeface="Barlow Bold" pitchFamily="34" charset="-122"/>
                <a:cs typeface="Arial" panose="020B0604020202020204" pitchFamily="34" charset="0"/>
              </a:rPr>
              <a:t>High</a:t>
            </a:r>
            <a:r>
              <a:rPr lang="hu-HU" sz="2400" b="1" dirty="0">
                <a:solidFill>
                  <a:srgbClr val="9998FF"/>
                </a:solidFill>
                <a:latin typeface="Arial" panose="020B0604020202020204" pitchFamily="34" charset="0"/>
                <a:ea typeface="Barlow Bold" pitchFamily="34" charset="-122"/>
                <a:cs typeface="Arial" panose="020B0604020202020204" pitchFamily="34" charset="0"/>
              </a:rPr>
              <a:t> </a:t>
            </a:r>
            <a:r>
              <a:rPr lang="hu-HU" sz="2400" b="1" dirty="0" err="1">
                <a:solidFill>
                  <a:srgbClr val="9998FF"/>
                </a:solidFill>
                <a:latin typeface="Arial" panose="020B0604020202020204" pitchFamily="34" charset="0"/>
                <a:ea typeface="Barlow Bold" pitchFamily="34" charset="-122"/>
                <a:cs typeface="Arial" panose="020B0604020202020204" pitchFamily="34" charset="0"/>
              </a:rPr>
              <a:t>fees</a:t>
            </a:r>
            <a:endParaRPr lang="en-US" sz="2400" dirty="0">
              <a:latin typeface="Arial" panose="020B0604020202020204" pitchFamily="34" charset="0"/>
              <a:cs typeface="Arial" panose="020B0604020202020204" pitchFamily="34" charset="0"/>
            </a:endParaRPr>
          </a:p>
        </p:txBody>
      </p:sp>
      <p:sp>
        <p:nvSpPr>
          <p:cNvPr id="9" name="Text 4">
            <a:extLst>
              <a:ext uri="{FF2B5EF4-FFF2-40B4-BE49-F238E27FC236}">
                <a16:creationId xmlns:a16="http://schemas.microsoft.com/office/drawing/2014/main" id="{7FCC82CE-7114-B2E9-6CAE-933AE6A8E0D3}"/>
              </a:ext>
            </a:extLst>
          </p:cNvPr>
          <p:cNvSpPr/>
          <p:nvPr/>
        </p:nvSpPr>
        <p:spPr>
          <a:xfrm>
            <a:off x="7805261" y="4331374"/>
            <a:ext cx="6292572" cy="1897976"/>
          </a:xfrm>
          <a:prstGeom prst="rect">
            <a:avLst/>
          </a:prstGeom>
          <a:noFill/>
          <a:ln/>
        </p:spPr>
        <p:txBody>
          <a:bodyPr wrap="square" lIns="0" tIns="0" rIns="0" bIns="0" rtlCol="0" anchor="t"/>
          <a:lstStyle/>
          <a:p>
            <a:pPr marL="342900" indent="-342900">
              <a:lnSpc>
                <a:spcPts val="2700"/>
              </a:lnSpc>
              <a:buFont typeface="Arial" panose="020B0604020202020204" pitchFamily="34" charset="0"/>
              <a:buChar char="•"/>
            </a:pPr>
            <a:r>
              <a:rPr lang="en-GB" sz="2000" dirty="0">
                <a:solidFill>
                  <a:srgbClr val="EEEFF5"/>
                </a:solidFill>
                <a:latin typeface="Arial" panose="020B0604020202020204" pitchFamily="34" charset="0"/>
                <a:ea typeface="Montserrat" pitchFamily="34" charset="-122"/>
                <a:cs typeface="Arial" panose="020B0604020202020204" pitchFamily="34" charset="0"/>
              </a:rPr>
              <a:t>Many online marketplaces charge significant fees for both buyers and sellers, especially when dealing with used sneakers. This increases the overall cost for buyers and reduces the profit for sellers, which makes the process less attractive.</a:t>
            </a:r>
            <a:endParaRPr lang="en-US" sz="2000" dirty="0">
              <a:latin typeface="Arial" panose="020B0604020202020204" pitchFamily="34" charset="0"/>
              <a:cs typeface="Arial" panose="020B0604020202020204" pitchFamily="34" charset="0"/>
            </a:endParaRPr>
          </a:p>
        </p:txBody>
      </p:sp>
      <p:sp>
        <p:nvSpPr>
          <p:cNvPr id="10" name="Text 3">
            <a:extLst>
              <a:ext uri="{FF2B5EF4-FFF2-40B4-BE49-F238E27FC236}">
                <a16:creationId xmlns:a16="http://schemas.microsoft.com/office/drawing/2014/main" id="{22E3AE91-B08F-7DC3-FF77-256DBFED718F}"/>
              </a:ext>
            </a:extLst>
          </p:cNvPr>
          <p:cNvSpPr/>
          <p:nvPr/>
        </p:nvSpPr>
        <p:spPr>
          <a:xfrm>
            <a:off x="1512689" y="5544981"/>
            <a:ext cx="2850713" cy="356235"/>
          </a:xfrm>
          <a:prstGeom prst="rect">
            <a:avLst/>
          </a:prstGeom>
          <a:noFill/>
          <a:ln/>
        </p:spPr>
        <p:txBody>
          <a:bodyPr wrap="none" lIns="0" tIns="0" rIns="0" bIns="0" rtlCol="0" anchor="t"/>
          <a:lstStyle/>
          <a:p>
            <a:pPr marL="0" indent="0">
              <a:lnSpc>
                <a:spcPts val="2800"/>
              </a:lnSpc>
              <a:buNone/>
            </a:pPr>
            <a:r>
              <a:rPr lang="hu-HU" sz="2400" b="1" dirty="0" err="1">
                <a:solidFill>
                  <a:srgbClr val="9998FF"/>
                </a:solidFill>
                <a:latin typeface="Arial" panose="020B0604020202020204" pitchFamily="34" charset="0"/>
                <a:ea typeface="Barlow Bold" pitchFamily="34" charset="-122"/>
                <a:cs typeface="Arial" panose="020B0604020202020204" pitchFamily="34" charset="0"/>
              </a:rPr>
              <a:t>Few</a:t>
            </a:r>
            <a:r>
              <a:rPr lang="hu-HU" sz="2400" b="1" dirty="0">
                <a:solidFill>
                  <a:srgbClr val="9998FF"/>
                </a:solidFill>
                <a:latin typeface="Arial" panose="020B0604020202020204" pitchFamily="34" charset="0"/>
                <a:ea typeface="Barlow Bold" pitchFamily="34" charset="-122"/>
                <a:cs typeface="Arial" panose="020B0604020202020204" pitchFamily="34" charset="0"/>
              </a:rPr>
              <a:t> </a:t>
            </a:r>
            <a:r>
              <a:rPr lang="hu-HU" sz="2400" b="1" dirty="0" err="1">
                <a:solidFill>
                  <a:srgbClr val="9998FF"/>
                </a:solidFill>
                <a:latin typeface="Arial" panose="020B0604020202020204" pitchFamily="34" charset="0"/>
                <a:ea typeface="Barlow Bold" pitchFamily="34" charset="-122"/>
                <a:cs typeface="Arial" panose="020B0604020202020204" pitchFamily="34" charset="0"/>
              </a:rPr>
              <a:t>platforms</a:t>
            </a:r>
            <a:endParaRPr lang="en-US" sz="2400" dirty="0">
              <a:latin typeface="Arial" panose="020B0604020202020204" pitchFamily="34" charset="0"/>
              <a:cs typeface="Arial" panose="020B0604020202020204" pitchFamily="34" charset="0"/>
            </a:endParaRPr>
          </a:p>
        </p:txBody>
      </p:sp>
      <p:sp>
        <p:nvSpPr>
          <p:cNvPr id="11" name="Text 4">
            <a:extLst>
              <a:ext uri="{FF2B5EF4-FFF2-40B4-BE49-F238E27FC236}">
                <a16:creationId xmlns:a16="http://schemas.microsoft.com/office/drawing/2014/main" id="{3A07BEB9-72DB-94F6-EADC-0D4A5C955A9F}"/>
              </a:ext>
            </a:extLst>
          </p:cNvPr>
          <p:cNvSpPr/>
          <p:nvPr/>
        </p:nvSpPr>
        <p:spPr>
          <a:xfrm>
            <a:off x="1512689" y="6117790"/>
            <a:ext cx="6292572" cy="1040130"/>
          </a:xfrm>
          <a:prstGeom prst="rect">
            <a:avLst/>
          </a:prstGeom>
          <a:noFill/>
          <a:ln/>
        </p:spPr>
        <p:txBody>
          <a:bodyPr wrap="square" lIns="0" tIns="0" rIns="0" bIns="0" rtlCol="0" anchor="t"/>
          <a:lstStyle/>
          <a:p>
            <a:pPr marL="285750" indent="-285750">
              <a:lnSpc>
                <a:spcPts val="2700"/>
              </a:lnSpc>
              <a:buFont typeface="Arial" panose="020B0604020202020204" pitchFamily="34" charset="0"/>
              <a:buChar char="•"/>
            </a:pPr>
            <a:r>
              <a:rPr lang="en-US" sz="2000" dirty="0">
                <a:solidFill>
                  <a:srgbClr val="EEEFF5"/>
                </a:solidFill>
                <a:latin typeface="Arial" panose="020B0604020202020204" pitchFamily="34" charset="0"/>
                <a:ea typeface="Montserrat" pitchFamily="34" charset="-122"/>
                <a:cs typeface="Arial" panose="020B0604020202020204" pitchFamily="34" charset="0"/>
              </a:rPr>
              <a:t>There are few platforms that are easy for resellers to use and where used shoes can be sold easily.</a:t>
            </a:r>
            <a:endParaRPr lang="en-US" sz="2000" dirty="0">
              <a:latin typeface="Arial" panose="020B0604020202020204" pitchFamily="34" charset="0"/>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7457241" y="391240"/>
            <a:ext cx="6027420" cy="712708"/>
          </a:xfrm>
          <a:prstGeom prst="rect">
            <a:avLst/>
          </a:prstGeom>
          <a:noFill/>
          <a:ln/>
        </p:spPr>
        <p:txBody>
          <a:bodyPr wrap="none" lIns="0" tIns="0" rIns="0" bIns="0" rtlCol="0" anchor="t"/>
          <a:lstStyle/>
          <a:p>
            <a:pPr marL="0" indent="0">
              <a:lnSpc>
                <a:spcPts val="5600"/>
              </a:lnSpc>
              <a:buNone/>
            </a:pPr>
            <a:r>
              <a:rPr lang="en-US" sz="4450" b="1" dirty="0">
                <a:solidFill>
                  <a:srgbClr val="9998FF"/>
                </a:solidFill>
                <a:latin typeface="Arial" panose="020B0604020202020204" pitchFamily="34" charset="0"/>
                <a:ea typeface="Barlow Bold" pitchFamily="34" charset="-122"/>
                <a:cs typeface="Arial" panose="020B0604020202020204" pitchFamily="34" charset="0"/>
              </a:rPr>
              <a:t>Sneak</a:t>
            </a:r>
            <a:r>
              <a:rPr lang="hu-HU" sz="4450" b="1" dirty="0" err="1">
                <a:solidFill>
                  <a:srgbClr val="9998FF"/>
                </a:solidFill>
                <a:latin typeface="Arial" panose="020B0604020202020204" pitchFamily="34" charset="0"/>
                <a:ea typeface="Barlow Bold" pitchFamily="34" charset="-122"/>
                <a:cs typeface="Arial" panose="020B0604020202020204" pitchFamily="34" charset="0"/>
              </a:rPr>
              <a:t>R’s</a:t>
            </a:r>
            <a:r>
              <a:rPr lang="hu-HU" sz="4450" b="1" dirty="0">
                <a:solidFill>
                  <a:srgbClr val="9998FF"/>
                </a:solidFill>
                <a:latin typeface="Arial" panose="020B0604020202020204" pitchFamily="34" charset="0"/>
                <a:ea typeface="Barlow Bold" pitchFamily="34" charset="-122"/>
                <a:cs typeface="Arial" panose="020B0604020202020204" pitchFamily="34" charset="0"/>
              </a:rPr>
              <a:t> </a:t>
            </a:r>
            <a:r>
              <a:rPr lang="hu-HU" sz="4450" b="1" dirty="0" err="1">
                <a:solidFill>
                  <a:srgbClr val="9998FF"/>
                </a:solidFill>
                <a:latin typeface="Arial" panose="020B0604020202020204" pitchFamily="34" charset="0"/>
                <a:ea typeface="Barlow Bold" pitchFamily="34" charset="-122"/>
                <a:cs typeface="Arial" panose="020B0604020202020204" pitchFamily="34" charset="0"/>
              </a:rPr>
              <a:t>solution</a:t>
            </a:r>
            <a:endParaRPr lang="en-US" sz="4450" dirty="0">
              <a:latin typeface="Arial" panose="020B0604020202020204" pitchFamily="34" charset="0"/>
              <a:cs typeface="Arial" panose="020B0604020202020204" pitchFamily="34" charset="0"/>
            </a:endParaRPr>
          </a:p>
        </p:txBody>
      </p:sp>
      <p:sp>
        <p:nvSpPr>
          <p:cNvPr id="4" name="Shape 1"/>
          <p:cNvSpPr/>
          <p:nvPr/>
        </p:nvSpPr>
        <p:spPr>
          <a:xfrm>
            <a:off x="6244709" y="1559362"/>
            <a:ext cx="487442" cy="487442"/>
          </a:xfrm>
          <a:prstGeom prst="roundRect">
            <a:avLst>
              <a:gd name="adj" fmla="val 40004"/>
            </a:avLst>
          </a:prstGeom>
          <a:solidFill>
            <a:srgbClr val="282C32"/>
          </a:solidFill>
          <a:ln/>
          <a:effectLst>
            <a:outerShdw blurRad="53340" dist="26670" dir="13500000" algn="bl" rotWithShape="0">
              <a:srgbClr val="FFFFFF">
                <a:alpha val="10000"/>
              </a:srgbClr>
            </a:outerShdw>
          </a:effectLst>
        </p:spPr>
      </p:sp>
      <p:sp>
        <p:nvSpPr>
          <p:cNvPr id="5" name="Text 2"/>
          <p:cNvSpPr/>
          <p:nvPr/>
        </p:nvSpPr>
        <p:spPr>
          <a:xfrm>
            <a:off x="6427827" y="1631990"/>
            <a:ext cx="121087" cy="342067"/>
          </a:xfrm>
          <a:prstGeom prst="rect">
            <a:avLst/>
          </a:prstGeom>
          <a:noFill/>
          <a:ln/>
        </p:spPr>
        <p:txBody>
          <a:bodyPr wrap="none" lIns="0" tIns="0" rIns="0" bIns="0" rtlCol="0" anchor="t"/>
          <a:lstStyle/>
          <a:p>
            <a:pPr marL="0" indent="0" algn="ctr">
              <a:lnSpc>
                <a:spcPts val="2650"/>
              </a:lnSpc>
              <a:buNone/>
            </a:pPr>
            <a:r>
              <a:rPr lang="en-US" sz="2650" b="1" dirty="0">
                <a:solidFill>
                  <a:srgbClr val="EEEFF5"/>
                </a:solidFill>
                <a:latin typeface="Arial" panose="020B0604020202020204" pitchFamily="34" charset="0"/>
                <a:ea typeface="Barlow Bold" pitchFamily="34" charset="-122"/>
                <a:cs typeface="Arial" panose="020B0604020202020204" pitchFamily="34" charset="0"/>
              </a:rPr>
              <a:t>1</a:t>
            </a:r>
            <a:endParaRPr lang="en-US" sz="2650" dirty="0">
              <a:latin typeface="Arial" panose="020B0604020202020204" pitchFamily="34" charset="0"/>
              <a:cs typeface="Arial" panose="020B0604020202020204" pitchFamily="34" charset="0"/>
            </a:endParaRPr>
          </a:p>
        </p:txBody>
      </p:sp>
      <p:sp>
        <p:nvSpPr>
          <p:cNvPr id="6" name="Text 3"/>
          <p:cNvSpPr/>
          <p:nvPr/>
        </p:nvSpPr>
        <p:spPr>
          <a:xfrm>
            <a:off x="6948726" y="1559362"/>
            <a:ext cx="3001447" cy="712470"/>
          </a:xfrm>
          <a:prstGeom prst="rect">
            <a:avLst/>
          </a:prstGeom>
          <a:noFill/>
          <a:ln/>
        </p:spPr>
        <p:txBody>
          <a:bodyPr wrap="square" lIns="0" tIns="0" rIns="0" bIns="0" rtlCol="0" anchor="t"/>
          <a:lstStyle/>
          <a:p>
            <a:pPr marL="0" indent="0">
              <a:lnSpc>
                <a:spcPts val="2800"/>
              </a:lnSpc>
              <a:buNone/>
            </a:pPr>
            <a:r>
              <a:rPr lang="en-US" sz="2400" b="1" dirty="0">
                <a:solidFill>
                  <a:srgbClr val="EEEFF5"/>
                </a:solidFill>
                <a:latin typeface="Arial" panose="020B0604020202020204" pitchFamily="34" charset="0"/>
                <a:ea typeface="Barlow Bold" pitchFamily="34" charset="-122"/>
                <a:cs typeface="Arial" panose="020B0604020202020204" pitchFamily="34" charset="0"/>
              </a:rPr>
              <a:t>Comprehensive Selection</a:t>
            </a:r>
            <a:endParaRPr lang="en-US" sz="2400" dirty="0">
              <a:latin typeface="Arial" panose="020B0604020202020204" pitchFamily="34" charset="0"/>
              <a:cs typeface="Arial" panose="020B0604020202020204" pitchFamily="34" charset="0"/>
            </a:endParaRPr>
          </a:p>
        </p:txBody>
      </p:sp>
      <p:sp>
        <p:nvSpPr>
          <p:cNvPr id="7" name="Text 4"/>
          <p:cNvSpPr/>
          <p:nvPr/>
        </p:nvSpPr>
        <p:spPr>
          <a:xfrm>
            <a:off x="6948726" y="2401729"/>
            <a:ext cx="3001447" cy="1733550"/>
          </a:xfrm>
          <a:prstGeom prst="rect">
            <a:avLst/>
          </a:prstGeom>
          <a:noFill/>
          <a:ln/>
        </p:spPr>
        <p:txBody>
          <a:bodyPr wrap="square" lIns="0" tIns="0" rIns="0" bIns="0" rtlCol="0" anchor="t"/>
          <a:lstStyle/>
          <a:p>
            <a:pPr marL="0" indent="0">
              <a:lnSpc>
                <a:spcPts val="2700"/>
              </a:lnSpc>
              <a:buNone/>
            </a:pPr>
            <a:r>
              <a:rPr lang="en-US" sz="2000" dirty="0">
                <a:solidFill>
                  <a:srgbClr val="EEEFF5"/>
                </a:solidFill>
                <a:latin typeface="Arial" panose="020B0604020202020204" pitchFamily="34" charset="0"/>
                <a:ea typeface="Montserrat" pitchFamily="34" charset="-122"/>
                <a:cs typeface="Arial" panose="020B0604020202020204" pitchFamily="34" charset="0"/>
              </a:rPr>
              <a:t>Our platform offers a wide range of popular brands, ensuring customers find their perfect match.</a:t>
            </a:r>
            <a:endParaRPr lang="en-US" sz="2000" dirty="0">
              <a:latin typeface="Arial" panose="020B0604020202020204" pitchFamily="34" charset="0"/>
              <a:cs typeface="Arial" panose="020B0604020202020204" pitchFamily="34" charset="0"/>
            </a:endParaRPr>
          </a:p>
        </p:txBody>
      </p:sp>
      <p:sp>
        <p:nvSpPr>
          <p:cNvPr id="8" name="Shape 5"/>
          <p:cNvSpPr/>
          <p:nvPr/>
        </p:nvSpPr>
        <p:spPr>
          <a:xfrm>
            <a:off x="10166747" y="1559362"/>
            <a:ext cx="487442" cy="487442"/>
          </a:xfrm>
          <a:prstGeom prst="roundRect">
            <a:avLst>
              <a:gd name="adj" fmla="val 40004"/>
            </a:avLst>
          </a:prstGeom>
          <a:solidFill>
            <a:srgbClr val="282C32"/>
          </a:solidFill>
          <a:ln/>
          <a:effectLst>
            <a:outerShdw blurRad="53340" dist="26670" dir="13500000" algn="bl" rotWithShape="0">
              <a:srgbClr val="FFFFFF">
                <a:alpha val="10000"/>
              </a:srgbClr>
            </a:outerShdw>
          </a:effectLst>
        </p:spPr>
      </p:sp>
      <p:sp>
        <p:nvSpPr>
          <p:cNvPr id="9" name="Text 6"/>
          <p:cNvSpPr/>
          <p:nvPr/>
        </p:nvSpPr>
        <p:spPr>
          <a:xfrm>
            <a:off x="10314623" y="1631990"/>
            <a:ext cx="191572" cy="342067"/>
          </a:xfrm>
          <a:prstGeom prst="rect">
            <a:avLst/>
          </a:prstGeom>
          <a:noFill/>
          <a:ln/>
        </p:spPr>
        <p:txBody>
          <a:bodyPr wrap="none" lIns="0" tIns="0" rIns="0" bIns="0" rtlCol="0" anchor="t"/>
          <a:lstStyle/>
          <a:p>
            <a:pPr marL="0" indent="0" algn="ctr">
              <a:lnSpc>
                <a:spcPts val="2650"/>
              </a:lnSpc>
              <a:buNone/>
            </a:pPr>
            <a:r>
              <a:rPr lang="en-US" sz="2650" b="1" dirty="0">
                <a:solidFill>
                  <a:srgbClr val="EEEFF5"/>
                </a:solidFill>
                <a:latin typeface="Arial" panose="020B0604020202020204" pitchFamily="34" charset="0"/>
                <a:ea typeface="Barlow Bold" pitchFamily="34" charset="-122"/>
                <a:cs typeface="Arial" panose="020B0604020202020204" pitchFamily="34" charset="0"/>
              </a:rPr>
              <a:t>2</a:t>
            </a:r>
            <a:endParaRPr lang="en-US" sz="2650" dirty="0">
              <a:latin typeface="Arial" panose="020B0604020202020204" pitchFamily="34" charset="0"/>
              <a:cs typeface="Arial" panose="020B0604020202020204" pitchFamily="34" charset="0"/>
            </a:endParaRPr>
          </a:p>
        </p:txBody>
      </p:sp>
      <p:sp>
        <p:nvSpPr>
          <p:cNvPr id="10" name="Text 7"/>
          <p:cNvSpPr/>
          <p:nvPr/>
        </p:nvSpPr>
        <p:spPr>
          <a:xfrm>
            <a:off x="10870763" y="1559362"/>
            <a:ext cx="3001447" cy="712470"/>
          </a:xfrm>
          <a:prstGeom prst="rect">
            <a:avLst/>
          </a:prstGeom>
          <a:noFill/>
          <a:ln/>
        </p:spPr>
        <p:txBody>
          <a:bodyPr wrap="square" lIns="0" tIns="0" rIns="0" bIns="0" rtlCol="0" anchor="t"/>
          <a:lstStyle/>
          <a:p>
            <a:pPr marL="0" indent="0">
              <a:lnSpc>
                <a:spcPts val="2800"/>
              </a:lnSpc>
              <a:buNone/>
            </a:pPr>
            <a:r>
              <a:rPr lang="hu-HU" sz="2400" b="1" dirty="0">
                <a:solidFill>
                  <a:srgbClr val="EEEFF5"/>
                </a:solidFill>
                <a:latin typeface="Arial" panose="020B0604020202020204" pitchFamily="34" charset="0"/>
                <a:ea typeface="Barlow Bold" pitchFamily="34" charset="-122"/>
                <a:cs typeface="Arial" panose="020B0604020202020204" pitchFamily="34" charset="0"/>
              </a:rPr>
              <a:t>Low </a:t>
            </a:r>
            <a:r>
              <a:rPr lang="hu-HU" sz="2400" b="1" dirty="0" err="1">
                <a:solidFill>
                  <a:srgbClr val="EEEFF5"/>
                </a:solidFill>
                <a:latin typeface="Arial" panose="020B0604020202020204" pitchFamily="34" charset="0"/>
                <a:ea typeface="Barlow Bold" pitchFamily="34" charset="-122"/>
                <a:cs typeface="Arial" panose="020B0604020202020204" pitchFamily="34" charset="0"/>
              </a:rPr>
              <a:t>fees</a:t>
            </a:r>
            <a:endParaRPr lang="en-US" sz="2400" dirty="0">
              <a:latin typeface="Arial" panose="020B0604020202020204" pitchFamily="34" charset="0"/>
              <a:cs typeface="Arial" panose="020B0604020202020204" pitchFamily="34" charset="0"/>
            </a:endParaRPr>
          </a:p>
        </p:txBody>
      </p:sp>
      <p:sp>
        <p:nvSpPr>
          <p:cNvPr id="11" name="Text 8"/>
          <p:cNvSpPr/>
          <p:nvPr/>
        </p:nvSpPr>
        <p:spPr>
          <a:xfrm>
            <a:off x="10870763" y="2401729"/>
            <a:ext cx="3001447" cy="1733550"/>
          </a:xfrm>
          <a:prstGeom prst="rect">
            <a:avLst/>
          </a:prstGeom>
          <a:noFill/>
          <a:ln/>
        </p:spPr>
        <p:txBody>
          <a:bodyPr wrap="square" lIns="0" tIns="0" rIns="0" bIns="0" rtlCol="0" anchor="t"/>
          <a:lstStyle/>
          <a:p>
            <a:pPr marL="0" indent="0">
              <a:lnSpc>
                <a:spcPts val="2700"/>
              </a:lnSpc>
              <a:buNone/>
            </a:pPr>
            <a:r>
              <a:rPr lang="en-GB" sz="2000" dirty="0">
                <a:solidFill>
                  <a:srgbClr val="EEEFF5"/>
                </a:solidFill>
                <a:latin typeface="Arial" panose="020B0604020202020204" pitchFamily="34" charset="0"/>
                <a:ea typeface="Montserrat" pitchFamily="34" charset="-122"/>
                <a:cs typeface="Arial" panose="020B0604020202020204" pitchFamily="34" charset="0"/>
              </a:rPr>
              <a:t>While many platforms charge hefty transaction fees, </a:t>
            </a:r>
            <a:r>
              <a:rPr lang="en-GB" sz="2000" dirty="0" err="1">
                <a:solidFill>
                  <a:srgbClr val="EEEFF5"/>
                </a:solidFill>
                <a:latin typeface="Arial" panose="020B0604020202020204" pitchFamily="34" charset="0"/>
                <a:ea typeface="Montserrat" pitchFamily="34" charset="-122"/>
                <a:cs typeface="Arial" panose="020B0604020202020204" pitchFamily="34" charset="0"/>
              </a:rPr>
              <a:t>SneakR</a:t>
            </a:r>
            <a:r>
              <a:rPr lang="en-GB" sz="2000" dirty="0">
                <a:solidFill>
                  <a:srgbClr val="EEEFF5"/>
                </a:solidFill>
                <a:latin typeface="Arial" panose="020B0604020202020204" pitchFamily="34" charset="0"/>
                <a:ea typeface="Montserrat" pitchFamily="34" charset="-122"/>
                <a:cs typeface="Arial" panose="020B0604020202020204" pitchFamily="34" charset="0"/>
              </a:rPr>
              <a:t> generates revenue primarily through advertisements, allowing us to drastically reduce fees.</a:t>
            </a:r>
            <a:endParaRPr lang="en-US" sz="2000" dirty="0">
              <a:latin typeface="Arial" panose="020B0604020202020204" pitchFamily="34" charset="0"/>
              <a:cs typeface="Arial" panose="020B0604020202020204" pitchFamily="34" charset="0"/>
            </a:endParaRPr>
          </a:p>
        </p:txBody>
      </p:sp>
      <p:sp>
        <p:nvSpPr>
          <p:cNvPr id="12" name="Shape 9"/>
          <p:cNvSpPr/>
          <p:nvPr/>
        </p:nvSpPr>
        <p:spPr>
          <a:xfrm>
            <a:off x="6244709" y="4595575"/>
            <a:ext cx="487442" cy="487442"/>
          </a:xfrm>
          <a:prstGeom prst="roundRect">
            <a:avLst>
              <a:gd name="adj" fmla="val 40004"/>
            </a:avLst>
          </a:prstGeom>
          <a:solidFill>
            <a:srgbClr val="282C32"/>
          </a:solidFill>
          <a:ln/>
          <a:effectLst>
            <a:outerShdw blurRad="53340" dist="26670" dir="13500000" algn="bl" rotWithShape="0">
              <a:srgbClr val="FFFFFF">
                <a:alpha val="10000"/>
              </a:srgbClr>
            </a:outerShdw>
          </a:effectLst>
        </p:spPr>
      </p:sp>
      <p:sp>
        <p:nvSpPr>
          <p:cNvPr id="13" name="Text 10"/>
          <p:cNvSpPr/>
          <p:nvPr/>
        </p:nvSpPr>
        <p:spPr>
          <a:xfrm>
            <a:off x="6396037" y="4668203"/>
            <a:ext cx="184666" cy="342067"/>
          </a:xfrm>
          <a:prstGeom prst="rect">
            <a:avLst/>
          </a:prstGeom>
          <a:noFill/>
          <a:ln/>
        </p:spPr>
        <p:txBody>
          <a:bodyPr wrap="none" lIns="0" tIns="0" rIns="0" bIns="0" rtlCol="0" anchor="t"/>
          <a:lstStyle/>
          <a:p>
            <a:pPr marL="0" indent="0" algn="ctr">
              <a:lnSpc>
                <a:spcPts val="2650"/>
              </a:lnSpc>
              <a:buNone/>
            </a:pPr>
            <a:r>
              <a:rPr lang="en-US" sz="2650" b="1" dirty="0">
                <a:solidFill>
                  <a:srgbClr val="EEEFF5"/>
                </a:solidFill>
                <a:latin typeface="Arial" panose="020B0604020202020204" pitchFamily="34" charset="0"/>
                <a:ea typeface="Barlow Bold" pitchFamily="34" charset="-122"/>
                <a:cs typeface="Arial" panose="020B0604020202020204" pitchFamily="34" charset="0"/>
              </a:rPr>
              <a:t>3</a:t>
            </a:r>
            <a:endParaRPr lang="en-US" sz="2650" dirty="0">
              <a:latin typeface="Arial" panose="020B0604020202020204" pitchFamily="34" charset="0"/>
              <a:cs typeface="Arial" panose="020B0604020202020204" pitchFamily="34" charset="0"/>
            </a:endParaRPr>
          </a:p>
        </p:txBody>
      </p:sp>
      <p:pic>
        <p:nvPicPr>
          <p:cNvPr id="16" name="Kép 15">
            <a:extLst>
              <a:ext uri="{FF2B5EF4-FFF2-40B4-BE49-F238E27FC236}">
                <a16:creationId xmlns:a16="http://schemas.microsoft.com/office/drawing/2014/main" id="{5FB6D6B3-35F3-59A5-ADE8-30F6606D4A2D}"/>
              </a:ext>
            </a:extLst>
          </p:cNvPr>
          <p:cNvPicPr>
            <a:picLocks noChangeAspect="1"/>
          </p:cNvPicPr>
          <p:nvPr/>
        </p:nvPicPr>
        <p:blipFill>
          <a:blip r:embed="rId4"/>
          <a:stretch>
            <a:fillRect/>
          </a:stretch>
        </p:blipFill>
        <p:spPr>
          <a:xfrm>
            <a:off x="12697762" y="7635240"/>
            <a:ext cx="1932638" cy="462745"/>
          </a:xfrm>
          <a:prstGeom prst="rect">
            <a:avLst/>
          </a:prstGeom>
        </p:spPr>
      </p:pic>
      <p:sp>
        <p:nvSpPr>
          <p:cNvPr id="24" name="Text 3">
            <a:extLst>
              <a:ext uri="{FF2B5EF4-FFF2-40B4-BE49-F238E27FC236}">
                <a16:creationId xmlns:a16="http://schemas.microsoft.com/office/drawing/2014/main" id="{0D221B08-DE5A-AD53-294A-598DB546BA9E}"/>
              </a:ext>
            </a:extLst>
          </p:cNvPr>
          <p:cNvSpPr/>
          <p:nvPr/>
        </p:nvSpPr>
        <p:spPr>
          <a:xfrm>
            <a:off x="6948726" y="4600338"/>
            <a:ext cx="3001447" cy="712470"/>
          </a:xfrm>
          <a:prstGeom prst="rect">
            <a:avLst/>
          </a:prstGeom>
          <a:noFill/>
          <a:ln/>
        </p:spPr>
        <p:txBody>
          <a:bodyPr wrap="square" lIns="0" tIns="0" rIns="0" bIns="0" rtlCol="0" anchor="t"/>
          <a:lstStyle/>
          <a:p>
            <a:pPr marL="0" indent="0">
              <a:lnSpc>
                <a:spcPts val="2800"/>
              </a:lnSpc>
              <a:buNone/>
            </a:pPr>
            <a:r>
              <a:rPr lang="hu-HU" sz="2200" b="1" dirty="0" err="1">
                <a:solidFill>
                  <a:srgbClr val="EEEFF5"/>
                </a:solidFill>
                <a:latin typeface="Arial" panose="020B0604020202020204" pitchFamily="34" charset="0"/>
                <a:cs typeface="Arial" panose="020B0604020202020204" pitchFamily="34" charset="0"/>
              </a:rPr>
              <a:t>Our</a:t>
            </a:r>
            <a:r>
              <a:rPr lang="hu-HU" sz="2200" b="1" dirty="0">
                <a:solidFill>
                  <a:srgbClr val="EEEFF5"/>
                </a:solidFill>
                <a:latin typeface="Arial" panose="020B0604020202020204" pitchFamily="34" charset="0"/>
                <a:cs typeface="Arial" panose="020B0604020202020204" pitchFamily="34" charset="0"/>
              </a:rPr>
              <a:t> platform</a:t>
            </a:r>
            <a:endParaRPr lang="en-US" sz="2200" dirty="0">
              <a:latin typeface="Arial" panose="020B0604020202020204" pitchFamily="34" charset="0"/>
              <a:cs typeface="Arial" panose="020B0604020202020204" pitchFamily="34" charset="0"/>
            </a:endParaRPr>
          </a:p>
        </p:txBody>
      </p:sp>
      <p:sp>
        <p:nvSpPr>
          <p:cNvPr id="25" name="Text 4">
            <a:extLst>
              <a:ext uri="{FF2B5EF4-FFF2-40B4-BE49-F238E27FC236}">
                <a16:creationId xmlns:a16="http://schemas.microsoft.com/office/drawing/2014/main" id="{44000E63-C3C1-2397-173B-1F37ED3418E2}"/>
              </a:ext>
            </a:extLst>
          </p:cNvPr>
          <p:cNvSpPr/>
          <p:nvPr/>
        </p:nvSpPr>
        <p:spPr>
          <a:xfrm>
            <a:off x="6958183" y="5437942"/>
            <a:ext cx="3001447" cy="1733550"/>
          </a:xfrm>
          <a:prstGeom prst="rect">
            <a:avLst/>
          </a:prstGeom>
          <a:noFill/>
          <a:ln/>
        </p:spPr>
        <p:txBody>
          <a:bodyPr wrap="square" lIns="0" tIns="0" rIns="0" bIns="0" rtlCol="0" anchor="t"/>
          <a:lstStyle/>
          <a:p>
            <a:pPr marL="0" indent="0">
              <a:lnSpc>
                <a:spcPts val="2700"/>
              </a:lnSpc>
              <a:buNone/>
            </a:pPr>
            <a:r>
              <a:rPr lang="en-US" sz="2000" dirty="0">
                <a:solidFill>
                  <a:srgbClr val="EEEFF5"/>
                </a:solidFill>
                <a:latin typeface="Arial" panose="020B0604020202020204" pitchFamily="34" charset="0"/>
                <a:ea typeface="Montserrat" pitchFamily="34" charset="-122"/>
                <a:cs typeface="Arial" panose="020B0604020202020204" pitchFamily="34" charset="0"/>
              </a:rPr>
              <a:t>We are the only platform </a:t>
            </a:r>
            <a:r>
              <a:rPr lang="hu-HU" sz="2000" dirty="0" err="1">
                <a:solidFill>
                  <a:srgbClr val="EEEFF5"/>
                </a:solidFill>
                <a:latin typeface="Arial" panose="020B0604020202020204" pitchFamily="34" charset="0"/>
                <a:ea typeface="Montserrat" pitchFamily="34" charset="-122"/>
                <a:cs typeface="Arial" panose="020B0604020202020204" pitchFamily="34" charset="0"/>
              </a:rPr>
              <a:t>where</a:t>
            </a:r>
            <a:r>
              <a:rPr lang="hu-HU" sz="2000" dirty="0">
                <a:solidFill>
                  <a:srgbClr val="EEEFF5"/>
                </a:solidFill>
                <a:latin typeface="Arial" panose="020B0604020202020204" pitchFamily="34" charset="0"/>
                <a:ea typeface="Montserrat" pitchFamily="34" charset="-122"/>
                <a:cs typeface="Arial" panose="020B0604020202020204" pitchFamily="34" charset="0"/>
              </a:rPr>
              <a:t> </a:t>
            </a:r>
            <a:r>
              <a:rPr lang="hu-HU" sz="2000" dirty="0" err="1">
                <a:solidFill>
                  <a:srgbClr val="EEEFF5"/>
                </a:solidFill>
                <a:latin typeface="Arial" panose="020B0604020202020204" pitchFamily="34" charset="0"/>
                <a:ea typeface="Montserrat" pitchFamily="34" charset="-122"/>
                <a:cs typeface="Arial" panose="020B0604020202020204" pitchFamily="34" charset="0"/>
              </a:rPr>
              <a:t>you</a:t>
            </a:r>
            <a:r>
              <a:rPr lang="hu-HU" sz="2000" dirty="0">
                <a:solidFill>
                  <a:srgbClr val="EEEFF5"/>
                </a:solidFill>
                <a:latin typeface="Arial" panose="020B0604020202020204" pitchFamily="34" charset="0"/>
                <a:ea typeface="Montserrat" pitchFamily="34" charset="-122"/>
                <a:cs typeface="Arial" panose="020B0604020202020204" pitchFamily="34" charset="0"/>
              </a:rPr>
              <a:t> </a:t>
            </a:r>
            <a:r>
              <a:rPr lang="hu-HU" sz="2000" dirty="0" err="1">
                <a:solidFill>
                  <a:srgbClr val="EEEFF5"/>
                </a:solidFill>
                <a:latin typeface="Arial" panose="020B0604020202020204" pitchFamily="34" charset="0"/>
                <a:ea typeface="Montserrat" pitchFamily="34" charset="-122"/>
                <a:cs typeface="Arial" panose="020B0604020202020204" pitchFamily="34" charset="0"/>
              </a:rPr>
              <a:t>can</a:t>
            </a:r>
            <a:r>
              <a:rPr lang="hu-HU" sz="2000" dirty="0">
                <a:solidFill>
                  <a:srgbClr val="EEEFF5"/>
                </a:solidFill>
                <a:latin typeface="Arial" panose="020B0604020202020204" pitchFamily="34" charset="0"/>
                <a:ea typeface="Montserrat" pitchFamily="34" charset="-122"/>
                <a:cs typeface="Arial" panose="020B0604020202020204" pitchFamily="34" charset="0"/>
              </a:rPr>
              <a:t> </a:t>
            </a:r>
            <a:r>
              <a:rPr lang="hu-HU" sz="2000" dirty="0" err="1">
                <a:solidFill>
                  <a:srgbClr val="EEEFF5"/>
                </a:solidFill>
                <a:latin typeface="Arial" panose="020B0604020202020204" pitchFamily="34" charset="0"/>
                <a:ea typeface="Montserrat" pitchFamily="34" charset="-122"/>
                <a:cs typeface="Arial" panose="020B0604020202020204" pitchFamily="34" charset="0"/>
              </a:rPr>
              <a:t>buy</a:t>
            </a:r>
            <a:r>
              <a:rPr lang="hu-HU" sz="2000" dirty="0">
                <a:solidFill>
                  <a:srgbClr val="EEEFF5"/>
                </a:solidFill>
                <a:latin typeface="Arial" panose="020B0604020202020204" pitchFamily="34" charset="0"/>
                <a:ea typeface="Montserrat" pitchFamily="34" charset="-122"/>
                <a:cs typeface="Arial" panose="020B0604020202020204" pitchFamily="34" charset="0"/>
              </a:rPr>
              <a:t> and </a:t>
            </a:r>
            <a:r>
              <a:rPr lang="hu-HU" sz="2000" dirty="0" err="1">
                <a:solidFill>
                  <a:srgbClr val="EEEFF5"/>
                </a:solidFill>
                <a:latin typeface="Arial" panose="020B0604020202020204" pitchFamily="34" charset="0"/>
                <a:ea typeface="Montserrat" pitchFamily="34" charset="-122"/>
                <a:cs typeface="Arial" panose="020B0604020202020204" pitchFamily="34" charset="0"/>
              </a:rPr>
              <a:t>sell</a:t>
            </a:r>
            <a:r>
              <a:rPr lang="hu-HU" sz="2000" dirty="0">
                <a:solidFill>
                  <a:srgbClr val="EEEFF5"/>
                </a:solidFill>
                <a:latin typeface="Arial" panose="020B0604020202020204" pitchFamily="34" charset="0"/>
                <a:ea typeface="Montserrat" pitchFamily="34" charset="-122"/>
                <a:cs typeface="Arial" panose="020B0604020202020204" pitchFamily="34" charset="0"/>
              </a:rPr>
              <a:t> </a:t>
            </a:r>
            <a:r>
              <a:rPr lang="hu-HU" sz="2000" dirty="0" err="1">
                <a:solidFill>
                  <a:srgbClr val="EEEFF5"/>
                </a:solidFill>
                <a:latin typeface="Arial" panose="020B0604020202020204" pitchFamily="34" charset="0"/>
                <a:ea typeface="Montserrat" pitchFamily="34" charset="-122"/>
                <a:cs typeface="Arial" panose="020B0604020202020204" pitchFamily="34" charset="0"/>
              </a:rPr>
              <a:t>shoes</a:t>
            </a:r>
            <a:r>
              <a:rPr lang="hu-HU" sz="2000" dirty="0">
                <a:solidFill>
                  <a:srgbClr val="EEEFF5"/>
                </a:solidFill>
                <a:latin typeface="Arial" panose="020B0604020202020204" pitchFamily="34" charset="0"/>
                <a:ea typeface="Montserrat" pitchFamily="34" charset="-122"/>
                <a:cs typeface="Arial" panose="020B0604020202020204" pitchFamily="34" charset="0"/>
              </a:rPr>
              <a:t> </a:t>
            </a:r>
            <a:r>
              <a:rPr lang="hu-HU" sz="2000" dirty="0" err="1">
                <a:solidFill>
                  <a:srgbClr val="EEEFF5"/>
                </a:solidFill>
                <a:latin typeface="Arial" panose="020B0604020202020204" pitchFamily="34" charset="0"/>
                <a:ea typeface="Montserrat" pitchFamily="34" charset="-122"/>
                <a:cs typeface="Arial" panose="020B0604020202020204" pitchFamily="34" charset="0"/>
              </a:rPr>
              <a:t>either</a:t>
            </a:r>
            <a:r>
              <a:rPr lang="hu-HU" sz="2000" dirty="0">
                <a:solidFill>
                  <a:srgbClr val="EEEFF5"/>
                </a:solidFill>
                <a:latin typeface="Arial" panose="020B0604020202020204" pitchFamily="34" charset="0"/>
                <a:ea typeface="Montserrat" pitchFamily="34" charset="-122"/>
                <a:cs typeface="Arial" panose="020B0604020202020204" pitchFamily="34" charset="0"/>
              </a:rPr>
              <a:t> </a:t>
            </a:r>
            <a:r>
              <a:rPr lang="hu-HU" sz="2000" dirty="0" err="1">
                <a:solidFill>
                  <a:srgbClr val="EEEFF5"/>
                </a:solidFill>
                <a:latin typeface="Arial" panose="020B0604020202020204" pitchFamily="34" charset="0"/>
                <a:ea typeface="Montserrat" pitchFamily="34" charset="-122"/>
                <a:cs typeface="Arial" panose="020B0604020202020204" pitchFamily="34" charset="0"/>
              </a:rPr>
              <a:t>from</a:t>
            </a:r>
            <a:r>
              <a:rPr lang="hu-HU" sz="2000" dirty="0">
                <a:solidFill>
                  <a:srgbClr val="EEEFF5"/>
                </a:solidFill>
                <a:latin typeface="Arial" panose="020B0604020202020204" pitchFamily="34" charset="0"/>
                <a:ea typeface="Montserrat" pitchFamily="34" charset="-122"/>
                <a:cs typeface="Arial" panose="020B0604020202020204" pitchFamily="34" charset="0"/>
              </a:rPr>
              <a:t> a </a:t>
            </a:r>
            <a:r>
              <a:rPr lang="hu-HU" sz="2000" dirty="0" err="1">
                <a:solidFill>
                  <a:srgbClr val="EEEFF5"/>
                </a:solidFill>
                <a:latin typeface="Arial" panose="020B0604020202020204" pitchFamily="34" charset="0"/>
                <a:ea typeface="Montserrat" pitchFamily="34" charset="-122"/>
                <a:cs typeface="Arial" panose="020B0604020202020204" pitchFamily="34" charset="0"/>
              </a:rPr>
              <a:t>another</a:t>
            </a:r>
            <a:r>
              <a:rPr lang="hu-HU" sz="2000" dirty="0">
                <a:solidFill>
                  <a:srgbClr val="EEEFF5"/>
                </a:solidFill>
                <a:latin typeface="Arial" panose="020B0604020202020204" pitchFamily="34" charset="0"/>
                <a:ea typeface="Montserrat" pitchFamily="34" charset="-122"/>
                <a:cs typeface="Arial" panose="020B0604020202020204" pitchFamily="34" charset="0"/>
              </a:rPr>
              <a:t> </a:t>
            </a:r>
            <a:r>
              <a:rPr lang="hu-HU" sz="2000" dirty="0" err="1">
                <a:solidFill>
                  <a:srgbClr val="EEEFF5"/>
                </a:solidFill>
                <a:latin typeface="Arial" panose="020B0604020202020204" pitchFamily="34" charset="0"/>
                <a:ea typeface="Montserrat" pitchFamily="34" charset="-122"/>
                <a:cs typeface="Arial" panose="020B0604020202020204" pitchFamily="34" charset="0"/>
              </a:rPr>
              <a:t>reseller</a:t>
            </a:r>
            <a:r>
              <a:rPr lang="hu-HU" sz="2000" dirty="0">
                <a:solidFill>
                  <a:srgbClr val="EEEFF5"/>
                </a:solidFill>
                <a:latin typeface="Arial" panose="020B0604020202020204" pitchFamily="34" charset="0"/>
                <a:ea typeface="Montserrat" pitchFamily="34" charset="-122"/>
                <a:cs typeface="Arial" panose="020B0604020202020204" pitchFamily="34" charset="0"/>
              </a:rPr>
              <a:t>, </a:t>
            </a:r>
            <a:r>
              <a:rPr lang="hu-HU" sz="2000" dirty="0" err="1">
                <a:solidFill>
                  <a:srgbClr val="EEEFF5"/>
                </a:solidFill>
                <a:latin typeface="Arial" panose="020B0604020202020204" pitchFamily="34" charset="0"/>
                <a:ea typeface="Montserrat" pitchFamily="34" charset="-122"/>
                <a:cs typeface="Arial" panose="020B0604020202020204" pitchFamily="34" charset="0"/>
              </a:rPr>
              <a:t>or</a:t>
            </a:r>
            <a:r>
              <a:rPr lang="hu-HU" sz="2000" dirty="0">
                <a:solidFill>
                  <a:srgbClr val="EEEFF5"/>
                </a:solidFill>
                <a:latin typeface="Arial" panose="020B0604020202020204" pitchFamily="34" charset="0"/>
                <a:ea typeface="Montserrat" pitchFamily="34" charset="-122"/>
                <a:cs typeface="Arial" panose="020B0604020202020204" pitchFamily="34" charset="0"/>
              </a:rPr>
              <a:t> </a:t>
            </a:r>
            <a:r>
              <a:rPr lang="hu-HU" sz="2000" dirty="0" err="1">
                <a:solidFill>
                  <a:srgbClr val="EEEFF5"/>
                </a:solidFill>
                <a:latin typeface="Arial" panose="020B0604020202020204" pitchFamily="34" charset="0"/>
                <a:ea typeface="Montserrat" pitchFamily="34" charset="-122"/>
                <a:cs typeface="Arial" panose="020B0604020202020204" pitchFamily="34" charset="0"/>
              </a:rPr>
              <a:t>from</a:t>
            </a:r>
            <a:r>
              <a:rPr lang="hu-HU" sz="2000" dirty="0">
                <a:solidFill>
                  <a:srgbClr val="EEEFF5"/>
                </a:solidFill>
                <a:latin typeface="Arial" panose="020B0604020202020204" pitchFamily="34" charset="0"/>
                <a:ea typeface="Montserrat" pitchFamily="34" charset="-122"/>
                <a:cs typeface="Arial" panose="020B0604020202020204" pitchFamily="34" charset="0"/>
              </a:rPr>
              <a:t> </a:t>
            </a:r>
            <a:r>
              <a:rPr lang="hu-HU" sz="2000" dirty="0" err="1">
                <a:solidFill>
                  <a:srgbClr val="EEEFF5"/>
                </a:solidFill>
                <a:latin typeface="Arial" panose="020B0604020202020204" pitchFamily="34" charset="0"/>
                <a:ea typeface="Montserrat" pitchFamily="34" charset="-122"/>
                <a:cs typeface="Arial" panose="020B0604020202020204" pitchFamily="34" charset="0"/>
              </a:rPr>
              <a:t>our</a:t>
            </a:r>
            <a:r>
              <a:rPr lang="hu-HU" sz="2000" dirty="0">
                <a:solidFill>
                  <a:srgbClr val="EEEFF5"/>
                </a:solidFill>
                <a:latin typeface="Arial" panose="020B0604020202020204" pitchFamily="34" charset="0"/>
                <a:ea typeface="Montserrat" pitchFamily="34" charset="-122"/>
                <a:cs typeface="Arial" panose="020B0604020202020204" pitchFamily="34" charset="0"/>
              </a:rPr>
              <a:t> website.</a:t>
            </a:r>
            <a:endParaRPr lang="en-US" sz="2000" dirty="0">
              <a:latin typeface="Arial" panose="020B0604020202020204" pitchFamily="34" charset="0"/>
              <a:cs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BA9A7B-D375-0F6F-5A5C-5E9CF97DEA0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1948364-F57A-9D8D-3E34-F2A1755EAA3E}"/>
              </a:ext>
            </a:extLst>
          </p:cNvPr>
          <p:cNvSpPr/>
          <p:nvPr/>
        </p:nvSpPr>
        <p:spPr>
          <a:xfrm>
            <a:off x="5659990" y="61277"/>
            <a:ext cx="3310417" cy="712708"/>
          </a:xfrm>
          <a:prstGeom prst="rect">
            <a:avLst/>
          </a:prstGeom>
          <a:noFill/>
          <a:ln/>
        </p:spPr>
        <p:txBody>
          <a:bodyPr vert="horz" wrap="none" lIns="0" tIns="0" rIns="0" bIns="0" rtlCol="0" anchor="t"/>
          <a:lstStyle/>
          <a:p>
            <a:pPr marL="0" indent="0">
              <a:lnSpc>
                <a:spcPts val="5600"/>
              </a:lnSpc>
              <a:buNone/>
            </a:pPr>
            <a:r>
              <a:rPr lang="en-US" sz="4450" b="1" dirty="0">
                <a:solidFill>
                  <a:srgbClr val="9998FF"/>
                </a:solidFill>
                <a:latin typeface="Arial" panose="020B0604020202020204" pitchFamily="34" charset="0"/>
                <a:ea typeface="Barlow Bold" pitchFamily="34" charset="-122"/>
                <a:cs typeface="Arial" panose="020B0604020202020204" pitchFamily="34" charset="0"/>
              </a:rPr>
              <a:t>Design plan</a:t>
            </a:r>
            <a:endParaRPr lang="en-US" sz="4450" dirty="0">
              <a:latin typeface="Arial" panose="020B0604020202020204" pitchFamily="34" charset="0"/>
              <a:cs typeface="Arial" panose="020B0604020202020204" pitchFamily="34" charset="0"/>
            </a:endParaRPr>
          </a:p>
        </p:txBody>
      </p:sp>
      <p:pic>
        <p:nvPicPr>
          <p:cNvPr id="9" name="Kép 8">
            <a:extLst>
              <a:ext uri="{FF2B5EF4-FFF2-40B4-BE49-F238E27FC236}">
                <a16:creationId xmlns:a16="http://schemas.microsoft.com/office/drawing/2014/main" id="{DF17B9D8-B00A-FCF9-A683-E2B81E0D28B3}"/>
              </a:ext>
            </a:extLst>
          </p:cNvPr>
          <p:cNvPicPr>
            <a:picLocks noChangeAspect="1"/>
          </p:cNvPicPr>
          <p:nvPr/>
        </p:nvPicPr>
        <p:blipFill>
          <a:blip r:embed="rId3"/>
          <a:stretch>
            <a:fillRect/>
          </a:stretch>
        </p:blipFill>
        <p:spPr>
          <a:xfrm>
            <a:off x="12697762" y="7635240"/>
            <a:ext cx="1932638" cy="462745"/>
          </a:xfrm>
          <a:prstGeom prst="rect">
            <a:avLst/>
          </a:prstGeom>
        </p:spPr>
      </p:pic>
      <p:pic>
        <p:nvPicPr>
          <p:cNvPr id="13" name="Kép 12">
            <a:extLst>
              <a:ext uri="{FF2B5EF4-FFF2-40B4-BE49-F238E27FC236}">
                <a16:creationId xmlns:a16="http://schemas.microsoft.com/office/drawing/2014/main" id="{CD6B0A71-C58D-A92B-EBCD-11830A84686B}"/>
              </a:ext>
            </a:extLst>
          </p:cNvPr>
          <p:cNvPicPr>
            <a:picLocks noChangeAspect="1"/>
          </p:cNvPicPr>
          <p:nvPr/>
        </p:nvPicPr>
        <p:blipFill>
          <a:blip r:embed="rId4"/>
          <a:stretch>
            <a:fillRect/>
          </a:stretch>
        </p:blipFill>
        <p:spPr>
          <a:xfrm>
            <a:off x="945081" y="864382"/>
            <a:ext cx="12740237" cy="723360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4178978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BA9A7B-D375-0F6F-5A5C-5E9CF97DEA0A}"/>
            </a:ext>
          </a:extLst>
        </p:cNvPr>
        <p:cNvGrpSpPr/>
        <p:nvPr/>
      </p:nvGrpSpPr>
      <p:grpSpPr>
        <a:xfrm>
          <a:off x="0" y="0"/>
          <a:ext cx="0" cy="0"/>
          <a:chOff x="0" y="0"/>
          <a:chExt cx="0" cy="0"/>
        </a:xfrm>
      </p:grpSpPr>
      <p:sp>
        <p:nvSpPr>
          <p:cNvPr id="7" name="Text 5">
            <a:extLst>
              <a:ext uri="{FF2B5EF4-FFF2-40B4-BE49-F238E27FC236}">
                <a16:creationId xmlns:a16="http://schemas.microsoft.com/office/drawing/2014/main" id="{9975D4C6-2BB8-3B82-161E-01DF91B1B666}"/>
              </a:ext>
            </a:extLst>
          </p:cNvPr>
          <p:cNvSpPr/>
          <p:nvPr/>
        </p:nvSpPr>
        <p:spPr>
          <a:xfrm>
            <a:off x="5308436" y="321154"/>
            <a:ext cx="4013527" cy="644571"/>
          </a:xfrm>
          <a:prstGeom prst="rect">
            <a:avLst/>
          </a:prstGeom>
          <a:noFill/>
          <a:ln/>
        </p:spPr>
        <p:txBody>
          <a:bodyPr vert="horz" wrap="none" lIns="0" tIns="0" rIns="0" bIns="0" rtlCol="0" anchor="t"/>
          <a:lstStyle/>
          <a:p>
            <a:pPr>
              <a:lnSpc>
                <a:spcPts val="2800"/>
              </a:lnSpc>
            </a:pPr>
            <a:r>
              <a:rPr lang="en-GB" sz="4450" b="1" dirty="0">
                <a:solidFill>
                  <a:srgbClr val="9998FF"/>
                </a:solidFill>
                <a:latin typeface="Arial" panose="020B0604020202020204" pitchFamily="34" charset="0"/>
                <a:ea typeface="Barlow Bold" pitchFamily="34" charset="-122"/>
                <a:cs typeface="Arial" panose="020B0604020202020204" pitchFamily="34" charset="0"/>
              </a:rPr>
              <a:t>Database plan</a:t>
            </a:r>
            <a:endParaRPr lang="en-US" sz="4450" dirty="0">
              <a:latin typeface="Arial" panose="020B0604020202020204" pitchFamily="34" charset="0"/>
              <a:cs typeface="Arial" panose="020B0604020202020204" pitchFamily="34" charset="0"/>
            </a:endParaRPr>
          </a:p>
        </p:txBody>
      </p:sp>
      <p:pic>
        <p:nvPicPr>
          <p:cNvPr id="9" name="Kép 8">
            <a:extLst>
              <a:ext uri="{FF2B5EF4-FFF2-40B4-BE49-F238E27FC236}">
                <a16:creationId xmlns:a16="http://schemas.microsoft.com/office/drawing/2014/main" id="{DF17B9D8-B00A-FCF9-A683-E2B81E0D28B3}"/>
              </a:ext>
            </a:extLst>
          </p:cNvPr>
          <p:cNvPicPr>
            <a:picLocks noChangeAspect="1"/>
          </p:cNvPicPr>
          <p:nvPr/>
        </p:nvPicPr>
        <p:blipFill>
          <a:blip r:embed="rId3"/>
          <a:stretch>
            <a:fillRect/>
          </a:stretch>
        </p:blipFill>
        <p:spPr>
          <a:xfrm>
            <a:off x="12697762" y="7635240"/>
            <a:ext cx="1932638" cy="462745"/>
          </a:xfrm>
          <a:prstGeom prst="rect">
            <a:avLst/>
          </a:prstGeom>
        </p:spPr>
      </p:pic>
      <p:pic>
        <p:nvPicPr>
          <p:cNvPr id="4" name="Kép 3" descr="A képen képernyőkép, szöveg, Multimédiás szoftver, tervezés látható&#10;&#10;AI-generated content may be incorrect.">
            <a:extLst>
              <a:ext uri="{FF2B5EF4-FFF2-40B4-BE49-F238E27FC236}">
                <a16:creationId xmlns:a16="http://schemas.microsoft.com/office/drawing/2014/main" id="{3F06BDB8-969F-6941-A17E-997D82B7ED40}"/>
              </a:ext>
            </a:extLst>
          </p:cNvPr>
          <p:cNvPicPr>
            <a:picLocks noChangeAspect="1"/>
          </p:cNvPicPr>
          <p:nvPr/>
        </p:nvPicPr>
        <p:blipFill>
          <a:blip r:embed="rId4"/>
          <a:stretch>
            <a:fillRect/>
          </a:stretch>
        </p:blipFill>
        <p:spPr>
          <a:xfrm>
            <a:off x="1850081" y="752755"/>
            <a:ext cx="10930238" cy="7476845"/>
          </a:xfrm>
          <a:prstGeom prst="rect">
            <a:avLst/>
          </a:prstGeom>
        </p:spPr>
      </p:pic>
    </p:spTree>
    <p:extLst>
      <p:ext uri="{BB962C8B-B14F-4D97-AF65-F5344CB8AC3E}">
        <p14:creationId xmlns:p14="http://schemas.microsoft.com/office/powerpoint/2010/main" val="20031297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2988157" y="1170999"/>
            <a:ext cx="7810024" cy="712708"/>
          </a:xfrm>
          <a:prstGeom prst="rect">
            <a:avLst/>
          </a:prstGeom>
          <a:noFill/>
          <a:ln/>
        </p:spPr>
        <p:txBody>
          <a:bodyPr wrap="none" lIns="0" tIns="0" rIns="0" bIns="0" rtlCol="0" anchor="t"/>
          <a:lstStyle/>
          <a:p>
            <a:pPr marL="0" indent="0" algn="ctr">
              <a:lnSpc>
                <a:spcPts val="5600"/>
              </a:lnSpc>
              <a:buNone/>
            </a:pPr>
            <a:r>
              <a:rPr lang="en-US" sz="4450" b="1" dirty="0">
                <a:solidFill>
                  <a:srgbClr val="9998FF"/>
                </a:solidFill>
                <a:latin typeface="Arial" panose="020B0604020202020204" pitchFamily="34" charset="0"/>
                <a:ea typeface="Barlow Bold" pitchFamily="34" charset="-122"/>
                <a:cs typeface="Arial" panose="020B0604020202020204" pitchFamily="34" charset="0"/>
              </a:rPr>
              <a:t>Architecture</a:t>
            </a:r>
            <a:r>
              <a:rPr lang="hu-HU" sz="4450" b="1" dirty="0">
                <a:solidFill>
                  <a:srgbClr val="9998FF"/>
                </a:solidFill>
                <a:latin typeface="Arial" panose="020B0604020202020204" pitchFamily="34" charset="0"/>
                <a:ea typeface="Barlow Bold" pitchFamily="34" charset="-122"/>
                <a:cs typeface="Arial" panose="020B0604020202020204" pitchFamily="34" charset="0"/>
              </a:rPr>
              <a:t>s </a:t>
            </a:r>
            <a:r>
              <a:rPr lang="hu-HU" sz="4450" b="1" dirty="0" err="1">
                <a:solidFill>
                  <a:srgbClr val="9998FF"/>
                </a:solidFill>
                <a:latin typeface="Arial" panose="020B0604020202020204" pitchFamily="34" charset="0"/>
                <a:ea typeface="Barlow Bold" pitchFamily="34" charset="-122"/>
                <a:cs typeface="Arial" panose="020B0604020202020204" pitchFamily="34" charset="0"/>
              </a:rPr>
              <a:t>used</a:t>
            </a:r>
            <a:r>
              <a:rPr lang="hu-HU" sz="4450" b="1" dirty="0">
                <a:solidFill>
                  <a:srgbClr val="9998FF"/>
                </a:solidFill>
                <a:latin typeface="Arial" panose="020B0604020202020204" pitchFamily="34" charset="0"/>
                <a:ea typeface="Barlow Bold" pitchFamily="34" charset="-122"/>
                <a:cs typeface="Arial" panose="020B0604020202020204" pitchFamily="34" charset="0"/>
              </a:rPr>
              <a:t> in </a:t>
            </a:r>
            <a:r>
              <a:rPr lang="hu-HU" sz="4450" b="1" dirty="0" err="1">
                <a:solidFill>
                  <a:srgbClr val="9998FF"/>
                </a:solidFill>
                <a:latin typeface="Arial" panose="020B0604020202020204" pitchFamily="34" charset="0"/>
                <a:ea typeface="Barlow Bold" pitchFamily="34" charset="-122"/>
                <a:cs typeface="Arial" panose="020B0604020202020204" pitchFamily="34" charset="0"/>
              </a:rPr>
              <a:t>our</a:t>
            </a:r>
            <a:r>
              <a:rPr lang="hu-HU" sz="4450" b="1" dirty="0">
                <a:solidFill>
                  <a:srgbClr val="9998FF"/>
                </a:solidFill>
                <a:latin typeface="Arial" panose="020B0604020202020204" pitchFamily="34" charset="0"/>
                <a:ea typeface="Barlow Bold" pitchFamily="34" charset="-122"/>
                <a:cs typeface="Arial" panose="020B0604020202020204" pitchFamily="34" charset="0"/>
              </a:rPr>
              <a:t> project</a:t>
            </a:r>
            <a:endParaRPr lang="en-US" sz="4450" dirty="0">
              <a:latin typeface="Arial" panose="020B0604020202020204" pitchFamily="34" charset="0"/>
              <a:cs typeface="Arial" panose="020B0604020202020204" pitchFamily="34" charset="0"/>
            </a:endParaRPr>
          </a:p>
        </p:txBody>
      </p:sp>
      <p:sp>
        <p:nvSpPr>
          <p:cNvPr id="3" name="Text 1"/>
          <p:cNvSpPr/>
          <p:nvPr/>
        </p:nvSpPr>
        <p:spPr>
          <a:xfrm>
            <a:off x="749114" y="2701342"/>
            <a:ext cx="2850713" cy="356235"/>
          </a:xfrm>
          <a:prstGeom prst="rect">
            <a:avLst/>
          </a:prstGeom>
          <a:noFill/>
          <a:ln/>
        </p:spPr>
        <p:txBody>
          <a:bodyPr wrap="none" lIns="0" tIns="0" rIns="0" bIns="0" rtlCol="0" anchor="t"/>
          <a:lstStyle/>
          <a:p>
            <a:pPr marL="0" indent="0">
              <a:lnSpc>
                <a:spcPts val="2800"/>
              </a:lnSpc>
              <a:buNone/>
            </a:pPr>
            <a:r>
              <a:rPr lang="en-US" sz="2200" b="1" dirty="0">
                <a:solidFill>
                  <a:srgbClr val="9998FF"/>
                </a:solidFill>
                <a:latin typeface="Arial" panose="020B0604020202020204" pitchFamily="34" charset="0"/>
                <a:ea typeface="Barlow Bold" pitchFamily="34" charset="-122"/>
                <a:cs typeface="Arial" panose="020B0604020202020204" pitchFamily="34" charset="0"/>
              </a:rPr>
              <a:t>Frontend (</a:t>
            </a:r>
            <a:r>
              <a:rPr lang="hu-HU" sz="2200" b="1" dirty="0" err="1">
                <a:solidFill>
                  <a:srgbClr val="9998FF"/>
                </a:solidFill>
                <a:latin typeface="Arial" panose="020B0604020202020204" pitchFamily="34" charset="0"/>
                <a:ea typeface="Barlow Bold" pitchFamily="34" charset="-122"/>
                <a:cs typeface="Arial" panose="020B0604020202020204" pitchFamily="34" charset="0"/>
              </a:rPr>
              <a:t>Angular</a:t>
            </a:r>
            <a:r>
              <a:rPr lang="hu-HU" sz="2200" b="1" dirty="0">
                <a:solidFill>
                  <a:srgbClr val="9998FF"/>
                </a:solidFill>
                <a:latin typeface="Arial" panose="020B0604020202020204" pitchFamily="34" charset="0"/>
                <a:ea typeface="Barlow Bold" pitchFamily="34" charset="-122"/>
                <a:cs typeface="Arial" panose="020B0604020202020204" pitchFamily="34" charset="0"/>
              </a:rPr>
              <a:t>, </a:t>
            </a:r>
            <a:r>
              <a:rPr lang="hu-HU" sz="2200" b="1" dirty="0" err="1">
                <a:solidFill>
                  <a:srgbClr val="9998FF"/>
                </a:solidFill>
                <a:latin typeface="Arial" panose="020B0604020202020204" pitchFamily="34" charset="0"/>
                <a:ea typeface="Barlow Bold" pitchFamily="34" charset="-122"/>
                <a:cs typeface="Arial" panose="020B0604020202020204" pitchFamily="34" charset="0"/>
              </a:rPr>
              <a:t>Typescript</a:t>
            </a:r>
            <a:r>
              <a:rPr lang="en-US" sz="2200" b="1" dirty="0">
                <a:solidFill>
                  <a:srgbClr val="9998FF"/>
                </a:solidFill>
                <a:latin typeface="Arial" panose="020B0604020202020204" pitchFamily="34" charset="0"/>
                <a:ea typeface="Barlow Bold" pitchFamily="34" charset="-122"/>
                <a:cs typeface="Arial" panose="020B0604020202020204" pitchFamily="34" charset="0"/>
              </a:rPr>
              <a:t>)</a:t>
            </a:r>
            <a:endParaRPr lang="en-US" sz="2200" dirty="0">
              <a:latin typeface="Arial" panose="020B0604020202020204" pitchFamily="34" charset="0"/>
              <a:cs typeface="Arial" panose="020B0604020202020204" pitchFamily="34" charset="0"/>
            </a:endParaRPr>
          </a:p>
        </p:txBody>
      </p:sp>
      <p:sp>
        <p:nvSpPr>
          <p:cNvPr id="4" name="Text 2"/>
          <p:cNvSpPr/>
          <p:nvPr/>
        </p:nvSpPr>
        <p:spPr>
          <a:xfrm>
            <a:off x="854622" y="3274154"/>
            <a:ext cx="4018359" cy="1386840"/>
          </a:xfrm>
          <a:prstGeom prst="rect">
            <a:avLst/>
          </a:prstGeom>
          <a:noFill/>
          <a:ln/>
        </p:spPr>
        <p:txBody>
          <a:bodyPr wrap="square" lIns="0" tIns="0" rIns="0" bIns="0" rtlCol="0" anchor="t"/>
          <a:lstStyle/>
          <a:p>
            <a:pPr marL="0" indent="0">
              <a:lnSpc>
                <a:spcPts val="2700"/>
              </a:lnSpc>
              <a:buNone/>
            </a:pPr>
            <a:r>
              <a:rPr lang="en-US" sz="1700" dirty="0">
                <a:solidFill>
                  <a:srgbClr val="EEEFF5"/>
                </a:solidFill>
                <a:latin typeface="Franklin Gothic Medium" panose="020B0603020102020204" pitchFamily="34" charset="0"/>
                <a:ea typeface="Montserrat" pitchFamily="34" charset="-122"/>
                <a:cs typeface="Arial" panose="020B0604020202020204" pitchFamily="34" charset="0"/>
              </a:rPr>
              <a:t>The user interface is built with </a:t>
            </a:r>
            <a:r>
              <a:rPr lang="hu-HU" sz="1700" dirty="0" err="1">
                <a:solidFill>
                  <a:srgbClr val="EEEFF5"/>
                </a:solidFill>
                <a:latin typeface="Franklin Gothic Medium" panose="020B0603020102020204" pitchFamily="34" charset="0"/>
                <a:ea typeface="Montserrat" pitchFamily="34" charset="-122"/>
                <a:cs typeface="Arial" panose="020B0604020202020204" pitchFamily="34" charset="0"/>
              </a:rPr>
              <a:t>Angular</a:t>
            </a:r>
            <a:r>
              <a:rPr lang="en-US" sz="1700" dirty="0">
                <a:solidFill>
                  <a:srgbClr val="EEEFF5"/>
                </a:solidFill>
                <a:latin typeface="Franklin Gothic Medium" panose="020B0603020102020204" pitchFamily="34" charset="0"/>
                <a:ea typeface="Montserrat" pitchFamily="34" charset="-122"/>
                <a:cs typeface="Arial" panose="020B0604020202020204" pitchFamily="34" charset="0"/>
              </a:rPr>
              <a:t>, a popular framework for creating dynamic and responsive web applications.</a:t>
            </a:r>
          </a:p>
          <a:p>
            <a:pPr marL="0" indent="0">
              <a:lnSpc>
                <a:spcPts val="2700"/>
              </a:lnSpc>
              <a:buNone/>
            </a:pPr>
            <a:endParaRPr lang="en-US" sz="1700" dirty="0">
              <a:solidFill>
                <a:srgbClr val="EEEFF5"/>
              </a:solidFill>
              <a:latin typeface="Arial" panose="020B0604020202020204" pitchFamily="34" charset="0"/>
              <a:cs typeface="Arial" panose="020B0604020202020204" pitchFamily="34" charset="0"/>
            </a:endParaRPr>
          </a:p>
        </p:txBody>
      </p:sp>
      <p:sp>
        <p:nvSpPr>
          <p:cNvPr id="5" name="Text 3"/>
          <p:cNvSpPr/>
          <p:nvPr/>
        </p:nvSpPr>
        <p:spPr>
          <a:xfrm>
            <a:off x="5880465" y="2701344"/>
            <a:ext cx="2850713" cy="356235"/>
          </a:xfrm>
          <a:prstGeom prst="rect">
            <a:avLst/>
          </a:prstGeom>
          <a:noFill/>
          <a:ln/>
        </p:spPr>
        <p:txBody>
          <a:bodyPr wrap="none" lIns="0" tIns="0" rIns="0" bIns="0" rtlCol="0" anchor="t"/>
          <a:lstStyle/>
          <a:p>
            <a:pPr marL="0" indent="0" algn="ctr">
              <a:lnSpc>
                <a:spcPts val="2800"/>
              </a:lnSpc>
              <a:buNone/>
            </a:pPr>
            <a:r>
              <a:rPr lang="en-US" sz="2200" b="1" dirty="0">
                <a:solidFill>
                  <a:srgbClr val="9998FF"/>
                </a:solidFill>
                <a:latin typeface="Arial" panose="020B0604020202020204" pitchFamily="34" charset="0"/>
                <a:ea typeface="Barlow Bold" pitchFamily="34" charset="-122"/>
                <a:cs typeface="Arial" panose="020B0604020202020204" pitchFamily="34" charset="0"/>
              </a:rPr>
              <a:t>Backend (</a:t>
            </a:r>
            <a:r>
              <a:rPr lang="hu-HU" sz="2200" b="1" dirty="0">
                <a:solidFill>
                  <a:srgbClr val="9998FF"/>
                </a:solidFill>
                <a:latin typeface="Arial" panose="020B0604020202020204" pitchFamily="34" charset="0"/>
                <a:ea typeface="Barlow Bold" pitchFamily="34" charset="-122"/>
                <a:cs typeface="Arial" panose="020B0604020202020204" pitchFamily="34" charset="0"/>
              </a:rPr>
              <a:t>Java</a:t>
            </a:r>
            <a:r>
              <a:rPr lang="en-US" sz="2200" b="1" dirty="0">
                <a:solidFill>
                  <a:srgbClr val="9998FF"/>
                </a:solidFill>
                <a:latin typeface="Arial" panose="020B0604020202020204" pitchFamily="34" charset="0"/>
                <a:ea typeface="Barlow Bold" pitchFamily="34" charset="-122"/>
                <a:cs typeface="Arial" panose="020B0604020202020204" pitchFamily="34" charset="0"/>
              </a:rPr>
              <a:t>)</a:t>
            </a:r>
            <a:endParaRPr lang="en-US" sz="2200" dirty="0">
              <a:latin typeface="Arial" panose="020B0604020202020204" pitchFamily="34" charset="0"/>
              <a:cs typeface="Arial" panose="020B0604020202020204" pitchFamily="34" charset="0"/>
            </a:endParaRPr>
          </a:p>
        </p:txBody>
      </p:sp>
      <p:sp>
        <p:nvSpPr>
          <p:cNvPr id="6" name="Text 4"/>
          <p:cNvSpPr/>
          <p:nvPr/>
        </p:nvSpPr>
        <p:spPr>
          <a:xfrm>
            <a:off x="5409239" y="3274154"/>
            <a:ext cx="4018359" cy="1040130"/>
          </a:xfrm>
          <a:prstGeom prst="rect">
            <a:avLst/>
          </a:prstGeom>
          <a:noFill/>
          <a:ln/>
        </p:spPr>
        <p:txBody>
          <a:bodyPr wrap="square" lIns="0" tIns="0" rIns="0" bIns="0" rtlCol="0" anchor="t"/>
          <a:lstStyle/>
          <a:p>
            <a:pPr marL="0" indent="0">
              <a:lnSpc>
                <a:spcPts val="2700"/>
              </a:lnSpc>
              <a:buNone/>
            </a:pPr>
            <a:r>
              <a:rPr lang="en-US" sz="1700" dirty="0">
                <a:solidFill>
                  <a:srgbClr val="EEEFF5"/>
                </a:solidFill>
                <a:latin typeface="Franklin Gothic Medium" panose="020B0603020102020204" pitchFamily="34" charset="0"/>
                <a:ea typeface="Montserrat" pitchFamily="34" charset="-122"/>
                <a:cs typeface="Arial" panose="020B0604020202020204" pitchFamily="34" charset="0"/>
              </a:rPr>
              <a:t>The server-side logic is implemented using NodeJS, a robust and scalable runtime environment for JavaScript.</a:t>
            </a:r>
            <a:endParaRPr lang="en-US" sz="1700" dirty="0">
              <a:latin typeface="Franklin Gothic Medium" panose="020B0603020102020204" pitchFamily="34" charset="0"/>
              <a:cs typeface="Arial" panose="020B0604020202020204" pitchFamily="34" charset="0"/>
            </a:endParaRPr>
          </a:p>
        </p:txBody>
      </p:sp>
      <p:sp>
        <p:nvSpPr>
          <p:cNvPr id="7" name="Text 5"/>
          <p:cNvSpPr/>
          <p:nvPr/>
        </p:nvSpPr>
        <p:spPr>
          <a:xfrm>
            <a:off x="10350717" y="2701344"/>
            <a:ext cx="2850713" cy="356235"/>
          </a:xfrm>
          <a:prstGeom prst="rect">
            <a:avLst/>
          </a:prstGeom>
          <a:noFill/>
          <a:ln/>
        </p:spPr>
        <p:txBody>
          <a:bodyPr wrap="none" lIns="0" tIns="0" rIns="0" bIns="0" rtlCol="0" anchor="t"/>
          <a:lstStyle/>
          <a:p>
            <a:pPr marL="0" indent="0" algn="ctr">
              <a:lnSpc>
                <a:spcPts val="2800"/>
              </a:lnSpc>
              <a:buNone/>
            </a:pPr>
            <a:r>
              <a:rPr lang="en-US" sz="2200" b="1" dirty="0">
                <a:solidFill>
                  <a:srgbClr val="9998FF"/>
                </a:solidFill>
                <a:latin typeface="Arial" panose="020B0604020202020204" pitchFamily="34" charset="0"/>
                <a:ea typeface="Barlow Bold" pitchFamily="34" charset="-122"/>
                <a:cs typeface="Arial" panose="020B0604020202020204" pitchFamily="34" charset="0"/>
              </a:rPr>
              <a:t>Database (</a:t>
            </a:r>
            <a:r>
              <a:rPr lang="hu-HU" sz="2200" b="1" dirty="0" err="1">
                <a:solidFill>
                  <a:srgbClr val="9998FF"/>
                </a:solidFill>
                <a:latin typeface="Arial" panose="020B0604020202020204" pitchFamily="34" charset="0"/>
                <a:ea typeface="Barlow Bold" pitchFamily="34" charset="-122"/>
                <a:cs typeface="Arial" panose="020B0604020202020204" pitchFamily="34" charset="0"/>
              </a:rPr>
              <a:t>MySQL</a:t>
            </a:r>
            <a:r>
              <a:rPr lang="en-US" sz="2200" b="1" dirty="0">
                <a:solidFill>
                  <a:srgbClr val="9998FF"/>
                </a:solidFill>
                <a:latin typeface="Arial" panose="020B0604020202020204" pitchFamily="34" charset="0"/>
                <a:ea typeface="Barlow Bold" pitchFamily="34" charset="-122"/>
                <a:cs typeface="Arial" panose="020B0604020202020204" pitchFamily="34" charset="0"/>
              </a:rPr>
              <a:t>)</a:t>
            </a:r>
            <a:endParaRPr lang="en-US" sz="2200" dirty="0">
              <a:latin typeface="Arial" panose="020B0604020202020204" pitchFamily="34" charset="0"/>
              <a:cs typeface="Arial" panose="020B0604020202020204" pitchFamily="34" charset="0"/>
            </a:endParaRPr>
          </a:p>
        </p:txBody>
      </p:sp>
      <p:sp>
        <p:nvSpPr>
          <p:cNvPr id="8" name="Text 6"/>
          <p:cNvSpPr/>
          <p:nvPr/>
        </p:nvSpPr>
        <p:spPr>
          <a:xfrm>
            <a:off x="9963856" y="3274154"/>
            <a:ext cx="4018359" cy="1733550"/>
          </a:xfrm>
          <a:prstGeom prst="rect">
            <a:avLst/>
          </a:prstGeom>
          <a:noFill/>
          <a:ln/>
        </p:spPr>
        <p:txBody>
          <a:bodyPr wrap="square" lIns="0" tIns="0" rIns="0" bIns="0" rtlCol="0" anchor="t"/>
          <a:lstStyle/>
          <a:p>
            <a:pPr marL="0" indent="0">
              <a:lnSpc>
                <a:spcPts val="2700"/>
              </a:lnSpc>
              <a:buNone/>
            </a:pPr>
            <a:r>
              <a:rPr lang="en-US" sz="1700" dirty="0">
                <a:solidFill>
                  <a:srgbClr val="EEEFF5"/>
                </a:solidFill>
                <a:latin typeface="Franklin Gothic Medium" panose="020B0603020102020204" pitchFamily="34" charset="0"/>
                <a:ea typeface="Montserrat" pitchFamily="34" charset="-122"/>
                <a:cs typeface="Arial" panose="020B0604020202020204" pitchFamily="34" charset="0"/>
              </a:rPr>
              <a:t>We chose </a:t>
            </a:r>
            <a:r>
              <a:rPr lang="hu-HU" sz="1700" dirty="0" err="1">
                <a:solidFill>
                  <a:srgbClr val="EEEFF5"/>
                </a:solidFill>
                <a:latin typeface="Franklin Gothic Medium" panose="020B0603020102020204" pitchFamily="34" charset="0"/>
                <a:ea typeface="Montserrat" pitchFamily="34" charset="-122"/>
                <a:cs typeface="Arial" panose="020B0604020202020204" pitchFamily="34" charset="0"/>
              </a:rPr>
              <a:t>MySQL</a:t>
            </a:r>
            <a:r>
              <a:rPr lang="en-US" sz="1700" dirty="0">
                <a:solidFill>
                  <a:srgbClr val="EEEFF5"/>
                </a:solidFill>
                <a:latin typeface="Franklin Gothic Medium" panose="020B0603020102020204" pitchFamily="34" charset="0"/>
                <a:ea typeface="Montserrat" pitchFamily="34" charset="-122"/>
                <a:cs typeface="Arial" panose="020B0604020202020204" pitchFamily="34" charset="0"/>
              </a:rPr>
              <a:t> as our database that provides flexibility and scalability for storing data about products, customers, and orders.</a:t>
            </a:r>
            <a:endParaRPr lang="en-US" sz="1700" dirty="0">
              <a:latin typeface="Franklin Gothic Medium" panose="020B0603020102020204" pitchFamily="34" charset="0"/>
              <a:cs typeface="Arial" panose="020B0604020202020204" pitchFamily="34" charset="0"/>
            </a:endParaRPr>
          </a:p>
        </p:txBody>
      </p:sp>
      <p:pic>
        <p:nvPicPr>
          <p:cNvPr id="9" name="Kép 8">
            <a:extLst>
              <a:ext uri="{FF2B5EF4-FFF2-40B4-BE49-F238E27FC236}">
                <a16:creationId xmlns:a16="http://schemas.microsoft.com/office/drawing/2014/main" id="{0D9D585D-EDEF-AD9B-4A39-7ED7B3BCC526}"/>
              </a:ext>
            </a:extLst>
          </p:cNvPr>
          <p:cNvPicPr>
            <a:picLocks noChangeAspect="1"/>
          </p:cNvPicPr>
          <p:nvPr/>
        </p:nvPicPr>
        <p:blipFill>
          <a:blip r:embed="rId3"/>
          <a:stretch>
            <a:fillRect/>
          </a:stretch>
        </p:blipFill>
        <p:spPr>
          <a:xfrm>
            <a:off x="12697762" y="7635240"/>
            <a:ext cx="1932638" cy="462745"/>
          </a:xfrm>
          <a:prstGeom prst="rect">
            <a:avLst/>
          </a:prstGeom>
        </p:spPr>
      </p:pic>
      <p:pic>
        <p:nvPicPr>
          <p:cNvPr id="1026" name="Picture 2">
            <a:extLst>
              <a:ext uri="{FF2B5EF4-FFF2-40B4-BE49-F238E27FC236}">
                <a16:creationId xmlns:a16="http://schemas.microsoft.com/office/drawing/2014/main" id="{8DB23988-37C3-1F19-7F83-032DA628F73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65992" y="4660993"/>
            <a:ext cx="2557161" cy="2706995"/>
          </a:xfrm>
          <a:prstGeom prst="rect">
            <a:avLst/>
          </a:prstGeom>
          <a:noFill/>
          <a:extLst>
            <a:ext uri="{909E8E84-426E-40DD-AFC4-6F175D3DCCD1}">
              <a14:hiddenFill xmlns:a14="http://schemas.microsoft.com/office/drawing/2010/main">
                <a:solidFill>
                  <a:srgbClr val="FFFFFF"/>
                </a:solidFill>
              </a14:hiddenFill>
            </a:ext>
          </a:extLst>
        </p:spPr>
      </p:pic>
      <p:pic>
        <p:nvPicPr>
          <p:cNvPr id="13" name="Kép 12">
            <a:extLst>
              <a:ext uri="{FF2B5EF4-FFF2-40B4-BE49-F238E27FC236}">
                <a16:creationId xmlns:a16="http://schemas.microsoft.com/office/drawing/2014/main" id="{E9FAE9E3-7C4C-805E-1A54-CADDE1F6560F}"/>
              </a:ext>
            </a:extLst>
          </p:cNvPr>
          <p:cNvPicPr>
            <a:picLocks noChangeAspect="1"/>
          </p:cNvPicPr>
          <p:nvPr/>
        </p:nvPicPr>
        <p:blipFill>
          <a:blip r:embed="rId5"/>
          <a:stretch>
            <a:fillRect/>
          </a:stretch>
        </p:blipFill>
        <p:spPr>
          <a:xfrm>
            <a:off x="6044793" y="4660993"/>
            <a:ext cx="2706541" cy="2706541"/>
          </a:xfrm>
          <a:prstGeom prst="rect">
            <a:avLst/>
          </a:prstGeom>
        </p:spPr>
      </p:pic>
      <p:pic>
        <p:nvPicPr>
          <p:cNvPr id="1032" name="Picture 8">
            <a:extLst>
              <a:ext uri="{FF2B5EF4-FFF2-40B4-BE49-F238E27FC236}">
                <a16:creationId xmlns:a16="http://schemas.microsoft.com/office/drawing/2014/main" id="{FCB384EF-356D-7FA0-EEB1-CDAA7305D5F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659266" y="4740451"/>
            <a:ext cx="2627537" cy="2627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2777609" y="871299"/>
            <a:ext cx="7810024" cy="712708"/>
          </a:xfrm>
          <a:prstGeom prst="rect">
            <a:avLst/>
          </a:prstGeom>
          <a:noFill/>
          <a:ln/>
        </p:spPr>
        <p:txBody>
          <a:bodyPr wrap="none" lIns="0" tIns="0" rIns="0" bIns="0" rtlCol="0" anchor="t"/>
          <a:lstStyle/>
          <a:p>
            <a:pPr marL="0" indent="0">
              <a:lnSpc>
                <a:spcPts val="2800"/>
              </a:lnSpc>
              <a:buNone/>
            </a:pPr>
            <a:r>
              <a:rPr lang="en-US" sz="4450" b="1" dirty="0">
                <a:solidFill>
                  <a:srgbClr val="9998FF"/>
                </a:solidFill>
                <a:latin typeface="Arial" panose="020B0604020202020204" pitchFamily="34" charset="0"/>
                <a:ea typeface="Barlow Bold" pitchFamily="34" charset="-122"/>
                <a:cs typeface="Arial" panose="020B0604020202020204" pitchFamily="34" charset="0"/>
              </a:rPr>
              <a:t>Frontend (</a:t>
            </a:r>
            <a:r>
              <a:rPr lang="hu-HU" sz="4450" b="1" dirty="0" err="1">
                <a:solidFill>
                  <a:srgbClr val="9998FF"/>
                </a:solidFill>
                <a:latin typeface="Arial" panose="020B0604020202020204" pitchFamily="34" charset="0"/>
                <a:ea typeface="Barlow Bold" pitchFamily="34" charset="-122"/>
                <a:cs typeface="Arial" panose="020B0604020202020204" pitchFamily="34" charset="0"/>
              </a:rPr>
              <a:t>Angular</a:t>
            </a:r>
            <a:r>
              <a:rPr lang="hu-HU" sz="4450" b="1" dirty="0">
                <a:solidFill>
                  <a:srgbClr val="9998FF"/>
                </a:solidFill>
                <a:latin typeface="Arial" panose="020B0604020202020204" pitchFamily="34" charset="0"/>
                <a:ea typeface="Barlow Bold" pitchFamily="34" charset="-122"/>
                <a:cs typeface="Arial" panose="020B0604020202020204" pitchFamily="34" charset="0"/>
              </a:rPr>
              <a:t>, </a:t>
            </a:r>
            <a:r>
              <a:rPr lang="hu-HU" sz="4450" b="1" dirty="0" err="1">
                <a:solidFill>
                  <a:srgbClr val="9998FF"/>
                </a:solidFill>
                <a:latin typeface="Arial" panose="020B0604020202020204" pitchFamily="34" charset="0"/>
                <a:ea typeface="Barlow Bold" pitchFamily="34" charset="-122"/>
                <a:cs typeface="Arial" panose="020B0604020202020204" pitchFamily="34" charset="0"/>
              </a:rPr>
              <a:t>Typescript</a:t>
            </a:r>
            <a:r>
              <a:rPr lang="en-US" sz="4450" b="1" dirty="0">
                <a:solidFill>
                  <a:srgbClr val="9998FF"/>
                </a:solidFill>
                <a:latin typeface="Arial" panose="020B0604020202020204" pitchFamily="34" charset="0"/>
                <a:ea typeface="Barlow Bold" pitchFamily="34" charset="-122"/>
                <a:cs typeface="Arial" panose="020B0604020202020204" pitchFamily="34" charset="0"/>
              </a:rPr>
              <a:t>)</a:t>
            </a:r>
            <a:endParaRPr lang="en-US" sz="4450" dirty="0">
              <a:latin typeface="Arial" panose="020B0604020202020204" pitchFamily="34" charset="0"/>
              <a:cs typeface="Arial" panose="020B0604020202020204" pitchFamily="34" charset="0"/>
            </a:endParaRPr>
          </a:p>
        </p:txBody>
      </p:sp>
      <p:pic>
        <p:nvPicPr>
          <p:cNvPr id="9" name="Kép 8">
            <a:extLst>
              <a:ext uri="{FF2B5EF4-FFF2-40B4-BE49-F238E27FC236}">
                <a16:creationId xmlns:a16="http://schemas.microsoft.com/office/drawing/2014/main" id="{0D9D585D-EDEF-AD9B-4A39-7ED7B3BCC526}"/>
              </a:ext>
            </a:extLst>
          </p:cNvPr>
          <p:cNvPicPr>
            <a:picLocks noChangeAspect="1"/>
          </p:cNvPicPr>
          <p:nvPr/>
        </p:nvPicPr>
        <p:blipFill>
          <a:blip r:embed="rId3"/>
          <a:stretch>
            <a:fillRect/>
          </a:stretch>
        </p:blipFill>
        <p:spPr>
          <a:xfrm>
            <a:off x="12697762" y="7635240"/>
            <a:ext cx="1932638" cy="462745"/>
          </a:xfrm>
          <a:prstGeom prst="rect">
            <a:avLst/>
          </a:prstGeom>
        </p:spPr>
      </p:pic>
      <p:pic>
        <p:nvPicPr>
          <p:cNvPr id="11" name="Kép 10">
            <a:extLst>
              <a:ext uri="{FF2B5EF4-FFF2-40B4-BE49-F238E27FC236}">
                <a16:creationId xmlns:a16="http://schemas.microsoft.com/office/drawing/2014/main" id="{93B0C1E1-7D09-281B-AE3D-34FBFA1FCF31}"/>
              </a:ext>
            </a:extLst>
          </p:cNvPr>
          <p:cNvPicPr>
            <a:picLocks noChangeAspect="1"/>
          </p:cNvPicPr>
          <p:nvPr/>
        </p:nvPicPr>
        <p:blipFill>
          <a:blip r:embed="rId4"/>
          <a:stretch>
            <a:fillRect/>
          </a:stretch>
        </p:blipFill>
        <p:spPr>
          <a:xfrm>
            <a:off x="1417759" y="1981200"/>
            <a:ext cx="11794882" cy="5986973"/>
          </a:xfrm>
          <a:prstGeom prst="rect">
            <a:avLst/>
          </a:prstGeom>
        </p:spPr>
      </p:pic>
    </p:spTree>
    <p:extLst>
      <p:ext uri="{BB962C8B-B14F-4D97-AF65-F5344CB8AC3E}">
        <p14:creationId xmlns:p14="http://schemas.microsoft.com/office/powerpoint/2010/main" val="29095667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56955" y="514945"/>
            <a:ext cx="4516489" cy="712708"/>
          </a:xfrm>
          <a:prstGeom prst="rect">
            <a:avLst/>
          </a:prstGeom>
          <a:noFill/>
          <a:ln/>
        </p:spPr>
        <p:txBody>
          <a:bodyPr wrap="none" lIns="0" tIns="0" rIns="0" bIns="0" rtlCol="0" anchor="t"/>
          <a:lstStyle/>
          <a:p>
            <a:pPr marL="0" indent="0">
              <a:lnSpc>
                <a:spcPts val="2800"/>
              </a:lnSpc>
              <a:buNone/>
            </a:pPr>
            <a:r>
              <a:rPr lang="en-US" sz="4450" b="1" dirty="0">
                <a:solidFill>
                  <a:srgbClr val="9998FF"/>
                </a:solidFill>
                <a:latin typeface="Arial" panose="020B0604020202020204" pitchFamily="34" charset="0"/>
                <a:ea typeface="Barlow Bold" pitchFamily="34" charset="-122"/>
                <a:cs typeface="Arial" panose="020B0604020202020204" pitchFamily="34" charset="0"/>
              </a:rPr>
              <a:t>Backend (</a:t>
            </a:r>
            <a:r>
              <a:rPr lang="hu-HU" sz="4450" b="1" dirty="0">
                <a:solidFill>
                  <a:srgbClr val="9998FF"/>
                </a:solidFill>
                <a:latin typeface="Arial" panose="020B0604020202020204" pitchFamily="34" charset="0"/>
                <a:ea typeface="Barlow Bold" pitchFamily="34" charset="-122"/>
                <a:cs typeface="Arial" panose="020B0604020202020204" pitchFamily="34" charset="0"/>
              </a:rPr>
              <a:t>Java</a:t>
            </a:r>
            <a:r>
              <a:rPr lang="en-US" sz="4450" b="1" dirty="0">
                <a:solidFill>
                  <a:srgbClr val="9998FF"/>
                </a:solidFill>
                <a:latin typeface="Arial" panose="020B0604020202020204" pitchFamily="34" charset="0"/>
                <a:ea typeface="Barlow Bold" pitchFamily="34" charset="-122"/>
                <a:cs typeface="Arial" panose="020B0604020202020204" pitchFamily="34" charset="0"/>
              </a:rPr>
              <a:t>)</a:t>
            </a:r>
            <a:endParaRPr lang="en-US" sz="4450" dirty="0">
              <a:latin typeface="Arial" panose="020B0604020202020204" pitchFamily="34" charset="0"/>
              <a:cs typeface="Arial" panose="020B0604020202020204" pitchFamily="34" charset="0"/>
            </a:endParaRPr>
          </a:p>
        </p:txBody>
      </p:sp>
      <p:pic>
        <p:nvPicPr>
          <p:cNvPr id="9" name="Kép 8">
            <a:extLst>
              <a:ext uri="{FF2B5EF4-FFF2-40B4-BE49-F238E27FC236}">
                <a16:creationId xmlns:a16="http://schemas.microsoft.com/office/drawing/2014/main" id="{0D9D585D-EDEF-AD9B-4A39-7ED7B3BCC526}"/>
              </a:ext>
            </a:extLst>
          </p:cNvPr>
          <p:cNvPicPr>
            <a:picLocks noChangeAspect="1"/>
          </p:cNvPicPr>
          <p:nvPr/>
        </p:nvPicPr>
        <p:blipFill>
          <a:blip r:embed="rId3"/>
          <a:stretch>
            <a:fillRect/>
          </a:stretch>
        </p:blipFill>
        <p:spPr>
          <a:xfrm>
            <a:off x="12697762" y="7635240"/>
            <a:ext cx="1932638" cy="462745"/>
          </a:xfrm>
          <a:prstGeom prst="rect">
            <a:avLst/>
          </a:prstGeom>
        </p:spPr>
      </p:pic>
      <p:pic>
        <p:nvPicPr>
          <p:cNvPr id="1026" name="Picture 2">
            <a:extLst>
              <a:ext uri="{FF2B5EF4-FFF2-40B4-BE49-F238E27FC236}">
                <a16:creationId xmlns:a16="http://schemas.microsoft.com/office/drawing/2014/main" id="{EA0C7494-BF27-07E7-2522-8CE45EA5B38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0644" y="2162160"/>
            <a:ext cx="11227118" cy="5473080"/>
          </a:xfrm>
          <a:prstGeom prst="rect">
            <a:avLst/>
          </a:prstGeom>
          <a:noFill/>
          <a:extLst>
            <a:ext uri="{909E8E84-426E-40DD-AFC4-6F175D3DCCD1}">
              <a14:hiddenFill xmlns:a14="http://schemas.microsoft.com/office/drawing/2010/main">
                <a:solidFill>
                  <a:srgbClr val="FFFFFF"/>
                </a:solidFill>
              </a14:hiddenFill>
            </a:ext>
          </a:extLst>
        </p:spPr>
      </p:pic>
      <p:sp>
        <p:nvSpPr>
          <p:cNvPr id="6" name="Szövegdoboz 5">
            <a:extLst>
              <a:ext uri="{FF2B5EF4-FFF2-40B4-BE49-F238E27FC236}">
                <a16:creationId xmlns:a16="http://schemas.microsoft.com/office/drawing/2014/main" id="{93C40A2D-549A-A94B-F7CB-658208115CA0}"/>
              </a:ext>
            </a:extLst>
          </p:cNvPr>
          <p:cNvSpPr txBox="1"/>
          <p:nvPr/>
        </p:nvSpPr>
        <p:spPr>
          <a:xfrm>
            <a:off x="4945261" y="1699415"/>
            <a:ext cx="4058062" cy="414216"/>
          </a:xfrm>
          <a:prstGeom prst="rect">
            <a:avLst/>
          </a:prstGeom>
          <a:noFill/>
        </p:spPr>
        <p:txBody>
          <a:bodyPr wrap="square">
            <a:spAutoFit/>
          </a:bodyPr>
          <a:lstStyle/>
          <a:p>
            <a:pPr marL="0" indent="0">
              <a:lnSpc>
                <a:spcPts val="2800"/>
              </a:lnSpc>
              <a:buNone/>
            </a:pPr>
            <a:r>
              <a:rPr lang="hu-HU" b="1" dirty="0">
                <a:solidFill>
                  <a:srgbClr val="9998FF"/>
                </a:solidFill>
                <a:latin typeface="Arial" panose="020B0604020202020204" pitchFamily="34" charset="0"/>
                <a:cs typeface="Arial" panose="020B0604020202020204" pitchFamily="34" charset="0"/>
              </a:rPr>
              <a:t>API </a:t>
            </a:r>
            <a:r>
              <a:rPr lang="hu-HU" b="1" dirty="0" err="1">
                <a:solidFill>
                  <a:srgbClr val="9998FF"/>
                </a:solidFill>
                <a:latin typeface="Arial" panose="020B0604020202020204" pitchFamily="34" charset="0"/>
                <a:cs typeface="Arial" panose="020B0604020202020204" pitchFamily="34" charset="0"/>
              </a:rPr>
              <a:t>request</a:t>
            </a:r>
            <a:r>
              <a:rPr lang="hu-HU" b="1" dirty="0">
                <a:solidFill>
                  <a:srgbClr val="9998FF"/>
                </a:solidFill>
                <a:latin typeface="Arial" panose="020B0604020202020204" pitchFamily="34" charset="0"/>
                <a:cs typeface="Arial" panose="020B0604020202020204" pitchFamily="34" charset="0"/>
              </a:rPr>
              <a:t> </a:t>
            </a:r>
            <a:r>
              <a:rPr lang="hu-HU" b="1" dirty="0" err="1">
                <a:solidFill>
                  <a:srgbClr val="9998FF"/>
                </a:solidFill>
                <a:latin typeface="Arial" panose="020B0604020202020204" pitchFamily="34" charset="0"/>
                <a:cs typeface="Arial" panose="020B0604020202020204" pitchFamily="34" charset="0"/>
              </a:rPr>
              <a:t>for</a:t>
            </a:r>
            <a:r>
              <a:rPr lang="hu-HU" b="1" dirty="0">
                <a:solidFill>
                  <a:srgbClr val="9998FF"/>
                </a:solidFill>
                <a:latin typeface="Arial" panose="020B0604020202020204" pitchFamily="34" charset="0"/>
                <a:cs typeface="Arial" panose="020B0604020202020204" pitchFamily="34" charset="0"/>
              </a:rPr>
              <a:t> login and </a:t>
            </a:r>
            <a:r>
              <a:rPr lang="hu-HU" b="1" dirty="0" err="1">
                <a:solidFill>
                  <a:srgbClr val="9998FF"/>
                </a:solidFill>
                <a:latin typeface="Arial" panose="020B0604020202020204" pitchFamily="34" charset="0"/>
                <a:cs typeface="Arial" panose="020B0604020202020204" pitchFamily="34" charset="0"/>
              </a:rPr>
              <a:t>register</a:t>
            </a:r>
            <a:endParaRPr 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160404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755878" y="407014"/>
            <a:ext cx="7810024" cy="712708"/>
          </a:xfrm>
          <a:prstGeom prst="rect">
            <a:avLst/>
          </a:prstGeom>
          <a:noFill/>
          <a:ln/>
        </p:spPr>
        <p:txBody>
          <a:bodyPr wrap="none" lIns="0" tIns="0" rIns="0" bIns="0" rtlCol="0" anchor="t"/>
          <a:lstStyle/>
          <a:p>
            <a:pPr marL="0" indent="0">
              <a:lnSpc>
                <a:spcPts val="2800"/>
              </a:lnSpc>
              <a:buNone/>
            </a:pPr>
            <a:r>
              <a:rPr lang="en-US" sz="4450" b="1" dirty="0">
                <a:solidFill>
                  <a:srgbClr val="9998FF"/>
                </a:solidFill>
                <a:latin typeface="Arial" panose="020B0604020202020204" pitchFamily="34" charset="0"/>
                <a:ea typeface="Barlow Bold" pitchFamily="34" charset="-122"/>
                <a:cs typeface="Arial" panose="020B0604020202020204" pitchFamily="34" charset="0"/>
              </a:rPr>
              <a:t>Database (</a:t>
            </a:r>
            <a:r>
              <a:rPr lang="hu-HU" sz="4450" b="1" dirty="0" err="1">
                <a:solidFill>
                  <a:srgbClr val="9998FF"/>
                </a:solidFill>
                <a:latin typeface="Arial" panose="020B0604020202020204" pitchFamily="34" charset="0"/>
                <a:ea typeface="Barlow Bold" pitchFamily="34" charset="-122"/>
                <a:cs typeface="Arial" panose="020B0604020202020204" pitchFamily="34" charset="0"/>
              </a:rPr>
              <a:t>MySQL</a:t>
            </a:r>
            <a:r>
              <a:rPr lang="en-US" sz="4450" b="1" dirty="0">
                <a:solidFill>
                  <a:srgbClr val="9998FF"/>
                </a:solidFill>
                <a:latin typeface="Arial" panose="020B0604020202020204" pitchFamily="34" charset="0"/>
                <a:ea typeface="Barlow Bold" pitchFamily="34" charset="-122"/>
                <a:cs typeface="Arial" panose="020B0604020202020204" pitchFamily="34" charset="0"/>
              </a:rPr>
              <a:t>)</a:t>
            </a:r>
            <a:endParaRPr lang="en-US" sz="4450" dirty="0">
              <a:latin typeface="Arial" panose="020B0604020202020204" pitchFamily="34" charset="0"/>
              <a:cs typeface="Arial" panose="020B0604020202020204" pitchFamily="34" charset="0"/>
            </a:endParaRPr>
          </a:p>
        </p:txBody>
      </p:sp>
      <p:pic>
        <p:nvPicPr>
          <p:cNvPr id="9" name="Kép 8">
            <a:extLst>
              <a:ext uri="{FF2B5EF4-FFF2-40B4-BE49-F238E27FC236}">
                <a16:creationId xmlns:a16="http://schemas.microsoft.com/office/drawing/2014/main" id="{0D9D585D-EDEF-AD9B-4A39-7ED7B3BCC526}"/>
              </a:ext>
            </a:extLst>
          </p:cNvPr>
          <p:cNvPicPr>
            <a:picLocks noChangeAspect="1"/>
          </p:cNvPicPr>
          <p:nvPr/>
        </p:nvPicPr>
        <p:blipFill>
          <a:blip r:embed="rId3"/>
          <a:stretch>
            <a:fillRect/>
          </a:stretch>
        </p:blipFill>
        <p:spPr>
          <a:xfrm>
            <a:off x="12697762" y="7635240"/>
            <a:ext cx="1932638" cy="462745"/>
          </a:xfrm>
          <a:prstGeom prst="rect">
            <a:avLst/>
          </a:prstGeom>
        </p:spPr>
      </p:pic>
      <p:pic>
        <p:nvPicPr>
          <p:cNvPr id="4" name="Kép 3">
            <a:extLst>
              <a:ext uri="{FF2B5EF4-FFF2-40B4-BE49-F238E27FC236}">
                <a16:creationId xmlns:a16="http://schemas.microsoft.com/office/drawing/2014/main" id="{5BDAAA22-0AD4-DF3F-3467-32AD3FD3BAED}"/>
              </a:ext>
            </a:extLst>
          </p:cNvPr>
          <p:cNvPicPr>
            <a:picLocks noChangeAspect="1"/>
          </p:cNvPicPr>
          <p:nvPr/>
        </p:nvPicPr>
        <p:blipFill>
          <a:blip r:embed="rId4"/>
          <a:stretch>
            <a:fillRect/>
          </a:stretch>
        </p:blipFill>
        <p:spPr>
          <a:xfrm>
            <a:off x="510540" y="1498287"/>
            <a:ext cx="6256020" cy="6599698"/>
          </a:xfrm>
          <a:prstGeom prst="rect">
            <a:avLst/>
          </a:prstGeom>
        </p:spPr>
      </p:pic>
      <p:sp>
        <p:nvSpPr>
          <p:cNvPr id="6" name="Szövegdoboz 5">
            <a:extLst>
              <a:ext uri="{FF2B5EF4-FFF2-40B4-BE49-F238E27FC236}">
                <a16:creationId xmlns:a16="http://schemas.microsoft.com/office/drawing/2014/main" id="{EABF040C-7B09-847D-9479-6FF4DFDA2F8D}"/>
              </a:ext>
            </a:extLst>
          </p:cNvPr>
          <p:cNvSpPr txBox="1"/>
          <p:nvPr/>
        </p:nvSpPr>
        <p:spPr>
          <a:xfrm>
            <a:off x="2173121" y="1020545"/>
            <a:ext cx="7315200" cy="420051"/>
          </a:xfrm>
          <a:prstGeom prst="rect">
            <a:avLst/>
          </a:prstGeom>
          <a:noFill/>
        </p:spPr>
        <p:txBody>
          <a:bodyPr wrap="square">
            <a:spAutoFit/>
          </a:bodyPr>
          <a:lstStyle/>
          <a:p>
            <a:pPr marL="0" indent="0">
              <a:lnSpc>
                <a:spcPts val="2800"/>
              </a:lnSpc>
              <a:buNone/>
            </a:pPr>
            <a:r>
              <a:rPr lang="hu-HU" sz="2000" b="1" dirty="0" err="1">
                <a:solidFill>
                  <a:srgbClr val="9998FF"/>
                </a:solidFill>
                <a:latin typeface="Arial" panose="020B0604020202020204" pitchFamily="34" charset="0"/>
                <a:ea typeface="Barlow Bold" pitchFamily="34" charset="-122"/>
                <a:cs typeface="Arial" panose="020B0604020202020204" pitchFamily="34" charset="0"/>
              </a:rPr>
              <a:t>Database</a:t>
            </a:r>
            <a:r>
              <a:rPr lang="hu-HU" sz="2000" b="1" dirty="0">
                <a:solidFill>
                  <a:srgbClr val="9998FF"/>
                </a:solidFill>
                <a:latin typeface="Arial" panose="020B0604020202020204" pitchFamily="34" charset="0"/>
                <a:ea typeface="Barlow Bold" pitchFamily="34" charset="-122"/>
                <a:cs typeface="Arial" panose="020B0604020202020204" pitchFamily="34" charset="0"/>
              </a:rPr>
              <a:t> R</a:t>
            </a:r>
            <a:r>
              <a:rPr lang="en-US" sz="2000" b="1" dirty="0" err="1">
                <a:solidFill>
                  <a:srgbClr val="9998FF"/>
                </a:solidFill>
                <a:latin typeface="Arial" panose="020B0604020202020204" pitchFamily="34" charset="0"/>
                <a:ea typeface="Barlow Bold" pitchFamily="34" charset="-122"/>
                <a:cs typeface="Arial" panose="020B0604020202020204" pitchFamily="34" charset="0"/>
              </a:rPr>
              <a:t>outines</a:t>
            </a:r>
            <a:endParaRPr lang="en-US" sz="2000" dirty="0">
              <a:latin typeface="Arial" panose="020B0604020202020204" pitchFamily="34" charset="0"/>
              <a:cs typeface="Arial" panose="020B0604020202020204" pitchFamily="34" charset="0"/>
            </a:endParaRPr>
          </a:p>
        </p:txBody>
      </p:sp>
      <p:pic>
        <p:nvPicPr>
          <p:cNvPr id="8" name="Kép 7">
            <a:extLst>
              <a:ext uri="{FF2B5EF4-FFF2-40B4-BE49-F238E27FC236}">
                <a16:creationId xmlns:a16="http://schemas.microsoft.com/office/drawing/2014/main" id="{CE01F4DE-F509-D74D-CACC-6F4E48020C2F}"/>
              </a:ext>
            </a:extLst>
          </p:cNvPr>
          <p:cNvPicPr>
            <a:picLocks noChangeAspect="1"/>
          </p:cNvPicPr>
          <p:nvPr/>
        </p:nvPicPr>
        <p:blipFill>
          <a:blip r:embed="rId5"/>
          <a:stretch>
            <a:fillRect/>
          </a:stretch>
        </p:blipFill>
        <p:spPr>
          <a:xfrm>
            <a:off x="6880861" y="3111124"/>
            <a:ext cx="7650480" cy="2998842"/>
          </a:xfrm>
          <a:prstGeom prst="rect">
            <a:avLst/>
          </a:prstGeom>
        </p:spPr>
      </p:pic>
      <p:sp>
        <p:nvSpPr>
          <p:cNvPr id="10" name="Szövegdoboz 9">
            <a:extLst>
              <a:ext uri="{FF2B5EF4-FFF2-40B4-BE49-F238E27FC236}">
                <a16:creationId xmlns:a16="http://schemas.microsoft.com/office/drawing/2014/main" id="{E37D206F-BA62-9A87-D183-3A150EA7FA87}"/>
              </a:ext>
            </a:extLst>
          </p:cNvPr>
          <p:cNvSpPr txBox="1"/>
          <p:nvPr/>
        </p:nvSpPr>
        <p:spPr>
          <a:xfrm>
            <a:off x="9488321" y="2635985"/>
            <a:ext cx="7315200" cy="420051"/>
          </a:xfrm>
          <a:prstGeom prst="rect">
            <a:avLst/>
          </a:prstGeom>
          <a:noFill/>
        </p:spPr>
        <p:txBody>
          <a:bodyPr wrap="square">
            <a:spAutoFit/>
          </a:bodyPr>
          <a:lstStyle/>
          <a:p>
            <a:pPr marL="0" indent="0">
              <a:lnSpc>
                <a:spcPts val="2800"/>
              </a:lnSpc>
              <a:buNone/>
            </a:pPr>
            <a:r>
              <a:rPr lang="hu-HU" sz="2000" b="1" dirty="0" err="1">
                <a:solidFill>
                  <a:srgbClr val="9998FF"/>
                </a:solidFill>
                <a:latin typeface="Arial" panose="020B0604020202020204" pitchFamily="34" charset="0"/>
                <a:ea typeface="Barlow Bold" pitchFamily="34" charset="-122"/>
                <a:cs typeface="Arial" panose="020B0604020202020204" pitchFamily="34" charset="0"/>
              </a:rPr>
              <a:t>Database</a:t>
            </a:r>
            <a:r>
              <a:rPr lang="hu-HU" sz="2000" b="1" dirty="0">
                <a:solidFill>
                  <a:srgbClr val="9998FF"/>
                </a:solidFill>
                <a:latin typeface="Arial" panose="020B0604020202020204" pitchFamily="34" charset="0"/>
                <a:ea typeface="Barlow Bold" pitchFamily="34" charset="-122"/>
                <a:cs typeface="Arial" panose="020B0604020202020204" pitchFamily="34" charset="0"/>
              </a:rPr>
              <a:t> </a:t>
            </a:r>
            <a:r>
              <a:rPr lang="hu-HU" sz="2000" b="1" dirty="0" err="1">
                <a:solidFill>
                  <a:srgbClr val="9998FF"/>
                </a:solidFill>
                <a:latin typeface="Arial" panose="020B0604020202020204" pitchFamily="34" charset="0"/>
                <a:ea typeface="Barlow Bold" pitchFamily="34" charset="-122"/>
                <a:cs typeface="Arial" panose="020B0604020202020204" pitchFamily="34" charset="0"/>
              </a:rPr>
              <a:t>Structure</a:t>
            </a: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770847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p:nvPr/>
        </p:nvSpPr>
        <p:spPr>
          <a:xfrm>
            <a:off x="450533" y="330279"/>
            <a:ext cx="7679055" cy="1308021"/>
          </a:xfrm>
          <a:prstGeom prst="rect">
            <a:avLst/>
          </a:prstGeom>
          <a:noFill/>
          <a:ln/>
        </p:spPr>
        <p:txBody>
          <a:bodyPr wrap="square" lIns="0" tIns="0" rIns="0" bIns="0" rtlCol="0" anchor="t"/>
          <a:lstStyle/>
          <a:p>
            <a:pPr marL="0" indent="0">
              <a:lnSpc>
                <a:spcPts val="5150"/>
              </a:lnSpc>
              <a:buNone/>
            </a:pPr>
            <a:r>
              <a:rPr lang="en-US" sz="4450" b="1" dirty="0">
                <a:solidFill>
                  <a:srgbClr val="9998FF"/>
                </a:solidFill>
                <a:latin typeface="Arial" panose="020B0604020202020204" pitchFamily="34" charset="0"/>
                <a:ea typeface="Barlow Bold" pitchFamily="34" charset="-122"/>
                <a:cs typeface="Arial" panose="020B0604020202020204" pitchFamily="34" charset="0"/>
              </a:rPr>
              <a:t>Teamwork and Project Management</a:t>
            </a:r>
            <a:endParaRPr lang="en-US" sz="4450" dirty="0">
              <a:latin typeface="Arial" panose="020B0604020202020204" pitchFamily="34" charset="0"/>
              <a:cs typeface="Arial" panose="020B0604020202020204" pitchFamily="34" charset="0"/>
            </a:endParaRPr>
          </a:p>
        </p:txBody>
      </p:sp>
      <p:sp>
        <p:nvSpPr>
          <p:cNvPr id="4" name="Shape 1"/>
          <p:cNvSpPr/>
          <p:nvPr/>
        </p:nvSpPr>
        <p:spPr>
          <a:xfrm>
            <a:off x="737235" y="1936433"/>
            <a:ext cx="22860" cy="5155049"/>
          </a:xfrm>
          <a:prstGeom prst="roundRect">
            <a:avLst>
              <a:gd name="adj" fmla="val 782808"/>
            </a:avLst>
          </a:prstGeom>
          <a:solidFill>
            <a:srgbClr val="60646A"/>
          </a:solidFill>
          <a:ln/>
        </p:spPr>
      </p:sp>
      <p:sp>
        <p:nvSpPr>
          <p:cNvPr id="5" name="Shape 2"/>
          <p:cNvSpPr/>
          <p:nvPr/>
        </p:nvSpPr>
        <p:spPr>
          <a:xfrm>
            <a:off x="949464" y="2372201"/>
            <a:ext cx="695801" cy="22860"/>
          </a:xfrm>
          <a:prstGeom prst="roundRect">
            <a:avLst>
              <a:gd name="adj" fmla="val 782808"/>
            </a:avLst>
          </a:prstGeom>
          <a:solidFill>
            <a:srgbClr val="60646A"/>
          </a:solidFill>
          <a:ln/>
        </p:spPr>
      </p:sp>
      <p:sp>
        <p:nvSpPr>
          <p:cNvPr id="6" name="Shape 3"/>
          <p:cNvSpPr/>
          <p:nvPr/>
        </p:nvSpPr>
        <p:spPr>
          <a:xfrm>
            <a:off x="525006" y="2160032"/>
            <a:ext cx="447318" cy="447318"/>
          </a:xfrm>
          <a:prstGeom prst="roundRect">
            <a:avLst>
              <a:gd name="adj" fmla="val 40005"/>
            </a:avLst>
          </a:prstGeom>
          <a:solidFill>
            <a:srgbClr val="282C32"/>
          </a:solidFill>
          <a:ln/>
          <a:effectLst>
            <a:outerShdw blurRad="49530" dist="24130" dir="13500000" algn="bl" rotWithShape="0">
              <a:srgbClr val="FFFFFF">
                <a:alpha val="10000"/>
              </a:srgbClr>
            </a:outerShdw>
          </a:effectLst>
        </p:spPr>
      </p:sp>
      <p:sp>
        <p:nvSpPr>
          <p:cNvPr id="7" name="Text 4"/>
          <p:cNvSpPr/>
          <p:nvPr/>
        </p:nvSpPr>
        <p:spPr>
          <a:xfrm>
            <a:off x="693003" y="2226707"/>
            <a:ext cx="111204" cy="313968"/>
          </a:xfrm>
          <a:prstGeom prst="rect">
            <a:avLst/>
          </a:prstGeom>
          <a:noFill/>
          <a:ln/>
        </p:spPr>
        <p:txBody>
          <a:bodyPr wrap="none" lIns="0" tIns="0" rIns="0" bIns="0" rtlCol="0" anchor="t"/>
          <a:lstStyle/>
          <a:p>
            <a:pPr marL="0" indent="0" algn="ctr">
              <a:lnSpc>
                <a:spcPts val="2450"/>
              </a:lnSpc>
              <a:buNone/>
            </a:pPr>
            <a:r>
              <a:rPr lang="en-US" sz="2450" b="1" dirty="0">
                <a:solidFill>
                  <a:srgbClr val="EEEFF5"/>
                </a:solidFill>
                <a:latin typeface="Arial" panose="020B0604020202020204" pitchFamily="34" charset="0"/>
                <a:ea typeface="Barlow Bold" pitchFamily="34" charset="-122"/>
                <a:cs typeface="Arial" panose="020B0604020202020204" pitchFamily="34" charset="0"/>
              </a:rPr>
              <a:t>1</a:t>
            </a:r>
            <a:endParaRPr lang="en-US" sz="2450" dirty="0">
              <a:latin typeface="Arial" panose="020B0604020202020204" pitchFamily="34" charset="0"/>
              <a:cs typeface="Arial" panose="020B0604020202020204" pitchFamily="34" charset="0"/>
            </a:endParaRPr>
          </a:p>
        </p:txBody>
      </p:sp>
      <p:sp>
        <p:nvSpPr>
          <p:cNvPr id="8" name="Text 5"/>
          <p:cNvSpPr/>
          <p:nvPr/>
        </p:nvSpPr>
        <p:spPr>
          <a:xfrm>
            <a:off x="1842135" y="2135148"/>
            <a:ext cx="2616160" cy="326946"/>
          </a:xfrm>
          <a:prstGeom prst="rect">
            <a:avLst/>
          </a:prstGeom>
          <a:noFill/>
          <a:ln/>
        </p:spPr>
        <p:txBody>
          <a:bodyPr wrap="none" lIns="0" tIns="0" rIns="0" bIns="0" rtlCol="0" anchor="t"/>
          <a:lstStyle/>
          <a:p>
            <a:pPr marL="0" indent="0" algn="l">
              <a:lnSpc>
                <a:spcPts val="2550"/>
              </a:lnSpc>
              <a:buNone/>
            </a:pPr>
            <a:r>
              <a:rPr lang="en-US" sz="2000" b="1" dirty="0">
                <a:solidFill>
                  <a:srgbClr val="EEEFF5"/>
                </a:solidFill>
                <a:latin typeface="Arial" panose="020B0604020202020204" pitchFamily="34" charset="0"/>
                <a:ea typeface="Barlow Bold" pitchFamily="34" charset="-122"/>
                <a:cs typeface="Arial" panose="020B0604020202020204" pitchFamily="34" charset="0"/>
              </a:rPr>
              <a:t>Git</a:t>
            </a:r>
            <a:endParaRPr lang="en-US" sz="2000" dirty="0">
              <a:latin typeface="Arial" panose="020B0604020202020204" pitchFamily="34" charset="0"/>
              <a:cs typeface="Arial" panose="020B0604020202020204" pitchFamily="34" charset="0"/>
            </a:endParaRPr>
          </a:p>
        </p:txBody>
      </p:sp>
      <p:sp>
        <p:nvSpPr>
          <p:cNvPr id="9" name="Text 6"/>
          <p:cNvSpPr/>
          <p:nvPr/>
        </p:nvSpPr>
        <p:spPr>
          <a:xfrm>
            <a:off x="1842135" y="2581275"/>
            <a:ext cx="6287453" cy="636270"/>
          </a:xfrm>
          <a:prstGeom prst="rect">
            <a:avLst/>
          </a:prstGeom>
          <a:noFill/>
          <a:ln/>
        </p:spPr>
        <p:txBody>
          <a:bodyPr wrap="square" lIns="0" tIns="0" rIns="0" bIns="0" rtlCol="0" anchor="t"/>
          <a:lstStyle/>
          <a:p>
            <a:pPr marL="0" indent="0" algn="l">
              <a:lnSpc>
                <a:spcPts val="2500"/>
              </a:lnSpc>
              <a:buNone/>
            </a:pPr>
            <a:r>
              <a:rPr lang="en-US" sz="1650" dirty="0">
                <a:solidFill>
                  <a:srgbClr val="EEEFF5"/>
                </a:solidFill>
                <a:latin typeface="Arial" panose="020B0604020202020204" pitchFamily="34" charset="0"/>
                <a:ea typeface="Montserrat" pitchFamily="34" charset="-122"/>
                <a:cs typeface="Arial" panose="020B0604020202020204" pitchFamily="34" charset="0"/>
              </a:rPr>
              <a:t>We used Git for version control, allowing us to track changes, collaborate effectively, and manage code branches.</a:t>
            </a:r>
            <a:endParaRPr lang="en-US" sz="1650" dirty="0">
              <a:latin typeface="Arial" panose="020B0604020202020204" pitchFamily="34" charset="0"/>
              <a:cs typeface="Arial" panose="020B0604020202020204" pitchFamily="34" charset="0"/>
            </a:endParaRPr>
          </a:p>
        </p:txBody>
      </p:sp>
      <p:sp>
        <p:nvSpPr>
          <p:cNvPr id="10" name="Shape 7"/>
          <p:cNvSpPr/>
          <p:nvPr/>
        </p:nvSpPr>
        <p:spPr>
          <a:xfrm>
            <a:off x="949464" y="4050744"/>
            <a:ext cx="695801" cy="22860"/>
          </a:xfrm>
          <a:prstGeom prst="roundRect">
            <a:avLst>
              <a:gd name="adj" fmla="val 782808"/>
            </a:avLst>
          </a:prstGeom>
          <a:solidFill>
            <a:srgbClr val="60646A"/>
          </a:solidFill>
          <a:ln/>
        </p:spPr>
      </p:sp>
      <p:sp>
        <p:nvSpPr>
          <p:cNvPr id="11" name="Shape 8"/>
          <p:cNvSpPr/>
          <p:nvPr/>
        </p:nvSpPr>
        <p:spPr>
          <a:xfrm>
            <a:off x="525006" y="3838575"/>
            <a:ext cx="447318" cy="447318"/>
          </a:xfrm>
          <a:prstGeom prst="roundRect">
            <a:avLst>
              <a:gd name="adj" fmla="val 40005"/>
            </a:avLst>
          </a:prstGeom>
          <a:solidFill>
            <a:srgbClr val="282C32"/>
          </a:solidFill>
          <a:ln/>
          <a:effectLst>
            <a:outerShdw blurRad="49530" dist="24130" dir="13500000" algn="bl" rotWithShape="0">
              <a:srgbClr val="FFFFFF">
                <a:alpha val="10000"/>
              </a:srgbClr>
            </a:outerShdw>
          </a:effectLst>
        </p:spPr>
      </p:sp>
      <p:sp>
        <p:nvSpPr>
          <p:cNvPr id="12" name="Text 9"/>
          <p:cNvSpPr/>
          <p:nvPr/>
        </p:nvSpPr>
        <p:spPr>
          <a:xfrm>
            <a:off x="660737" y="3905250"/>
            <a:ext cx="175855" cy="313968"/>
          </a:xfrm>
          <a:prstGeom prst="rect">
            <a:avLst/>
          </a:prstGeom>
          <a:noFill/>
          <a:ln/>
        </p:spPr>
        <p:txBody>
          <a:bodyPr wrap="none" lIns="0" tIns="0" rIns="0" bIns="0" rtlCol="0" anchor="t"/>
          <a:lstStyle/>
          <a:p>
            <a:pPr marL="0" indent="0" algn="ctr">
              <a:lnSpc>
                <a:spcPts val="2450"/>
              </a:lnSpc>
              <a:buNone/>
            </a:pPr>
            <a:r>
              <a:rPr lang="en-US" sz="2450" b="1" dirty="0">
                <a:solidFill>
                  <a:srgbClr val="EEEFF5"/>
                </a:solidFill>
                <a:latin typeface="Arial" panose="020B0604020202020204" pitchFamily="34" charset="0"/>
                <a:ea typeface="Barlow Bold" pitchFamily="34" charset="-122"/>
                <a:cs typeface="Arial" panose="020B0604020202020204" pitchFamily="34" charset="0"/>
              </a:rPr>
              <a:t>2</a:t>
            </a:r>
            <a:endParaRPr lang="en-US" sz="2450" dirty="0">
              <a:latin typeface="Arial" panose="020B0604020202020204" pitchFamily="34" charset="0"/>
              <a:cs typeface="Arial" panose="020B0604020202020204" pitchFamily="34" charset="0"/>
            </a:endParaRPr>
          </a:p>
        </p:txBody>
      </p:sp>
      <p:sp>
        <p:nvSpPr>
          <p:cNvPr id="13" name="Text 10"/>
          <p:cNvSpPr/>
          <p:nvPr/>
        </p:nvSpPr>
        <p:spPr>
          <a:xfrm>
            <a:off x="1842135" y="3813691"/>
            <a:ext cx="2616160" cy="326946"/>
          </a:xfrm>
          <a:prstGeom prst="rect">
            <a:avLst/>
          </a:prstGeom>
          <a:noFill/>
          <a:ln/>
        </p:spPr>
        <p:txBody>
          <a:bodyPr wrap="none" lIns="0" tIns="0" rIns="0" bIns="0" rtlCol="0" anchor="t"/>
          <a:lstStyle/>
          <a:p>
            <a:pPr marL="0" indent="0" algn="l">
              <a:lnSpc>
                <a:spcPts val="2550"/>
              </a:lnSpc>
              <a:buNone/>
            </a:pPr>
            <a:r>
              <a:rPr lang="en-US" sz="2000" b="1" dirty="0">
                <a:solidFill>
                  <a:srgbClr val="EEEFF5"/>
                </a:solidFill>
                <a:latin typeface="Arial" panose="020B0604020202020204" pitchFamily="34" charset="0"/>
                <a:ea typeface="Barlow Bold" pitchFamily="34" charset="-122"/>
                <a:cs typeface="Arial" panose="020B0604020202020204" pitchFamily="34" charset="0"/>
              </a:rPr>
              <a:t>Jira</a:t>
            </a:r>
            <a:endParaRPr lang="en-US" sz="2000" dirty="0">
              <a:latin typeface="Arial" panose="020B0604020202020204" pitchFamily="34" charset="0"/>
              <a:cs typeface="Arial" panose="020B0604020202020204" pitchFamily="34" charset="0"/>
            </a:endParaRPr>
          </a:p>
        </p:txBody>
      </p:sp>
      <p:sp>
        <p:nvSpPr>
          <p:cNvPr id="14" name="Text 11"/>
          <p:cNvSpPr/>
          <p:nvPr/>
        </p:nvSpPr>
        <p:spPr>
          <a:xfrm>
            <a:off x="1842135" y="4259818"/>
            <a:ext cx="6287453" cy="636270"/>
          </a:xfrm>
          <a:prstGeom prst="rect">
            <a:avLst/>
          </a:prstGeom>
          <a:noFill/>
          <a:ln/>
        </p:spPr>
        <p:txBody>
          <a:bodyPr wrap="square" lIns="0" tIns="0" rIns="0" bIns="0" rtlCol="0" anchor="t"/>
          <a:lstStyle/>
          <a:p>
            <a:pPr marL="0" indent="0" algn="l">
              <a:lnSpc>
                <a:spcPts val="2500"/>
              </a:lnSpc>
              <a:buNone/>
            </a:pPr>
            <a:r>
              <a:rPr lang="en-US" sz="1650" dirty="0">
                <a:solidFill>
                  <a:srgbClr val="EEEFF5"/>
                </a:solidFill>
                <a:latin typeface="Arial" panose="020B0604020202020204" pitchFamily="34" charset="0"/>
                <a:ea typeface="Montserrat" pitchFamily="34" charset="-122"/>
                <a:cs typeface="Arial" panose="020B0604020202020204" pitchFamily="34" charset="0"/>
              </a:rPr>
              <a:t>Jira served as our project management tool, enabling us to track tasks, assign roles, and monitor progress.</a:t>
            </a:r>
            <a:endParaRPr lang="en-US" sz="1650" dirty="0">
              <a:latin typeface="Arial" panose="020B0604020202020204" pitchFamily="34" charset="0"/>
              <a:cs typeface="Arial" panose="020B0604020202020204" pitchFamily="34" charset="0"/>
            </a:endParaRPr>
          </a:p>
        </p:txBody>
      </p:sp>
      <p:sp>
        <p:nvSpPr>
          <p:cNvPr id="15" name="Shape 12"/>
          <p:cNvSpPr/>
          <p:nvPr/>
        </p:nvSpPr>
        <p:spPr>
          <a:xfrm>
            <a:off x="949464" y="5729288"/>
            <a:ext cx="695801" cy="22860"/>
          </a:xfrm>
          <a:prstGeom prst="roundRect">
            <a:avLst>
              <a:gd name="adj" fmla="val 782808"/>
            </a:avLst>
          </a:prstGeom>
          <a:solidFill>
            <a:srgbClr val="60646A"/>
          </a:solidFill>
          <a:ln/>
        </p:spPr>
      </p:sp>
      <p:sp>
        <p:nvSpPr>
          <p:cNvPr id="16" name="Shape 13"/>
          <p:cNvSpPr/>
          <p:nvPr/>
        </p:nvSpPr>
        <p:spPr>
          <a:xfrm>
            <a:off x="525006" y="5517118"/>
            <a:ext cx="447318" cy="447318"/>
          </a:xfrm>
          <a:prstGeom prst="roundRect">
            <a:avLst>
              <a:gd name="adj" fmla="val 40005"/>
            </a:avLst>
          </a:prstGeom>
          <a:solidFill>
            <a:srgbClr val="282C32"/>
          </a:solidFill>
          <a:ln/>
          <a:effectLst>
            <a:outerShdw blurRad="49530" dist="24130" dir="13500000" algn="bl" rotWithShape="0">
              <a:srgbClr val="FFFFFF">
                <a:alpha val="10000"/>
              </a:srgbClr>
            </a:outerShdw>
          </a:effectLst>
        </p:spPr>
      </p:sp>
      <p:sp>
        <p:nvSpPr>
          <p:cNvPr id="17" name="Text 14"/>
          <p:cNvSpPr/>
          <p:nvPr/>
        </p:nvSpPr>
        <p:spPr>
          <a:xfrm>
            <a:off x="663833" y="5583793"/>
            <a:ext cx="169545" cy="313968"/>
          </a:xfrm>
          <a:prstGeom prst="rect">
            <a:avLst/>
          </a:prstGeom>
          <a:noFill/>
          <a:ln/>
        </p:spPr>
        <p:txBody>
          <a:bodyPr wrap="none" lIns="0" tIns="0" rIns="0" bIns="0" rtlCol="0" anchor="t"/>
          <a:lstStyle/>
          <a:p>
            <a:pPr marL="0" indent="0" algn="ctr">
              <a:lnSpc>
                <a:spcPts val="2450"/>
              </a:lnSpc>
              <a:buNone/>
            </a:pPr>
            <a:r>
              <a:rPr lang="en-US" sz="2450" b="1" dirty="0">
                <a:solidFill>
                  <a:srgbClr val="EEEFF5"/>
                </a:solidFill>
                <a:latin typeface="Arial" panose="020B0604020202020204" pitchFamily="34" charset="0"/>
                <a:ea typeface="Barlow Bold" pitchFamily="34" charset="-122"/>
                <a:cs typeface="Arial" panose="020B0604020202020204" pitchFamily="34" charset="0"/>
              </a:rPr>
              <a:t>3</a:t>
            </a:r>
            <a:endParaRPr lang="en-US" sz="2450" dirty="0">
              <a:latin typeface="Arial" panose="020B0604020202020204" pitchFamily="34" charset="0"/>
              <a:cs typeface="Arial" panose="020B0604020202020204" pitchFamily="34" charset="0"/>
            </a:endParaRPr>
          </a:p>
        </p:txBody>
      </p:sp>
      <p:sp>
        <p:nvSpPr>
          <p:cNvPr id="18" name="Text 15"/>
          <p:cNvSpPr/>
          <p:nvPr/>
        </p:nvSpPr>
        <p:spPr>
          <a:xfrm>
            <a:off x="1842135" y="5492234"/>
            <a:ext cx="2616160" cy="326946"/>
          </a:xfrm>
          <a:prstGeom prst="rect">
            <a:avLst/>
          </a:prstGeom>
          <a:noFill/>
          <a:ln/>
        </p:spPr>
        <p:txBody>
          <a:bodyPr wrap="none" lIns="0" tIns="0" rIns="0" bIns="0" rtlCol="0" anchor="t"/>
          <a:lstStyle/>
          <a:p>
            <a:pPr marL="0" indent="0" algn="l">
              <a:lnSpc>
                <a:spcPts val="2550"/>
              </a:lnSpc>
              <a:buNone/>
            </a:pPr>
            <a:r>
              <a:rPr lang="en-US" sz="2000" b="1" dirty="0">
                <a:solidFill>
                  <a:srgbClr val="EEEFF5"/>
                </a:solidFill>
                <a:latin typeface="Arial" panose="020B0604020202020204" pitchFamily="34" charset="0"/>
                <a:ea typeface="Barlow Bold" pitchFamily="34" charset="-122"/>
                <a:cs typeface="Arial" panose="020B0604020202020204" pitchFamily="34" charset="0"/>
              </a:rPr>
              <a:t>Communication</a:t>
            </a:r>
            <a:endParaRPr lang="en-US" sz="2000" dirty="0">
              <a:latin typeface="Arial" panose="020B0604020202020204" pitchFamily="34" charset="0"/>
              <a:cs typeface="Arial" panose="020B0604020202020204" pitchFamily="34" charset="0"/>
            </a:endParaRPr>
          </a:p>
        </p:txBody>
      </p:sp>
      <p:sp>
        <p:nvSpPr>
          <p:cNvPr id="19" name="Text 16"/>
          <p:cNvSpPr/>
          <p:nvPr/>
        </p:nvSpPr>
        <p:spPr>
          <a:xfrm>
            <a:off x="1842135" y="5938361"/>
            <a:ext cx="6287453" cy="954405"/>
          </a:xfrm>
          <a:prstGeom prst="rect">
            <a:avLst/>
          </a:prstGeom>
          <a:noFill/>
          <a:ln/>
        </p:spPr>
        <p:txBody>
          <a:bodyPr wrap="square" lIns="0" tIns="0" rIns="0" bIns="0" rtlCol="0" anchor="t"/>
          <a:lstStyle/>
          <a:p>
            <a:pPr marL="0" indent="0" algn="l">
              <a:lnSpc>
                <a:spcPts val="2500"/>
              </a:lnSpc>
              <a:buNone/>
            </a:pPr>
            <a:r>
              <a:rPr lang="en-US" sz="1650" dirty="0">
                <a:solidFill>
                  <a:srgbClr val="EEEFF5"/>
                </a:solidFill>
                <a:latin typeface="Arial" panose="020B0604020202020204" pitchFamily="34" charset="0"/>
                <a:ea typeface="Montserrat" pitchFamily="34" charset="-122"/>
                <a:cs typeface="Arial" panose="020B0604020202020204" pitchFamily="34" charset="0"/>
              </a:rPr>
              <a:t>We established clear communication channels, including regular meetings and online discussions</a:t>
            </a:r>
            <a:r>
              <a:rPr lang="hu-HU" sz="1650" dirty="0">
                <a:solidFill>
                  <a:srgbClr val="EEEFF5"/>
                </a:solidFill>
                <a:latin typeface="Arial" panose="020B0604020202020204" pitchFamily="34" charset="0"/>
                <a:ea typeface="Montserrat" pitchFamily="34" charset="-122"/>
                <a:cs typeface="Arial" panose="020B0604020202020204" pitchFamily="34" charset="0"/>
              </a:rPr>
              <a:t> </a:t>
            </a:r>
            <a:r>
              <a:rPr lang="hu-HU" sz="1650" dirty="0" err="1">
                <a:solidFill>
                  <a:srgbClr val="EEEFF5"/>
                </a:solidFill>
                <a:latin typeface="Arial" panose="020B0604020202020204" pitchFamily="34" charset="0"/>
                <a:ea typeface="Montserrat" pitchFamily="34" charset="-122"/>
                <a:cs typeface="Arial" panose="020B0604020202020204" pitchFamily="34" charset="0"/>
              </a:rPr>
              <a:t>on</a:t>
            </a:r>
            <a:r>
              <a:rPr lang="hu-HU" sz="1650" dirty="0">
                <a:solidFill>
                  <a:srgbClr val="EEEFF5"/>
                </a:solidFill>
                <a:latin typeface="Arial" panose="020B0604020202020204" pitchFamily="34" charset="0"/>
                <a:ea typeface="Montserrat" pitchFamily="34" charset="-122"/>
                <a:cs typeface="Arial" panose="020B0604020202020204" pitchFamily="34" charset="0"/>
              </a:rPr>
              <a:t> </a:t>
            </a:r>
            <a:r>
              <a:rPr lang="hu-HU" sz="1650" dirty="0" err="1">
                <a:solidFill>
                  <a:srgbClr val="EEEFF5"/>
                </a:solidFill>
                <a:latin typeface="Arial" panose="020B0604020202020204" pitchFamily="34" charset="0"/>
                <a:ea typeface="Montserrat" pitchFamily="34" charset="-122"/>
                <a:cs typeface="Arial" panose="020B0604020202020204" pitchFamily="34" charset="0"/>
              </a:rPr>
              <a:t>Discord</a:t>
            </a:r>
            <a:r>
              <a:rPr lang="en-US" sz="1650" dirty="0">
                <a:solidFill>
                  <a:srgbClr val="EEEFF5"/>
                </a:solidFill>
                <a:latin typeface="Arial" panose="020B0604020202020204" pitchFamily="34" charset="0"/>
                <a:ea typeface="Montserrat" pitchFamily="34" charset="-122"/>
                <a:cs typeface="Arial" panose="020B0604020202020204" pitchFamily="34" charset="0"/>
              </a:rPr>
              <a:t>, to ensure smooth collaboration and effective problem-solving.</a:t>
            </a:r>
            <a:endParaRPr lang="en-US" sz="1650" dirty="0">
              <a:latin typeface="Arial" panose="020B0604020202020204" pitchFamily="34" charset="0"/>
              <a:cs typeface="Arial" panose="020B0604020202020204" pitchFamily="34" charset="0"/>
            </a:endParaRPr>
          </a:p>
        </p:txBody>
      </p:sp>
      <p:pic>
        <p:nvPicPr>
          <p:cNvPr id="20" name="Kép 19">
            <a:extLst>
              <a:ext uri="{FF2B5EF4-FFF2-40B4-BE49-F238E27FC236}">
                <a16:creationId xmlns:a16="http://schemas.microsoft.com/office/drawing/2014/main" id="{2BEDCF57-2BAC-CB26-8BF6-62831A634402}"/>
              </a:ext>
            </a:extLst>
          </p:cNvPr>
          <p:cNvPicPr>
            <a:picLocks noChangeAspect="1"/>
          </p:cNvPicPr>
          <p:nvPr/>
        </p:nvPicPr>
        <p:blipFill>
          <a:blip r:embed="rId3"/>
          <a:stretch>
            <a:fillRect/>
          </a:stretch>
        </p:blipFill>
        <p:spPr>
          <a:xfrm>
            <a:off x="12697762" y="7635240"/>
            <a:ext cx="1932638" cy="462745"/>
          </a:xfrm>
          <a:prstGeom prst="rect">
            <a:avLst/>
          </a:prstGeom>
        </p:spPr>
      </p:pic>
      <p:pic>
        <p:nvPicPr>
          <p:cNvPr id="1028" name="Picture 4">
            <a:extLst>
              <a:ext uri="{FF2B5EF4-FFF2-40B4-BE49-F238E27FC236}">
                <a16:creationId xmlns:a16="http://schemas.microsoft.com/office/drawing/2014/main" id="{8D5B0AF3-01FE-8ADD-7A28-B59DF3CB22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29600" y="0"/>
            <a:ext cx="6400800" cy="82296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2523173" y="131615"/>
            <a:ext cx="10827067" cy="1308021"/>
          </a:xfrm>
          <a:prstGeom prst="rect">
            <a:avLst/>
          </a:prstGeom>
          <a:noFill/>
          <a:ln/>
        </p:spPr>
        <p:txBody>
          <a:bodyPr wrap="square" lIns="0" tIns="0" rIns="0" bIns="0" rtlCol="0" anchor="t"/>
          <a:lstStyle/>
          <a:p>
            <a:pPr marL="0" indent="0">
              <a:lnSpc>
                <a:spcPts val="5150"/>
              </a:lnSpc>
              <a:buNone/>
            </a:pPr>
            <a:r>
              <a:rPr lang="en-US" sz="4100" b="1" dirty="0">
                <a:solidFill>
                  <a:srgbClr val="9998FF"/>
                </a:solidFill>
                <a:latin typeface="Arial" panose="020B0604020202020204" pitchFamily="34" charset="0"/>
                <a:ea typeface="Barlow Bold" pitchFamily="34" charset="-122"/>
                <a:cs typeface="Arial" panose="020B0604020202020204" pitchFamily="34" charset="0"/>
              </a:rPr>
              <a:t>Teamwork and Project Management</a:t>
            </a:r>
            <a:endParaRPr lang="en-US" sz="4100" dirty="0">
              <a:latin typeface="Arial" panose="020B0604020202020204" pitchFamily="34" charset="0"/>
              <a:cs typeface="Arial" panose="020B0604020202020204" pitchFamily="34" charset="0"/>
            </a:endParaRPr>
          </a:p>
        </p:txBody>
      </p:sp>
      <p:pic>
        <p:nvPicPr>
          <p:cNvPr id="20" name="Kép 19">
            <a:extLst>
              <a:ext uri="{FF2B5EF4-FFF2-40B4-BE49-F238E27FC236}">
                <a16:creationId xmlns:a16="http://schemas.microsoft.com/office/drawing/2014/main" id="{2BEDCF57-2BAC-CB26-8BF6-62831A634402}"/>
              </a:ext>
            </a:extLst>
          </p:cNvPr>
          <p:cNvPicPr>
            <a:picLocks noChangeAspect="1"/>
          </p:cNvPicPr>
          <p:nvPr/>
        </p:nvPicPr>
        <p:blipFill>
          <a:blip r:embed="rId3"/>
          <a:stretch>
            <a:fillRect/>
          </a:stretch>
        </p:blipFill>
        <p:spPr>
          <a:xfrm>
            <a:off x="12697762" y="7635240"/>
            <a:ext cx="1932638" cy="462745"/>
          </a:xfrm>
          <a:prstGeom prst="rect">
            <a:avLst/>
          </a:prstGeom>
        </p:spPr>
      </p:pic>
      <p:sp>
        <p:nvSpPr>
          <p:cNvPr id="2" name="Szövegdoboz 1">
            <a:extLst>
              <a:ext uri="{FF2B5EF4-FFF2-40B4-BE49-F238E27FC236}">
                <a16:creationId xmlns:a16="http://schemas.microsoft.com/office/drawing/2014/main" id="{991A2848-6BC4-7973-6514-9BDC59D23A88}"/>
              </a:ext>
            </a:extLst>
          </p:cNvPr>
          <p:cNvSpPr txBox="1"/>
          <p:nvPr/>
        </p:nvSpPr>
        <p:spPr>
          <a:xfrm>
            <a:off x="5321081" y="1253405"/>
            <a:ext cx="7315200" cy="425822"/>
          </a:xfrm>
          <a:prstGeom prst="rect">
            <a:avLst/>
          </a:prstGeom>
          <a:noFill/>
        </p:spPr>
        <p:txBody>
          <a:bodyPr wrap="square">
            <a:spAutoFit/>
          </a:bodyPr>
          <a:lstStyle/>
          <a:p>
            <a:pPr marL="0" indent="0">
              <a:lnSpc>
                <a:spcPts val="2800"/>
              </a:lnSpc>
              <a:buNone/>
            </a:pPr>
            <a:r>
              <a:rPr lang="hu-HU" sz="2200" b="1" dirty="0" err="1">
                <a:solidFill>
                  <a:srgbClr val="9998FF"/>
                </a:solidFill>
                <a:latin typeface="Arial" panose="020B0604020202020204" pitchFamily="34" charset="0"/>
                <a:ea typeface="Barlow Bold" pitchFamily="34" charset="-122"/>
                <a:cs typeface="Arial" panose="020B0604020202020204" pitchFamily="34" charset="0"/>
              </a:rPr>
              <a:t>Github</a:t>
            </a:r>
            <a:r>
              <a:rPr lang="hu-HU" sz="2200" b="1" dirty="0">
                <a:solidFill>
                  <a:srgbClr val="9998FF"/>
                </a:solidFill>
                <a:latin typeface="Arial" panose="020B0604020202020204" pitchFamily="34" charset="0"/>
                <a:ea typeface="Barlow Bold" pitchFamily="34" charset="-122"/>
                <a:cs typeface="Arial" panose="020B0604020202020204" pitchFamily="34" charset="0"/>
              </a:rPr>
              <a:t> </a:t>
            </a:r>
            <a:r>
              <a:rPr lang="hu-HU" sz="2200" b="1" dirty="0" err="1">
                <a:solidFill>
                  <a:srgbClr val="9998FF"/>
                </a:solidFill>
                <a:latin typeface="Arial" panose="020B0604020202020204" pitchFamily="34" charset="0"/>
                <a:ea typeface="Barlow Bold" pitchFamily="34" charset="-122"/>
                <a:cs typeface="Arial" panose="020B0604020202020204" pitchFamily="34" charset="0"/>
              </a:rPr>
              <a:t>commit</a:t>
            </a:r>
            <a:r>
              <a:rPr lang="hu-HU" sz="2200" b="1" dirty="0">
                <a:solidFill>
                  <a:srgbClr val="9998FF"/>
                </a:solidFill>
                <a:latin typeface="Arial" panose="020B0604020202020204" pitchFamily="34" charset="0"/>
                <a:ea typeface="Barlow Bold" pitchFamily="34" charset="-122"/>
                <a:cs typeface="Arial" panose="020B0604020202020204" pitchFamily="34" charset="0"/>
              </a:rPr>
              <a:t> </a:t>
            </a:r>
            <a:r>
              <a:rPr lang="hu-HU" sz="2200" b="1" dirty="0" err="1">
                <a:solidFill>
                  <a:srgbClr val="9998FF"/>
                </a:solidFill>
                <a:latin typeface="Arial" panose="020B0604020202020204" pitchFamily="34" charset="0"/>
                <a:ea typeface="Barlow Bold" pitchFamily="34" charset="-122"/>
                <a:cs typeface="Arial" panose="020B0604020202020204" pitchFamily="34" charset="0"/>
              </a:rPr>
              <a:t>distribution</a:t>
            </a:r>
            <a:endParaRPr lang="en-US" sz="2200" dirty="0">
              <a:latin typeface="Arial" panose="020B0604020202020204" pitchFamily="34" charset="0"/>
              <a:cs typeface="Arial" panose="020B0604020202020204" pitchFamily="34" charset="0"/>
            </a:endParaRPr>
          </a:p>
        </p:txBody>
      </p:sp>
      <p:pic>
        <p:nvPicPr>
          <p:cNvPr id="7" name="Kép 6">
            <a:extLst>
              <a:ext uri="{FF2B5EF4-FFF2-40B4-BE49-F238E27FC236}">
                <a16:creationId xmlns:a16="http://schemas.microsoft.com/office/drawing/2014/main" id="{CD34F589-70C6-A284-7F70-A21CEF7FB1D7}"/>
              </a:ext>
            </a:extLst>
          </p:cNvPr>
          <p:cNvPicPr>
            <a:picLocks noChangeAspect="1"/>
          </p:cNvPicPr>
          <p:nvPr/>
        </p:nvPicPr>
        <p:blipFill>
          <a:blip r:embed="rId4"/>
          <a:stretch>
            <a:fillRect/>
          </a:stretch>
        </p:blipFill>
        <p:spPr>
          <a:xfrm>
            <a:off x="1666300" y="1833562"/>
            <a:ext cx="11297800" cy="5888625"/>
          </a:xfrm>
          <a:prstGeom prst="rect">
            <a:avLst/>
          </a:prstGeom>
        </p:spPr>
      </p:pic>
    </p:spTree>
    <p:extLst>
      <p:ext uri="{BB962C8B-B14F-4D97-AF65-F5344CB8AC3E}">
        <p14:creationId xmlns:p14="http://schemas.microsoft.com/office/powerpoint/2010/main" val="8610208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2416309" y="150020"/>
            <a:ext cx="9797781" cy="654010"/>
          </a:xfrm>
          <a:prstGeom prst="rect">
            <a:avLst/>
          </a:prstGeom>
          <a:noFill/>
          <a:ln/>
        </p:spPr>
        <p:txBody>
          <a:bodyPr wrap="square" lIns="0" tIns="0" rIns="0" bIns="0" rtlCol="0" anchor="t"/>
          <a:lstStyle/>
          <a:p>
            <a:pPr marL="0" indent="0">
              <a:lnSpc>
                <a:spcPts val="5150"/>
              </a:lnSpc>
              <a:buNone/>
            </a:pPr>
            <a:r>
              <a:rPr lang="en-US" sz="4450" b="1" dirty="0">
                <a:solidFill>
                  <a:srgbClr val="9998FF"/>
                </a:solidFill>
                <a:latin typeface="Arial" panose="020B0604020202020204" pitchFamily="34" charset="0"/>
                <a:ea typeface="Barlow Bold" pitchFamily="34" charset="-122"/>
                <a:cs typeface="Arial" panose="020B0604020202020204" pitchFamily="34" charset="0"/>
              </a:rPr>
              <a:t>Teamwork and Project Management</a:t>
            </a:r>
            <a:endParaRPr lang="en-US" sz="4450" dirty="0">
              <a:latin typeface="Arial" panose="020B0604020202020204" pitchFamily="34" charset="0"/>
              <a:cs typeface="Arial" panose="020B0604020202020204" pitchFamily="34" charset="0"/>
            </a:endParaRPr>
          </a:p>
        </p:txBody>
      </p:sp>
      <p:pic>
        <p:nvPicPr>
          <p:cNvPr id="20" name="Kép 19">
            <a:extLst>
              <a:ext uri="{FF2B5EF4-FFF2-40B4-BE49-F238E27FC236}">
                <a16:creationId xmlns:a16="http://schemas.microsoft.com/office/drawing/2014/main" id="{2BEDCF57-2BAC-CB26-8BF6-62831A634402}"/>
              </a:ext>
            </a:extLst>
          </p:cNvPr>
          <p:cNvPicPr>
            <a:picLocks noChangeAspect="1"/>
          </p:cNvPicPr>
          <p:nvPr/>
        </p:nvPicPr>
        <p:blipFill>
          <a:blip r:embed="rId3"/>
          <a:stretch>
            <a:fillRect/>
          </a:stretch>
        </p:blipFill>
        <p:spPr>
          <a:xfrm>
            <a:off x="12697762" y="7635240"/>
            <a:ext cx="1932638" cy="462745"/>
          </a:xfrm>
          <a:prstGeom prst="rect">
            <a:avLst/>
          </a:prstGeom>
        </p:spPr>
      </p:pic>
      <p:sp>
        <p:nvSpPr>
          <p:cNvPr id="2" name="Szövegdoboz 1">
            <a:extLst>
              <a:ext uri="{FF2B5EF4-FFF2-40B4-BE49-F238E27FC236}">
                <a16:creationId xmlns:a16="http://schemas.microsoft.com/office/drawing/2014/main" id="{991A2848-6BC4-7973-6514-9BDC59D23A88}"/>
              </a:ext>
            </a:extLst>
          </p:cNvPr>
          <p:cNvSpPr txBox="1"/>
          <p:nvPr/>
        </p:nvSpPr>
        <p:spPr>
          <a:xfrm>
            <a:off x="3657599" y="907274"/>
            <a:ext cx="7315200" cy="425822"/>
          </a:xfrm>
          <a:prstGeom prst="rect">
            <a:avLst/>
          </a:prstGeom>
          <a:noFill/>
        </p:spPr>
        <p:txBody>
          <a:bodyPr wrap="square">
            <a:spAutoFit/>
          </a:bodyPr>
          <a:lstStyle/>
          <a:p>
            <a:pPr marL="0" indent="0" algn="ctr">
              <a:lnSpc>
                <a:spcPts val="2800"/>
              </a:lnSpc>
              <a:buNone/>
            </a:pPr>
            <a:r>
              <a:rPr lang="en-GB" sz="2200" b="1" dirty="0">
                <a:solidFill>
                  <a:srgbClr val="9998FF"/>
                </a:solidFill>
                <a:latin typeface="Arial" panose="020B0604020202020204" pitchFamily="34" charset="0"/>
                <a:cs typeface="Arial" panose="020B0604020202020204" pitchFamily="34" charset="0"/>
              </a:rPr>
              <a:t>Jira Workload</a:t>
            </a:r>
            <a:endParaRPr lang="hu-HU" sz="2200" b="1" dirty="0">
              <a:solidFill>
                <a:srgbClr val="9998FF"/>
              </a:solidFill>
              <a:latin typeface="Arial" panose="020B0604020202020204" pitchFamily="34" charset="0"/>
              <a:cs typeface="Arial" panose="020B0604020202020204" pitchFamily="34" charset="0"/>
            </a:endParaRPr>
          </a:p>
        </p:txBody>
      </p:sp>
      <p:pic>
        <p:nvPicPr>
          <p:cNvPr id="5" name="Kép 4">
            <a:extLst>
              <a:ext uri="{FF2B5EF4-FFF2-40B4-BE49-F238E27FC236}">
                <a16:creationId xmlns:a16="http://schemas.microsoft.com/office/drawing/2014/main" id="{B0C03CCB-038C-538F-6B76-D0FB9C629AFA}"/>
              </a:ext>
            </a:extLst>
          </p:cNvPr>
          <p:cNvPicPr>
            <a:picLocks noChangeAspect="1"/>
          </p:cNvPicPr>
          <p:nvPr/>
        </p:nvPicPr>
        <p:blipFill>
          <a:blip r:embed="rId4"/>
          <a:stretch>
            <a:fillRect/>
          </a:stretch>
        </p:blipFill>
        <p:spPr>
          <a:xfrm>
            <a:off x="2952140" y="1436340"/>
            <a:ext cx="8726118" cy="6430272"/>
          </a:xfrm>
          <a:prstGeom prst="rect">
            <a:avLst/>
          </a:prstGeom>
        </p:spPr>
      </p:pic>
    </p:spTree>
    <p:extLst>
      <p:ext uri="{BB962C8B-B14F-4D97-AF65-F5344CB8AC3E}">
        <p14:creationId xmlns:p14="http://schemas.microsoft.com/office/powerpoint/2010/main" val="654785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nvSpPr>
        <p:spPr>
          <a:xfrm>
            <a:off x="5282614" y="245155"/>
            <a:ext cx="4065171" cy="712708"/>
          </a:xfrm>
          <a:prstGeom prst="rect">
            <a:avLst/>
          </a:prstGeom>
          <a:noFill/>
          <a:ln/>
        </p:spPr>
        <p:txBody>
          <a:bodyPr wrap="none" lIns="0" tIns="0" rIns="0" bIns="0" rtlCol="0" anchor="t"/>
          <a:lstStyle/>
          <a:p>
            <a:pPr marL="0" indent="0">
              <a:lnSpc>
                <a:spcPts val="5600"/>
              </a:lnSpc>
              <a:buNone/>
            </a:pPr>
            <a:r>
              <a:rPr lang="en-US" sz="4450" b="1" dirty="0">
                <a:solidFill>
                  <a:srgbClr val="9998FF"/>
                </a:solidFill>
                <a:latin typeface="Arial" panose="020B0604020202020204" pitchFamily="34" charset="0"/>
                <a:ea typeface="Barlow Bold" pitchFamily="34" charset="-122"/>
                <a:cs typeface="Arial" panose="020B0604020202020204" pitchFamily="34" charset="0"/>
              </a:rPr>
              <a:t>Manual Testin</a:t>
            </a:r>
            <a:r>
              <a:rPr lang="hu-HU" sz="4450" b="1" dirty="0">
                <a:solidFill>
                  <a:srgbClr val="9998FF"/>
                </a:solidFill>
                <a:latin typeface="Arial" panose="020B0604020202020204" pitchFamily="34" charset="0"/>
                <a:ea typeface="Barlow Bold" pitchFamily="34" charset="-122"/>
                <a:cs typeface="Arial" panose="020B0604020202020204" pitchFamily="34" charset="0"/>
              </a:rPr>
              <a:t>g</a:t>
            </a:r>
            <a:endParaRPr lang="en-US" sz="4450" dirty="0">
              <a:latin typeface="Arial" panose="020B0604020202020204" pitchFamily="34" charset="0"/>
              <a:cs typeface="Arial" panose="020B0604020202020204" pitchFamily="34" charset="0"/>
            </a:endParaRPr>
          </a:p>
        </p:txBody>
      </p:sp>
      <p:sp>
        <p:nvSpPr>
          <p:cNvPr id="5" name="Text 1"/>
          <p:cNvSpPr/>
          <p:nvPr/>
        </p:nvSpPr>
        <p:spPr>
          <a:xfrm>
            <a:off x="1591215" y="2265784"/>
            <a:ext cx="10906349" cy="2788384"/>
          </a:xfrm>
          <a:prstGeom prst="rect">
            <a:avLst/>
          </a:prstGeom>
          <a:noFill/>
          <a:ln/>
        </p:spPr>
        <p:txBody>
          <a:bodyPr wrap="square" lIns="0" tIns="0" rIns="0" bIns="0" rtlCol="0" anchor="t"/>
          <a:lstStyle/>
          <a:p>
            <a:pPr marL="285750" indent="-285750" algn="l">
              <a:lnSpc>
                <a:spcPts val="2700"/>
              </a:lnSpc>
              <a:buFont typeface="Arial" panose="020B0604020202020204" pitchFamily="34" charset="0"/>
              <a:buChar char="•"/>
            </a:pPr>
            <a:r>
              <a:rPr lang="en-GB" sz="2000" dirty="0">
                <a:solidFill>
                  <a:srgbClr val="EEEFF5"/>
                </a:solidFill>
                <a:latin typeface="Arial" panose="020B0604020202020204" pitchFamily="34" charset="0"/>
                <a:ea typeface="Montserrat" pitchFamily="34" charset="-122"/>
                <a:cs typeface="Arial" panose="020B0604020202020204" pitchFamily="34" charset="0"/>
              </a:rPr>
              <a:t>We conducted manual tests to ensure individual components and the overall application behaved as expected from a user's perspective.</a:t>
            </a:r>
          </a:p>
          <a:p>
            <a:pPr marL="285750" indent="-285750" algn="l">
              <a:lnSpc>
                <a:spcPts val="2700"/>
              </a:lnSpc>
              <a:buFont typeface="Arial" panose="020B0604020202020204" pitchFamily="34" charset="0"/>
              <a:buChar char="•"/>
            </a:pPr>
            <a:r>
              <a:rPr lang="en-GB" sz="2000" dirty="0">
                <a:solidFill>
                  <a:srgbClr val="EEEFF5"/>
                </a:solidFill>
                <a:latin typeface="Arial" panose="020B0604020202020204" pitchFamily="34" charset="0"/>
                <a:ea typeface="Montserrat" pitchFamily="34" charset="-122"/>
                <a:cs typeface="Arial" panose="020B0604020202020204" pitchFamily="34" charset="0"/>
              </a:rPr>
              <a:t>This involved interacting with the application's interface, inputting various data, and verifying outputs against anticipated results.</a:t>
            </a:r>
          </a:p>
          <a:p>
            <a:pPr marL="285750" indent="-285750" algn="l">
              <a:lnSpc>
                <a:spcPts val="2700"/>
              </a:lnSpc>
              <a:buFont typeface="Arial" panose="020B0604020202020204" pitchFamily="34" charset="0"/>
              <a:buChar char="•"/>
            </a:pPr>
            <a:r>
              <a:rPr lang="en-GB" sz="2000" dirty="0">
                <a:solidFill>
                  <a:srgbClr val="EEEFF5"/>
                </a:solidFill>
                <a:latin typeface="Arial" panose="020B0604020202020204" pitchFamily="34" charset="0"/>
                <a:ea typeface="Montserrat" pitchFamily="34" charset="-122"/>
                <a:cs typeface="Arial" panose="020B0604020202020204" pitchFamily="34" charset="0"/>
              </a:rPr>
              <a:t>This Helped confirm usability, functionality, and accuracy of the software before deployment.</a:t>
            </a:r>
          </a:p>
          <a:p>
            <a:pPr marL="0" indent="0" algn="l">
              <a:lnSpc>
                <a:spcPts val="2700"/>
              </a:lnSpc>
              <a:buNone/>
            </a:pPr>
            <a:endParaRPr lang="en-US" sz="2000" dirty="0">
              <a:latin typeface="Arial" panose="020B0604020202020204" pitchFamily="34" charset="0"/>
              <a:cs typeface="Arial" panose="020B0604020202020204" pitchFamily="34" charset="0"/>
            </a:endParaRPr>
          </a:p>
        </p:txBody>
      </p:sp>
      <p:pic>
        <p:nvPicPr>
          <p:cNvPr id="8" name="Image 3" descr="preencoded.png"/>
          <p:cNvPicPr>
            <a:picLocks noChangeAspect="1"/>
          </p:cNvPicPr>
          <p:nvPr/>
        </p:nvPicPr>
        <p:blipFill>
          <a:blip r:embed="rId3"/>
          <a:stretch>
            <a:fillRect/>
          </a:stretch>
        </p:blipFill>
        <p:spPr>
          <a:xfrm>
            <a:off x="7044390" y="1281639"/>
            <a:ext cx="541615" cy="541615"/>
          </a:xfrm>
          <a:prstGeom prst="rect">
            <a:avLst/>
          </a:prstGeom>
        </p:spPr>
      </p:pic>
      <p:pic>
        <p:nvPicPr>
          <p:cNvPr id="10" name="Kép 9">
            <a:extLst>
              <a:ext uri="{FF2B5EF4-FFF2-40B4-BE49-F238E27FC236}">
                <a16:creationId xmlns:a16="http://schemas.microsoft.com/office/drawing/2014/main" id="{40991C4E-E759-156C-049E-45CECFFE4F02}"/>
              </a:ext>
            </a:extLst>
          </p:cNvPr>
          <p:cNvPicPr>
            <a:picLocks noChangeAspect="1"/>
          </p:cNvPicPr>
          <p:nvPr/>
        </p:nvPicPr>
        <p:blipFill>
          <a:blip r:embed="rId4"/>
          <a:stretch>
            <a:fillRect/>
          </a:stretch>
        </p:blipFill>
        <p:spPr>
          <a:xfrm>
            <a:off x="12697762" y="7635240"/>
            <a:ext cx="1932638" cy="462745"/>
          </a:xfrm>
          <a:prstGeom prst="rect">
            <a:avLst/>
          </a:prstGeom>
        </p:spPr>
      </p:pic>
      <p:pic>
        <p:nvPicPr>
          <p:cNvPr id="15" name="Kép 14">
            <a:extLst>
              <a:ext uri="{FF2B5EF4-FFF2-40B4-BE49-F238E27FC236}">
                <a16:creationId xmlns:a16="http://schemas.microsoft.com/office/drawing/2014/main" id="{945478D6-0354-4314-EF0B-5110AD748211}"/>
              </a:ext>
            </a:extLst>
          </p:cNvPr>
          <p:cNvPicPr>
            <a:picLocks noChangeAspect="1"/>
          </p:cNvPicPr>
          <p:nvPr/>
        </p:nvPicPr>
        <p:blipFill>
          <a:blip r:embed="rId5"/>
          <a:stretch>
            <a:fillRect/>
          </a:stretch>
        </p:blipFill>
        <p:spPr>
          <a:xfrm>
            <a:off x="427182" y="4525367"/>
            <a:ext cx="13776032" cy="316171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FD00A4-83B8-F1EF-B705-3C7A9B56674B}"/>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3A18C963-C7DB-8336-243B-1DE803A73CCA}"/>
              </a:ext>
            </a:extLst>
          </p:cNvPr>
          <p:cNvSpPr/>
          <p:nvPr/>
        </p:nvSpPr>
        <p:spPr>
          <a:xfrm>
            <a:off x="4703691" y="243126"/>
            <a:ext cx="7584877" cy="712708"/>
          </a:xfrm>
          <a:prstGeom prst="rect">
            <a:avLst/>
          </a:prstGeom>
          <a:noFill/>
          <a:ln/>
        </p:spPr>
        <p:txBody>
          <a:bodyPr wrap="none" lIns="0" tIns="0" rIns="0" bIns="0" rtlCol="0" anchor="t"/>
          <a:lstStyle/>
          <a:p>
            <a:pPr marL="0" indent="0">
              <a:lnSpc>
                <a:spcPts val="5600"/>
              </a:lnSpc>
              <a:buNone/>
            </a:pPr>
            <a:r>
              <a:rPr lang="en-US" sz="4450" b="1" dirty="0">
                <a:solidFill>
                  <a:srgbClr val="9998FF"/>
                </a:solidFill>
                <a:latin typeface="Arial" panose="020B0604020202020204" pitchFamily="34" charset="0"/>
                <a:ea typeface="Barlow Bold" pitchFamily="34" charset="-122"/>
                <a:cs typeface="Arial" panose="020B0604020202020204" pitchFamily="34" charset="0"/>
              </a:rPr>
              <a:t>Unit Testin</a:t>
            </a:r>
            <a:r>
              <a:rPr lang="hu-HU" sz="4450" b="1" dirty="0">
                <a:solidFill>
                  <a:srgbClr val="9998FF"/>
                </a:solidFill>
                <a:latin typeface="Arial" panose="020B0604020202020204" pitchFamily="34" charset="0"/>
                <a:ea typeface="Barlow Bold" pitchFamily="34" charset="-122"/>
                <a:cs typeface="Arial" panose="020B0604020202020204" pitchFamily="34" charset="0"/>
              </a:rPr>
              <a:t>g</a:t>
            </a:r>
            <a:endParaRPr lang="en-US" sz="4450" dirty="0">
              <a:latin typeface="Arial" panose="020B0604020202020204" pitchFamily="34" charset="0"/>
              <a:cs typeface="Arial" panose="020B0604020202020204" pitchFamily="34" charset="0"/>
            </a:endParaRPr>
          </a:p>
        </p:txBody>
      </p:sp>
      <p:pic>
        <p:nvPicPr>
          <p:cNvPr id="4" name="Image 1" descr="preencoded.png">
            <a:extLst>
              <a:ext uri="{FF2B5EF4-FFF2-40B4-BE49-F238E27FC236}">
                <a16:creationId xmlns:a16="http://schemas.microsoft.com/office/drawing/2014/main" id="{97B4DDC2-7917-4B0D-0F93-EB9F2CE012C8}"/>
              </a:ext>
            </a:extLst>
          </p:cNvPr>
          <p:cNvPicPr>
            <a:picLocks noChangeAspect="1"/>
          </p:cNvPicPr>
          <p:nvPr/>
        </p:nvPicPr>
        <p:blipFill>
          <a:blip r:embed="rId3"/>
          <a:stretch>
            <a:fillRect/>
          </a:stretch>
        </p:blipFill>
        <p:spPr>
          <a:xfrm>
            <a:off x="3438626" y="1795483"/>
            <a:ext cx="541615" cy="541615"/>
          </a:xfrm>
          <a:prstGeom prst="rect">
            <a:avLst/>
          </a:prstGeom>
        </p:spPr>
      </p:pic>
      <p:sp>
        <p:nvSpPr>
          <p:cNvPr id="9" name="Text 3">
            <a:extLst>
              <a:ext uri="{FF2B5EF4-FFF2-40B4-BE49-F238E27FC236}">
                <a16:creationId xmlns:a16="http://schemas.microsoft.com/office/drawing/2014/main" id="{D35A8885-42BD-A1EE-F791-314072010CB1}"/>
              </a:ext>
            </a:extLst>
          </p:cNvPr>
          <p:cNvSpPr/>
          <p:nvPr/>
        </p:nvSpPr>
        <p:spPr>
          <a:xfrm>
            <a:off x="1144266" y="2834092"/>
            <a:ext cx="5671950" cy="4387323"/>
          </a:xfrm>
          <a:prstGeom prst="rect">
            <a:avLst/>
          </a:prstGeom>
          <a:noFill/>
          <a:ln/>
        </p:spPr>
        <p:txBody>
          <a:bodyPr wrap="square" lIns="0" tIns="0" rIns="0" bIns="0" rtlCol="0" anchor="t"/>
          <a:lstStyle/>
          <a:p>
            <a:pPr marL="285750" indent="-285750" algn="l">
              <a:lnSpc>
                <a:spcPts val="2700"/>
              </a:lnSpc>
              <a:buFont typeface="Arial" panose="020B0604020202020204" pitchFamily="34" charset="0"/>
              <a:buChar char="•"/>
            </a:pPr>
            <a:r>
              <a:rPr lang="en-GB" sz="2000" dirty="0">
                <a:solidFill>
                  <a:srgbClr val="EEEFF5"/>
                </a:solidFill>
                <a:latin typeface="Arial" panose="020B0604020202020204" pitchFamily="34" charset="0"/>
                <a:ea typeface="Montserrat" pitchFamily="34" charset="-122"/>
                <a:cs typeface="Arial" panose="020B0604020202020204" pitchFamily="34" charset="0"/>
              </a:rPr>
              <a:t>We Wrote automated tests for the smallest, independently testable parts of the code.</a:t>
            </a:r>
          </a:p>
          <a:p>
            <a:pPr marL="285750" indent="-285750" algn="l">
              <a:lnSpc>
                <a:spcPts val="2700"/>
              </a:lnSpc>
              <a:buFont typeface="Arial" panose="020B0604020202020204" pitchFamily="34" charset="0"/>
              <a:buChar char="•"/>
            </a:pPr>
            <a:r>
              <a:rPr lang="en-GB" sz="2000" dirty="0">
                <a:solidFill>
                  <a:srgbClr val="EEEFF5"/>
                </a:solidFill>
                <a:latin typeface="Arial" panose="020B0604020202020204" pitchFamily="34" charset="0"/>
                <a:ea typeface="Montserrat" pitchFamily="34" charset="-122"/>
                <a:cs typeface="Arial" panose="020B0604020202020204" pitchFamily="34" charset="0"/>
              </a:rPr>
              <a:t>With NetBeans' built-in tool JUnit integration to quickly and efficiently create and run test cases. </a:t>
            </a:r>
          </a:p>
          <a:p>
            <a:pPr marL="285750" indent="-285750" algn="l">
              <a:lnSpc>
                <a:spcPts val="2700"/>
              </a:lnSpc>
              <a:buFont typeface="Arial" panose="020B0604020202020204" pitchFamily="34" charset="0"/>
              <a:buChar char="•"/>
            </a:pPr>
            <a:r>
              <a:rPr lang="en-GB" sz="2000" dirty="0">
                <a:solidFill>
                  <a:srgbClr val="EEEFF5"/>
                </a:solidFill>
                <a:latin typeface="Arial" panose="020B0604020202020204" pitchFamily="34" charset="0"/>
                <a:ea typeface="Montserrat" pitchFamily="34" charset="-122"/>
                <a:cs typeface="Arial" panose="020B0604020202020204" pitchFamily="34" charset="0"/>
              </a:rPr>
              <a:t>This testing Ensures that individual code units function according to specifications.</a:t>
            </a:r>
            <a:endParaRPr lang="en-US" sz="2000" dirty="0">
              <a:solidFill>
                <a:srgbClr val="EEEFF5"/>
              </a:solidFill>
              <a:latin typeface="Arial" panose="020B0604020202020204" pitchFamily="34" charset="0"/>
              <a:ea typeface="Montserrat" pitchFamily="34" charset="-122"/>
              <a:cs typeface="Arial" panose="020B0604020202020204" pitchFamily="34" charset="0"/>
            </a:endParaRPr>
          </a:p>
        </p:txBody>
      </p:sp>
      <p:pic>
        <p:nvPicPr>
          <p:cNvPr id="10" name="Kép 9">
            <a:extLst>
              <a:ext uri="{FF2B5EF4-FFF2-40B4-BE49-F238E27FC236}">
                <a16:creationId xmlns:a16="http://schemas.microsoft.com/office/drawing/2014/main" id="{4C447F7D-7000-64DC-690E-5817F95D7041}"/>
              </a:ext>
            </a:extLst>
          </p:cNvPr>
          <p:cNvPicPr>
            <a:picLocks noChangeAspect="1"/>
          </p:cNvPicPr>
          <p:nvPr/>
        </p:nvPicPr>
        <p:blipFill>
          <a:blip r:embed="rId4"/>
          <a:stretch>
            <a:fillRect/>
          </a:stretch>
        </p:blipFill>
        <p:spPr>
          <a:xfrm>
            <a:off x="12697762" y="7635240"/>
            <a:ext cx="1932638" cy="462745"/>
          </a:xfrm>
          <a:prstGeom prst="rect">
            <a:avLst/>
          </a:prstGeom>
        </p:spPr>
      </p:pic>
      <p:pic>
        <p:nvPicPr>
          <p:cNvPr id="6" name="Kép 5">
            <a:extLst>
              <a:ext uri="{FF2B5EF4-FFF2-40B4-BE49-F238E27FC236}">
                <a16:creationId xmlns:a16="http://schemas.microsoft.com/office/drawing/2014/main" id="{6ED2C3D0-77ED-BE08-B9AF-B7F917D1819C}"/>
              </a:ext>
            </a:extLst>
          </p:cNvPr>
          <p:cNvPicPr>
            <a:picLocks noChangeAspect="1"/>
          </p:cNvPicPr>
          <p:nvPr/>
        </p:nvPicPr>
        <p:blipFill>
          <a:blip r:embed="rId5"/>
          <a:stretch>
            <a:fillRect/>
          </a:stretch>
        </p:blipFill>
        <p:spPr>
          <a:xfrm>
            <a:off x="7896247" y="1795483"/>
            <a:ext cx="5117490" cy="5516255"/>
          </a:xfrm>
          <a:prstGeom prst="rect">
            <a:avLst/>
          </a:prstGeom>
        </p:spPr>
      </p:pic>
    </p:spTree>
    <p:extLst>
      <p:ext uri="{BB962C8B-B14F-4D97-AF65-F5344CB8AC3E}">
        <p14:creationId xmlns:p14="http://schemas.microsoft.com/office/powerpoint/2010/main" val="40825695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44709" y="1328380"/>
            <a:ext cx="5701546" cy="712708"/>
          </a:xfrm>
          <a:prstGeom prst="rect">
            <a:avLst/>
          </a:prstGeom>
          <a:noFill/>
          <a:ln/>
        </p:spPr>
        <p:txBody>
          <a:bodyPr wrap="none" lIns="0" tIns="0" rIns="0" bIns="0" rtlCol="0" anchor="t"/>
          <a:lstStyle/>
          <a:p>
            <a:pPr marL="0" indent="0">
              <a:lnSpc>
                <a:spcPts val="5600"/>
              </a:lnSpc>
              <a:buNone/>
            </a:pPr>
            <a:r>
              <a:rPr lang="en-US" sz="4450" b="1" dirty="0">
                <a:solidFill>
                  <a:srgbClr val="9998FF"/>
                </a:solidFill>
                <a:latin typeface="Arial" panose="020B0604020202020204" pitchFamily="34" charset="0"/>
                <a:ea typeface="Barlow Bold" pitchFamily="34" charset="-122"/>
                <a:cs typeface="Arial" panose="020B0604020202020204" pitchFamily="34" charset="0"/>
              </a:rPr>
              <a:t>Next Steps</a:t>
            </a:r>
            <a:endParaRPr lang="en-US" sz="4450" dirty="0">
              <a:latin typeface="Arial" panose="020B0604020202020204" pitchFamily="34" charset="0"/>
              <a:cs typeface="Arial" panose="020B0604020202020204" pitchFamily="34" charset="0"/>
            </a:endParaRPr>
          </a:p>
        </p:txBody>
      </p:sp>
      <p:sp>
        <p:nvSpPr>
          <p:cNvPr id="4" name="Shape 1"/>
          <p:cNvSpPr/>
          <p:nvPr/>
        </p:nvSpPr>
        <p:spPr>
          <a:xfrm>
            <a:off x="6244709" y="2366010"/>
            <a:ext cx="162401" cy="1179552"/>
          </a:xfrm>
          <a:prstGeom prst="roundRect">
            <a:avLst>
              <a:gd name="adj" fmla="val 120071"/>
            </a:avLst>
          </a:prstGeom>
          <a:solidFill>
            <a:srgbClr val="282C32"/>
          </a:solidFill>
          <a:ln/>
          <a:effectLst>
            <a:outerShdw blurRad="53340" dist="26670" dir="13500000" algn="bl" rotWithShape="0">
              <a:srgbClr val="FFFFFF">
                <a:alpha val="10000"/>
              </a:srgbClr>
            </a:outerShdw>
          </a:effectLst>
        </p:spPr>
      </p:sp>
      <p:sp>
        <p:nvSpPr>
          <p:cNvPr id="5" name="Text 2"/>
          <p:cNvSpPr/>
          <p:nvPr/>
        </p:nvSpPr>
        <p:spPr>
          <a:xfrm>
            <a:off x="6732032" y="2366010"/>
            <a:ext cx="2850713" cy="356235"/>
          </a:xfrm>
          <a:prstGeom prst="rect">
            <a:avLst/>
          </a:prstGeom>
          <a:noFill/>
          <a:ln/>
        </p:spPr>
        <p:txBody>
          <a:bodyPr wrap="none" lIns="0" tIns="0" rIns="0" bIns="0" rtlCol="0" anchor="t"/>
          <a:lstStyle/>
          <a:p>
            <a:pPr marL="0" indent="0" algn="l">
              <a:lnSpc>
                <a:spcPts val="2800"/>
              </a:lnSpc>
              <a:buNone/>
            </a:pPr>
            <a:r>
              <a:rPr lang="en-US" sz="2200" b="1" dirty="0">
                <a:solidFill>
                  <a:srgbClr val="EEEFF5"/>
                </a:solidFill>
                <a:latin typeface="Arial" panose="020B0604020202020204" pitchFamily="34" charset="0"/>
                <a:ea typeface="Barlow Bold" pitchFamily="34" charset="-122"/>
                <a:cs typeface="Arial" panose="020B0604020202020204" pitchFamily="34" charset="0"/>
              </a:rPr>
              <a:t>Int</a:t>
            </a:r>
            <a:r>
              <a:rPr lang="hu-HU" sz="2200" b="1" dirty="0">
                <a:solidFill>
                  <a:srgbClr val="EEEFF5"/>
                </a:solidFill>
                <a:latin typeface="Arial" panose="020B0604020202020204" pitchFamily="34" charset="0"/>
                <a:ea typeface="Barlow Bold" pitchFamily="34" charset="-122"/>
                <a:cs typeface="Arial" panose="020B0604020202020204" pitchFamily="34" charset="0"/>
              </a:rPr>
              <a:t>e</a:t>
            </a:r>
            <a:r>
              <a:rPr lang="en-US" sz="2200" b="1" dirty="0">
                <a:solidFill>
                  <a:srgbClr val="EEEFF5"/>
                </a:solidFill>
                <a:latin typeface="Arial" panose="020B0604020202020204" pitchFamily="34" charset="0"/>
                <a:ea typeface="Barlow Bold" pitchFamily="34" charset="-122"/>
                <a:cs typeface="Arial" panose="020B0604020202020204" pitchFamily="34" charset="0"/>
              </a:rPr>
              <a:t>grating Sim</a:t>
            </a:r>
            <a:r>
              <a:rPr lang="hu-HU" sz="2200" b="1" dirty="0">
                <a:solidFill>
                  <a:srgbClr val="EEEFF5"/>
                </a:solidFill>
                <a:latin typeface="Arial" panose="020B0604020202020204" pitchFamily="34" charset="0"/>
                <a:ea typeface="Barlow Bold" pitchFamily="34" charset="-122"/>
                <a:cs typeface="Arial" panose="020B0604020202020204" pitchFamily="34" charset="0"/>
              </a:rPr>
              <a:t>p</a:t>
            </a:r>
            <a:r>
              <a:rPr lang="en-US" sz="2200" b="1" dirty="0" err="1">
                <a:solidFill>
                  <a:srgbClr val="EEEFF5"/>
                </a:solidFill>
                <a:latin typeface="Arial" panose="020B0604020202020204" pitchFamily="34" charset="0"/>
                <a:ea typeface="Barlow Bold" pitchFamily="34" charset="-122"/>
                <a:cs typeface="Arial" panose="020B0604020202020204" pitchFamily="34" charset="0"/>
              </a:rPr>
              <a:t>lePay</a:t>
            </a:r>
            <a:endParaRPr lang="en-US" sz="2200" dirty="0">
              <a:latin typeface="Arial" panose="020B0604020202020204" pitchFamily="34" charset="0"/>
              <a:cs typeface="Arial" panose="020B0604020202020204" pitchFamily="34" charset="0"/>
            </a:endParaRPr>
          </a:p>
        </p:txBody>
      </p:sp>
      <p:sp>
        <p:nvSpPr>
          <p:cNvPr id="6" name="Text 3"/>
          <p:cNvSpPr/>
          <p:nvPr/>
        </p:nvSpPr>
        <p:spPr>
          <a:xfrm>
            <a:off x="6732032" y="2852142"/>
            <a:ext cx="7140059" cy="693420"/>
          </a:xfrm>
          <a:prstGeom prst="rect">
            <a:avLst/>
          </a:prstGeom>
          <a:noFill/>
          <a:ln/>
        </p:spPr>
        <p:txBody>
          <a:bodyPr wrap="square" lIns="0" tIns="0" rIns="0" bIns="0" rtlCol="0" anchor="t"/>
          <a:lstStyle/>
          <a:p>
            <a:pPr marL="0" indent="0" algn="l">
              <a:lnSpc>
                <a:spcPts val="2700"/>
              </a:lnSpc>
              <a:buNone/>
            </a:pPr>
            <a:r>
              <a:rPr lang="en-US" dirty="0">
                <a:solidFill>
                  <a:srgbClr val="EEEFF5"/>
                </a:solidFill>
                <a:latin typeface="Arial" panose="020B0604020202020204" pitchFamily="34" charset="0"/>
                <a:ea typeface="Montserrat" pitchFamily="34" charset="-122"/>
                <a:cs typeface="Arial" panose="020B0604020202020204" pitchFamily="34" charset="0"/>
              </a:rPr>
              <a:t>We plan to integrate </a:t>
            </a:r>
            <a:r>
              <a:rPr lang="en-US" dirty="0" err="1">
                <a:solidFill>
                  <a:srgbClr val="EEEFF5"/>
                </a:solidFill>
                <a:latin typeface="Arial" panose="020B0604020202020204" pitchFamily="34" charset="0"/>
                <a:ea typeface="Montserrat" pitchFamily="34" charset="-122"/>
                <a:cs typeface="Arial" panose="020B0604020202020204" pitchFamily="34" charset="0"/>
              </a:rPr>
              <a:t>SimplePay</a:t>
            </a:r>
            <a:r>
              <a:rPr lang="en-US" dirty="0">
                <a:solidFill>
                  <a:srgbClr val="EEEFF5"/>
                </a:solidFill>
                <a:latin typeface="Arial" panose="020B0604020202020204" pitchFamily="34" charset="0"/>
                <a:ea typeface="Montserrat" pitchFamily="34" charset="-122"/>
                <a:cs typeface="Arial" panose="020B0604020202020204" pitchFamily="34" charset="0"/>
              </a:rPr>
              <a:t> secure payment system.</a:t>
            </a:r>
            <a:endParaRPr lang="en-US" dirty="0">
              <a:latin typeface="Arial" panose="020B0604020202020204" pitchFamily="34" charset="0"/>
              <a:cs typeface="Arial" panose="020B0604020202020204" pitchFamily="34" charset="0"/>
            </a:endParaRPr>
          </a:p>
        </p:txBody>
      </p:sp>
      <p:sp>
        <p:nvSpPr>
          <p:cNvPr id="7" name="Shape 4"/>
          <p:cNvSpPr/>
          <p:nvPr/>
        </p:nvSpPr>
        <p:spPr>
          <a:xfrm>
            <a:off x="6569631" y="3762137"/>
            <a:ext cx="162401" cy="1179552"/>
          </a:xfrm>
          <a:prstGeom prst="roundRect">
            <a:avLst>
              <a:gd name="adj" fmla="val 120071"/>
            </a:avLst>
          </a:prstGeom>
          <a:solidFill>
            <a:srgbClr val="282C32"/>
          </a:solidFill>
          <a:ln/>
          <a:effectLst>
            <a:outerShdw blurRad="53340" dist="26670" dir="13500000" algn="bl" rotWithShape="0">
              <a:srgbClr val="FFFFFF">
                <a:alpha val="10000"/>
              </a:srgbClr>
            </a:outerShdw>
          </a:effectLst>
        </p:spPr>
      </p:sp>
      <p:sp>
        <p:nvSpPr>
          <p:cNvPr id="8" name="Text 5"/>
          <p:cNvSpPr/>
          <p:nvPr/>
        </p:nvSpPr>
        <p:spPr>
          <a:xfrm>
            <a:off x="7056953" y="3762137"/>
            <a:ext cx="2850713" cy="356235"/>
          </a:xfrm>
          <a:prstGeom prst="rect">
            <a:avLst/>
          </a:prstGeom>
          <a:noFill/>
          <a:ln/>
        </p:spPr>
        <p:txBody>
          <a:bodyPr wrap="none" lIns="0" tIns="0" rIns="0" bIns="0" rtlCol="0" anchor="t"/>
          <a:lstStyle/>
          <a:p>
            <a:pPr marL="0" indent="0" algn="l">
              <a:lnSpc>
                <a:spcPts val="2800"/>
              </a:lnSpc>
              <a:buNone/>
            </a:pPr>
            <a:r>
              <a:rPr lang="hu-HU" sz="2200" b="1" dirty="0">
                <a:solidFill>
                  <a:srgbClr val="EEEFF5"/>
                </a:solidFill>
                <a:latin typeface="Arial" panose="020B0604020202020204" pitchFamily="34" charset="0"/>
                <a:cs typeface="Arial" panose="020B0604020202020204" pitchFamily="34" charset="0"/>
              </a:rPr>
              <a:t>Mobile </a:t>
            </a:r>
            <a:r>
              <a:rPr lang="hu-HU" sz="2200" b="1" dirty="0" err="1">
                <a:solidFill>
                  <a:srgbClr val="EEEFF5"/>
                </a:solidFill>
                <a:latin typeface="Arial" panose="020B0604020202020204" pitchFamily="34" charset="0"/>
                <a:cs typeface="Arial" panose="020B0604020202020204" pitchFamily="34" charset="0"/>
              </a:rPr>
              <a:t>application</a:t>
            </a:r>
            <a:r>
              <a:rPr lang="hu-HU" sz="2200" b="1" dirty="0">
                <a:solidFill>
                  <a:srgbClr val="EEEFF5"/>
                </a:solidFill>
                <a:latin typeface="Arial" panose="020B0604020202020204" pitchFamily="34" charset="0"/>
                <a:cs typeface="Arial" panose="020B0604020202020204" pitchFamily="34" charset="0"/>
              </a:rPr>
              <a:t> </a:t>
            </a:r>
            <a:r>
              <a:rPr lang="hu-HU" sz="2200" b="1" dirty="0" err="1">
                <a:solidFill>
                  <a:srgbClr val="EEEFF5"/>
                </a:solidFill>
                <a:latin typeface="Arial" panose="020B0604020202020204" pitchFamily="34" charset="0"/>
                <a:cs typeface="Arial" panose="020B0604020202020204" pitchFamily="34" charset="0"/>
              </a:rPr>
              <a:t>development</a:t>
            </a:r>
            <a:endParaRPr lang="en-US" sz="2200" dirty="0">
              <a:latin typeface="Arial" panose="020B0604020202020204" pitchFamily="34" charset="0"/>
              <a:cs typeface="Arial" panose="020B0604020202020204" pitchFamily="34" charset="0"/>
            </a:endParaRPr>
          </a:p>
        </p:txBody>
      </p:sp>
      <p:sp>
        <p:nvSpPr>
          <p:cNvPr id="9" name="Text 6"/>
          <p:cNvSpPr/>
          <p:nvPr/>
        </p:nvSpPr>
        <p:spPr>
          <a:xfrm>
            <a:off x="7056953" y="4248269"/>
            <a:ext cx="6815138" cy="693420"/>
          </a:xfrm>
          <a:prstGeom prst="rect">
            <a:avLst/>
          </a:prstGeom>
          <a:noFill/>
          <a:ln/>
        </p:spPr>
        <p:txBody>
          <a:bodyPr wrap="square" lIns="0" tIns="0" rIns="0" bIns="0" rtlCol="0" anchor="t"/>
          <a:lstStyle/>
          <a:p>
            <a:pPr marL="0" indent="0" algn="l">
              <a:lnSpc>
                <a:spcPts val="2700"/>
              </a:lnSpc>
              <a:buNone/>
            </a:pPr>
            <a:r>
              <a:rPr lang="en-US" dirty="0">
                <a:solidFill>
                  <a:srgbClr val="EEEFF5"/>
                </a:solidFill>
                <a:latin typeface="Arial" panose="020B0604020202020204" pitchFamily="34" charset="0"/>
                <a:ea typeface="Montserrat" pitchFamily="34" charset="-122"/>
                <a:cs typeface="Arial" panose="020B0604020202020204" pitchFamily="34" charset="0"/>
              </a:rPr>
              <a:t>We will </a:t>
            </a:r>
            <a:r>
              <a:rPr lang="hu-HU" dirty="0">
                <a:solidFill>
                  <a:srgbClr val="EEEFF5"/>
                </a:solidFill>
                <a:latin typeface="Arial" panose="020B0604020202020204" pitchFamily="34" charset="0"/>
                <a:ea typeface="Montserrat" pitchFamily="34" charset="-122"/>
                <a:cs typeface="Arial" panose="020B0604020202020204" pitchFamily="34" charset="0"/>
              </a:rPr>
              <a:t>start </a:t>
            </a:r>
            <a:r>
              <a:rPr lang="hu-HU" dirty="0" err="1">
                <a:solidFill>
                  <a:srgbClr val="EEEFF5"/>
                </a:solidFill>
                <a:latin typeface="Arial" panose="020B0604020202020204" pitchFamily="34" charset="0"/>
                <a:ea typeface="Montserrat" pitchFamily="34" charset="-122"/>
                <a:cs typeface="Arial" panose="020B0604020202020204" pitchFamily="34" charset="0"/>
              </a:rPr>
              <a:t>developing</a:t>
            </a:r>
            <a:r>
              <a:rPr lang="hu-HU" dirty="0">
                <a:solidFill>
                  <a:srgbClr val="EEEFF5"/>
                </a:solidFill>
                <a:latin typeface="Arial" panose="020B0604020202020204" pitchFamily="34" charset="0"/>
                <a:ea typeface="Montserrat" pitchFamily="34" charset="-122"/>
                <a:cs typeface="Arial" panose="020B0604020202020204" pitchFamily="34" charset="0"/>
              </a:rPr>
              <a:t> </a:t>
            </a:r>
            <a:r>
              <a:rPr lang="hu-HU" dirty="0" err="1">
                <a:solidFill>
                  <a:srgbClr val="EEEFF5"/>
                </a:solidFill>
                <a:latin typeface="Arial" panose="020B0604020202020204" pitchFamily="34" charset="0"/>
                <a:ea typeface="Montserrat" pitchFamily="34" charset="-122"/>
                <a:cs typeface="Arial" panose="020B0604020202020204" pitchFamily="34" charset="0"/>
              </a:rPr>
              <a:t>the</a:t>
            </a:r>
            <a:r>
              <a:rPr lang="hu-HU" dirty="0">
                <a:solidFill>
                  <a:srgbClr val="EEEFF5"/>
                </a:solidFill>
                <a:latin typeface="Arial" panose="020B0604020202020204" pitchFamily="34" charset="0"/>
                <a:ea typeface="Montserrat" pitchFamily="34" charset="-122"/>
                <a:cs typeface="Arial" panose="020B0604020202020204" pitchFamily="34" charset="0"/>
              </a:rPr>
              <a:t> Mobile </a:t>
            </a:r>
            <a:r>
              <a:rPr lang="hu-HU" dirty="0" err="1">
                <a:solidFill>
                  <a:srgbClr val="EEEFF5"/>
                </a:solidFill>
                <a:latin typeface="Arial" panose="020B0604020202020204" pitchFamily="34" charset="0"/>
                <a:ea typeface="Montserrat" pitchFamily="34" charset="-122"/>
                <a:cs typeface="Arial" panose="020B0604020202020204" pitchFamily="34" charset="0"/>
              </a:rPr>
              <a:t>application</a:t>
            </a:r>
            <a:r>
              <a:rPr lang="hu-HU" dirty="0">
                <a:solidFill>
                  <a:srgbClr val="EEEFF5"/>
                </a:solidFill>
                <a:latin typeface="Arial" panose="020B0604020202020204" pitchFamily="34" charset="0"/>
                <a:ea typeface="Montserrat" pitchFamily="34" charset="-122"/>
                <a:cs typeface="Arial" panose="020B0604020202020204" pitchFamily="34" charset="0"/>
              </a:rPr>
              <a:t>.</a:t>
            </a:r>
            <a:endParaRPr lang="en-US" dirty="0">
              <a:latin typeface="Arial" panose="020B0604020202020204" pitchFamily="34" charset="0"/>
              <a:cs typeface="Arial" panose="020B0604020202020204" pitchFamily="34" charset="0"/>
            </a:endParaRPr>
          </a:p>
        </p:txBody>
      </p:sp>
      <p:sp>
        <p:nvSpPr>
          <p:cNvPr id="10" name="Shape 7"/>
          <p:cNvSpPr/>
          <p:nvPr/>
        </p:nvSpPr>
        <p:spPr>
          <a:xfrm>
            <a:off x="6894671" y="5158264"/>
            <a:ext cx="162401" cy="1526262"/>
          </a:xfrm>
          <a:prstGeom prst="roundRect">
            <a:avLst>
              <a:gd name="adj" fmla="val 120071"/>
            </a:avLst>
          </a:prstGeom>
          <a:solidFill>
            <a:srgbClr val="282C32"/>
          </a:solidFill>
          <a:ln/>
          <a:effectLst>
            <a:outerShdw blurRad="53340" dist="26670" dir="13500000" algn="bl" rotWithShape="0">
              <a:srgbClr val="FFFFFF">
                <a:alpha val="10000"/>
              </a:srgbClr>
            </a:outerShdw>
          </a:effectLst>
        </p:spPr>
      </p:sp>
      <p:sp>
        <p:nvSpPr>
          <p:cNvPr id="11" name="Text 8"/>
          <p:cNvSpPr/>
          <p:nvPr/>
        </p:nvSpPr>
        <p:spPr>
          <a:xfrm>
            <a:off x="7381994" y="5158264"/>
            <a:ext cx="2850713" cy="356235"/>
          </a:xfrm>
          <a:prstGeom prst="rect">
            <a:avLst/>
          </a:prstGeom>
          <a:noFill/>
          <a:ln/>
        </p:spPr>
        <p:txBody>
          <a:bodyPr wrap="none" lIns="0" tIns="0" rIns="0" bIns="0" rtlCol="0" anchor="t"/>
          <a:lstStyle/>
          <a:p>
            <a:pPr marL="0" indent="0" algn="l">
              <a:lnSpc>
                <a:spcPts val="2800"/>
              </a:lnSpc>
              <a:buNone/>
            </a:pPr>
            <a:r>
              <a:rPr lang="en-US" sz="2200" b="1" dirty="0">
                <a:solidFill>
                  <a:srgbClr val="EEEFF5"/>
                </a:solidFill>
                <a:latin typeface="Arial" panose="020B0604020202020204" pitchFamily="34" charset="0"/>
                <a:ea typeface="Barlow Bold" pitchFamily="34" charset="-122"/>
                <a:cs typeface="Arial" panose="020B0604020202020204" pitchFamily="34" charset="0"/>
              </a:rPr>
              <a:t>Feedback</a:t>
            </a:r>
            <a:endParaRPr lang="en-US" sz="2200" dirty="0">
              <a:latin typeface="Arial" panose="020B0604020202020204" pitchFamily="34" charset="0"/>
              <a:cs typeface="Arial" panose="020B0604020202020204" pitchFamily="34" charset="0"/>
            </a:endParaRPr>
          </a:p>
        </p:txBody>
      </p:sp>
      <p:sp>
        <p:nvSpPr>
          <p:cNvPr id="12" name="Text 9"/>
          <p:cNvSpPr/>
          <p:nvPr/>
        </p:nvSpPr>
        <p:spPr>
          <a:xfrm>
            <a:off x="7381994" y="5644396"/>
            <a:ext cx="6490097" cy="1040130"/>
          </a:xfrm>
          <a:prstGeom prst="rect">
            <a:avLst/>
          </a:prstGeom>
          <a:noFill/>
          <a:ln/>
        </p:spPr>
        <p:txBody>
          <a:bodyPr wrap="square" lIns="0" tIns="0" rIns="0" bIns="0" rtlCol="0" anchor="t"/>
          <a:lstStyle/>
          <a:p>
            <a:pPr marL="0" indent="0" algn="l">
              <a:lnSpc>
                <a:spcPts val="2700"/>
              </a:lnSpc>
              <a:buNone/>
            </a:pPr>
            <a:r>
              <a:rPr lang="en-US" dirty="0">
                <a:solidFill>
                  <a:srgbClr val="EEEFF5"/>
                </a:solidFill>
                <a:latin typeface="Arial" panose="020B0604020202020204" pitchFamily="34" charset="0"/>
                <a:ea typeface="Montserrat" pitchFamily="34" charset="-122"/>
                <a:cs typeface="Arial" panose="020B0604020202020204" pitchFamily="34" charset="0"/>
              </a:rPr>
              <a:t>We will continuously gather feedback from users and make adjustments to improve the platform's functionality and user experience.</a:t>
            </a:r>
            <a:endParaRPr lang="en-US" dirty="0">
              <a:latin typeface="Arial" panose="020B0604020202020204" pitchFamily="34" charset="0"/>
              <a:cs typeface="Arial" panose="020B0604020202020204" pitchFamily="34" charset="0"/>
            </a:endParaRPr>
          </a:p>
        </p:txBody>
      </p:sp>
      <p:pic>
        <p:nvPicPr>
          <p:cNvPr id="13" name="Kép 12">
            <a:extLst>
              <a:ext uri="{FF2B5EF4-FFF2-40B4-BE49-F238E27FC236}">
                <a16:creationId xmlns:a16="http://schemas.microsoft.com/office/drawing/2014/main" id="{97F8C1CC-7778-E85D-94ED-E6F41E8F58C9}"/>
              </a:ext>
            </a:extLst>
          </p:cNvPr>
          <p:cNvPicPr>
            <a:picLocks noChangeAspect="1"/>
          </p:cNvPicPr>
          <p:nvPr/>
        </p:nvPicPr>
        <p:blipFill>
          <a:blip r:embed="rId4"/>
          <a:stretch>
            <a:fillRect/>
          </a:stretch>
        </p:blipFill>
        <p:spPr>
          <a:xfrm>
            <a:off x="12697762" y="7635240"/>
            <a:ext cx="1932638" cy="46274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Kép 8">
            <a:extLst>
              <a:ext uri="{FF2B5EF4-FFF2-40B4-BE49-F238E27FC236}">
                <a16:creationId xmlns:a16="http://schemas.microsoft.com/office/drawing/2014/main" id="{ADD004B0-9296-C6D3-218D-D26CAD17C5C2}"/>
              </a:ext>
            </a:extLst>
          </p:cNvPr>
          <p:cNvPicPr>
            <a:picLocks noChangeAspect="1"/>
          </p:cNvPicPr>
          <p:nvPr/>
        </p:nvPicPr>
        <p:blipFill>
          <a:blip r:embed="rId3"/>
          <a:stretch>
            <a:fillRect/>
          </a:stretch>
        </p:blipFill>
        <p:spPr>
          <a:xfrm>
            <a:off x="12697762" y="7635240"/>
            <a:ext cx="1932638" cy="462745"/>
          </a:xfrm>
          <a:prstGeom prst="rect">
            <a:avLst/>
          </a:prstGeom>
        </p:spPr>
      </p:pic>
      <p:pic>
        <p:nvPicPr>
          <p:cNvPr id="6" name="Kép 5" descr="A képen Grafikus tervezés, Grafika, rajz, embléma látható&#10;&#10;AI-generated content may be incorrect.">
            <a:extLst>
              <a:ext uri="{FF2B5EF4-FFF2-40B4-BE49-F238E27FC236}">
                <a16:creationId xmlns:a16="http://schemas.microsoft.com/office/drawing/2014/main" id="{AADA9FDD-308E-955F-3EC8-43627478AC9A}"/>
              </a:ext>
            </a:extLst>
          </p:cNvPr>
          <p:cNvPicPr>
            <a:picLocks noChangeAspect="1"/>
          </p:cNvPicPr>
          <p:nvPr/>
        </p:nvPicPr>
        <p:blipFill>
          <a:blip r:embed="rId4"/>
          <a:stretch>
            <a:fillRect/>
          </a:stretch>
        </p:blipFill>
        <p:spPr>
          <a:xfrm>
            <a:off x="758309" y="1674614"/>
            <a:ext cx="4812844" cy="4880371"/>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2" name="Text 0">
            <a:extLst>
              <a:ext uri="{FF2B5EF4-FFF2-40B4-BE49-F238E27FC236}">
                <a16:creationId xmlns:a16="http://schemas.microsoft.com/office/drawing/2014/main" id="{36C24174-4C41-7B2C-0719-CFBC53D693B7}"/>
              </a:ext>
            </a:extLst>
          </p:cNvPr>
          <p:cNvSpPr/>
          <p:nvPr/>
        </p:nvSpPr>
        <p:spPr>
          <a:xfrm>
            <a:off x="8221092" y="2518922"/>
            <a:ext cx="8953340" cy="5411273"/>
          </a:xfrm>
          <a:prstGeom prst="rect">
            <a:avLst/>
          </a:prstGeom>
          <a:noFill/>
          <a:ln/>
        </p:spPr>
        <p:txBody>
          <a:bodyPr wrap="none" lIns="0" tIns="0" rIns="0" bIns="0" numCol="2" rtlCol="0" anchor="t"/>
          <a:lstStyle/>
          <a:p>
            <a:pPr marL="0" indent="0">
              <a:lnSpc>
                <a:spcPts val="5600"/>
              </a:lnSpc>
              <a:buNone/>
            </a:pPr>
            <a:r>
              <a:rPr lang="en-US" sz="2800" b="1" dirty="0">
                <a:solidFill>
                  <a:srgbClr val="9998FF"/>
                </a:solidFill>
                <a:latin typeface="Arial" panose="020B0604020202020204" pitchFamily="34" charset="0"/>
                <a:ea typeface="Barlow Bold" pitchFamily="34" charset="-122"/>
                <a:cs typeface="Arial" panose="020B0604020202020204" pitchFamily="34" charset="0"/>
              </a:rPr>
              <a:t>Thank you for watching our presentation! </a:t>
            </a:r>
          </a:p>
          <a:p>
            <a:pPr marL="0" indent="0">
              <a:lnSpc>
                <a:spcPts val="5600"/>
              </a:lnSpc>
              <a:buNone/>
            </a:pPr>
            <a:r>
              <a:rPr lang="hu-HU" sz="2800" b="1" dirty="0" err="1">
                <a:solidFill>
                  <a:srgbClr val="9998FF"/>
                </a:solidFill>
                <a:latin typeface="Arial" panose="020B0604020202020204" pitchFamily="34" charset="0"/>
                <a:ea typeface="Barlow Bold" pitchFamily="34" charset="-122"/>
                <a:cs typeface="Arial" panose="020B0604020202020204" pitchFamily="34" charset="0"/>
              </a:rPr>
              <a:t>Now</a:t>
            </a:r>
            <a:r>
              <a:rPr lang="hu-HU" sz="2800" b="1" dirty="0">
                <a:solidFill>
                  <a:srgbClr val="9998FF"/>
                </a:solidFill>
                <a:latin typeface="Arial" panose="020B0604020202020204" pitchFamily="34" charset="0"/>
                <a:ea typeface="Barlow Bold" pitchFamily="34" charset="-122"/>
                <a:cs typeface="Arial" panose="020B0604020202020204" pitchFamily="34" charset="0"/>
              </a:rPr>
              <a:t> </a:t>
            </a:r>
            <a:r>
              <a:rPr lang="en-US" sz="2800" b="1" dirty="0">
                <a:solidFill>
                  <a:srgbClr val="9998FF"/>
                </a:solidFill>
                <a:latin typeface="Arial" panose="020B0604020202020204" pitchFamily="34" charset="0"/>
                <a:ea typeface="Barlow Bold" pitchFamily="34" charset="-122"/>
                <a:cs typeface="Arial" panose="020B0604020202020204" pitchFamily="34" charset="0"/>
              </a:rPr>
              <a:t>let's move on to the live demonstration of our application!</a:t>
            </a:r>
            <a:endParaRPr 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641330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té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809</TotalTime>
  <Words>1674</Words>
  <Application>Microsoft Office PowerPoint</Application>
  <PresentationFormat>Egyéni</PresentationFormat>
  <Paragraphs>174</Paragraphs>
  <Slides>16</Slides>
  <Notes>16</Notes>
  <HiddenSlides>0</HiddenSlides>
  <MMClips>0</MMClips>
  <ScaleCrop>false</ScaleCrop>
  <HeadingPairs>
    <vt:vector size="6" baseType="variant">
      <vt:variant>
        <vt:lpstr>Használt betűtípusok</vt:lpstr>
      </vt:variant>
      <vt:variant>
        <vt:i4>4</vt:i4>
      </vt:variant>
      <vt:variant>
        <vt:lpstr>Téma</vt:lpstr>
      </vt:variant>
      <vt:variant>
        <vt:i4>1</vt:i4>
      </vt:variant>
      <vt:variant>
        <vt:lpstr>Diacímek</vt:lpstr>
      </vt:variant>
      <vt:variant>
        <vt:i4>16</vt:i4>
      </vt:variant>
    </vt:vector>
  </HeadingPairs>
  <TitlesOfParts>
    <vt:vector size="21" baseType="lpstr">
      <vt:lpstr>Aptos</vt:lpstr>
      <vt:lpstr>Symbol</vt:lpstr>
      <vt:lpstr>Arial</vt:lpstr>
      <vt:lpstr>Franklin Gothic Medium</vt:lpstr>
      <vt:lpstr>Office Theme</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Kreszl Tamas</cp:lastModifiedBy>
  <cp:revision>119</cp:revision>
  <dcterms:created xsi:type="dcterms:W3CDTF">2025-02-24T09:24:15Z</dcterms:created>
  <dcterms:modified xsi:type="dcterms:W3CDTF">2025-05-29T19:35:17Z</dcterms:modified>
</cp:coreProperties>
</file>